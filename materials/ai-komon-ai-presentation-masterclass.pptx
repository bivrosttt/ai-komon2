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848ccd2ca884d21" /><Relationship Type="http://schemas.openxmlformats.org/officeDocument/2006/relationships/extended-properties" Target="/docProps/app.xml" Id="Rd5652cccd74543bf" /><Relationship Type="http://schemas.openxmlformats.org/officeDocument/2006/relationships/officeDocument" Target="/ppt/presentation.xml" Id="R2400b8465516429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27a6a4eeb514bbe"/>
  </p:sldMasterIdLst>
  <p:notesMasterIdLst>
    <p:notesMasterId xmlns:r="http://schemas.openxmlformats.org/officeDocument/2006/relationships" r:id="R5a8c43f0faca4420"/>
  </p:notesMasterIdLst>
  <p:sldIdLst>
    <p:sldId xmlns:r="http://schemas.openxmlformats.org/officeDocument/2006/relationships" id="256" r:id="R1fd58617dcb44047"/>
    <p:sldId xmlns:r="http://schemas.openxmlformats.org/officeDocument/2006/relationships" id="257" r:id="R0c93fc59718241d3"/>
    <p:sldId xmlns:r="http://schemas.openxmlformats.org/officeDocument/2006/relationships" id="258" r:id="Raa10761bc69a43c3"/>
    <p:sldId xmlns:r="http://schemas.openxmlformats.org/officeDocument/2006/relationships" id="259" r:id="R68e46e51371a4799"/>
    <p:sldId xmlns:r="http://schemas.openxmlformats.org/officeDocument/2006/relationships" id="260" r:id="R0123d44ec726469e"/>
    <p:sldId xmlns:r="http://schemas.openxmlformats.org/officeDocument/2006/relationships" id="261" r:id="R05ac77dece644737"/>
    <p:sldId xmlns:r="http://schemas.openxmlformats.org/officeDocument/2006/relationships" id="262" r:id="R64ce86323199490c"/>
    <p:sldId xmlns:r="http://schemas.openxmlformats.org/officeDocument/2006/relationships" id="263" r:id="R6a0b4aaa38e245c0"/>
    <p:sldId xmlns:r="http://schemas.openxmlformats.org/officeDocument/2006/relationships" id="264" r:id="R77037cbb967a4599"/>
    <p:sldId xmlns:r="http://schemas.openxmlformats.org/officeDocument/2006/relationships" id="265" r:id="Rb85deafb77d442d3"/>
    <p:sldId xmlns:r="http://schemas.openxmlformats.org/officeDocument/2006/relationships" id="266" r:id="Rda30008ced9e4636"/>
    <p:sldId xmlns:r="http://schemas.openxmlformats.org/officeDocument/2006/relationships" id="267" r:id="Rf9a38c12931c4813"/>
    <p:sldId xmlns:r="http://schemas.openxmlformats.org/officeDocument/2006/relationships" id="268" r:id="Rc3efa47e2f4e4582"/>
    <p:sldId xmlns:r="http://schemas.openxmlformats.org/officeDocument/2006/relationships" id="269" r:id="R0e5b34b3d6b84c24"/>
    <p:sldId xmlns:r="http://schemas.openxmlformats.org/officeDocument/2006/relationships" id="270" r:id="Rfee139e2b67c4801"/>
    <p:sldId xmlns:r="http://schemas.openxmlformats.org/officeDocument/2006/relationships" id="271" r:id="R3ba19a115ab742bb"/>
    <p:sldId xmlns:r="http://schemas.openxmlformats.org/officeDocument/2006/relationships" id="272" r:id="R5b2a5138c5ed4b18"/>
    <p:sldId xmlns:r="http://schemas.openxmlformats.org/officeDocument/2006/relationships" id="273" r:id="Rf56b23e20f2f4cca"/>
    <p:sldId xmlns:r="http://schemas.openxmlformats.org/officeDocument/2006/relationships" id="274" r:id="R194340ed05de48b3"/>
    <p:sldId xmlns:r="http://schemas.openxmlformats.org/officeDocument/2006/relationships" id="275" r:id="R3666e518ea5d4c1e"/>
    <p:sldId xmlns:r="http://schemas.openxmlformats.org/officeDocument/2006/relationships" id="276" r:id="R8772ca096239491c"/>
    <p:sldId xmlns:r="http://schemas.openxmlformats.org/officeDocument/2006/relationships" id="277" r:id="R7030e1972afb48e7"/>
    <p:sldId xmlns:r="http://schemas.openxmlformats.org/officeDocument/2006/relationships" id="278" r:id="R29bb2829770b4a97"/>
    <p:sldId xmlns:r="http://schemas.openxmlformats.org/officeDocument/2006/relationships" id="279" r:id="Rb6d6e1e89c1e417e"/>
    <p:sldId xmlns:r="http://schemas.openxmlformats.org/officeDocument/2006/relationships" id="280" r:id="R4fcc9d5347bd4e7d"/>
    <p:sldId xmlns:r="http://schemas.openxmlformats.org/officeDocument/2006/relationships" id="281" r:id="Rebd4d9d56c63407b"/>
    <p:sldId xmlns:r="http://schemas.openxmlformats.org/officeDocument/2006/relationships" id="282" r:id="Rfe5e271413004629"/>
    <p:sldId xmlns:r="http://schemas.openxmlformats.org/officeDocument/2006/relationships" id="283" r:id="R9a4b1a0d983a47a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3e6c189953446f6" /><Relationship Type="http://schemas.openxmlformats.org/officeDocument/2006/relationships/slideMaster" Target="/ppt/slideMasters/slideMaster1.xml" Id="R227a6a4eeb514bbe" /><Relationship Type="http://schemas.openxmlformats.org/officeDocument/2006/relationships/notesMaster" Target="/ppt/notesMasters/notesMaster1.xml" Id="R5a8c43f0faca4420" /><Relationship Type="http://schemas.openxmlformats.org/officeDocument/2006/relationships/presProps" Target="/ppt/presProps.xml" Id="R6061d20081d04aee" /><Relationship Type="http://schemas.openxmlformats.org/officeDocument/2006/relationships/tableStyles" Target="/ppt/tableStyles.xml" Id="R07077964c72f471d" /><Relationship Type="http://schemas.openxmlformats.org/officeDocument/2006/relationships/slide" Target="/ppt/slides/slide1.xml" Id="R1fd58617dcb44047" /><Relationship Type="http://schemas.openxmlformats.org/officeDocument/2006/relationships/slide" Target="/ppt/slides/slide2.xml" Id="R0c93fc59718241d3" /><Relationship Type="http://schemas.openxmlformats.org/officeDocument/2006/relationships/slide" Target="/ppt/slides/slide3.xml" Id="Raa10761bc69a43c3" /><Relationship Type="http://schemas.openxmlformats.org/officeDocument/2006/relationships/slide" Target="/ppt/slides/slide4.xml" Id="R68e46e51371a4799" /><Relationship Type="http://schemas.openxmlformats.org/officeDocument/2006/relationships/slide" Target="/ppt/slides/slide5.xml" Id="R0123d44ec726469e" /><Relationship Type="http://schemas.openxmlformats.org/officeDocument/2006/relationships/slide" Target="/ppt/slides/slide6.xml" Id="R05ac77dece644737" /><Relationship Type="http://schemas.openxmlformats.org/officeDocument/2006/relationships/slide" Target="/ppt/slides/slide7.xml" Id="R64ce86323199490c" /><Relationship Type="http://schemas.openxmlformats.org/officeDocument/2006/relationships/slide" Target="/ppt/slides/slide8.xml" Id="R6a0b4aaa38e245c0" /><Relationship Type="http://schemas.openxmlformats.org/officeDocument/2006/relationships/slide" Target="/ppt/slides/slide9.xml" Id="R77037cbb967a4599" /><Relationship Type="http://schemas.openxmlformats.org/officeDocument/2006/relationships/slide" Target="/ppt/slides/slide10.xml" Id="Rb85deafb77d442d3" /><Relationship Type="http://schemas.openxmlformats.org/officeDocument/2006/relationships/slide" Target="/ppt/slides/slide11.xml" Id="Rda30008ced9e4636" /><Relationship Type="http://schemas.openxmlformats.org/officeDocument/2006/relationships/slide" Target="/ppt/slides/slide12.xml" Id="Rf9a38c12931c4813" /><Relationship Type="http://schemas.openxmlformats.org/officeDocument/2006/relationships/slide" Target="/ppt/slides/slide13.xml" Id="Rc3efa47e2f4e4582" /><Relationship Type="http://schemas.openxmlformats.org/officeDocument/2006/relationships/slide" Target="/ppt/slides/slide14.xml" Id="R0e5b34b3d6b84c24" /><Relationship Type="http://schemas.openxmlformats.org/officeDocument/2006/relationships/slide" Target="/ppt/slides/slide15.xml" Id="Rfee139e2b67c4801" /><Relationship Type="http://schemas.openxmlformats.org/officeDocument/2006/relationships/slide" Target="/ppt/slides/slide16.xml" Id="R3ba19a115ab742bb" /><Relationship Type="http://schemas.openxmlformats.org/officeDocument/2006/relationships/slide" Target="/ppt/slides/slide17.xml" Id="R5b2a5138c5ed4b18" /><Relationship Type="http://schemas.openxmlformats.org/officeDocument/2006/relationships/slide" Target="/ppt/slides/slide18.xml" Id="Rf56b23e20f2f4cca" /><Relationship Type="http://schemas.openxmlformats.org/officeDocument/2006/relationships/slide" Target="/ppt/slides/slide19.xml" Id="R194340ed05de48b3" /><Relationship Type="http://schemas.openxmlformats.org/officeDocument/2006/relationships/slide" Target="/ppt/slides/slide20.xml" Id="R3666e518ea5d4c1e" /><Relationship Type="http://schemas.openxmlformats.org/officeDocument/2006/relationships/slide" Target="/ppt/slides/slide21.xml" Id="R8772ca096239491c" /><Relationship Type="http://schemas.openxmlformats.org/officeDocument/2006/relationships/slide" Target="/ppt/slides/slide22.xml" Id="R7030e1972afb48e7" /><Relationship Type="http://schemas.openxmlformats.org/officeDocument/2006/relationships/slide" Target="/ppt/slides/slide23.xml" Id="R29bb2829770b4a97" /><Relationship Type="http://schemas.openxmlformats.org/officeDocument/2006/relationships/slide" Target="/ppt/slides/slide24.xml" Id="Rb6d6e1e89c1e417e" /><Relationship Type="http://schemas.openxmlformats.org/officeDocument/2006/relationships/slide" Target="/ppt/slides/slide25.xml" Id="R4fcc9d5347bd4e7d" /><Relationship Type="http://schemas.openxmlformats.org/officeDocument/2006/relationships/slide" Target="/ppt/slides/slide26.xml" Id="Rebd4d9d56c63407b" /><Relationship Type="http://schemas.openxmlformats.org/officeDocument/2006/relationships/slide" Target="/ppt/slides/slide27.xml" Id="Rfe5e271413004629" /><Relationship Type="http://schemas.openxmlformats.org/officeDocument/2006/relationships/slide" Target="/ppt/slides/slide28.xml" Id="R9a4b1a0d983a47a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4edb7e4ece54bb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e08ab44f7d946e2" /><Relationship Type="http://schemas.openxmlformats.org/officeDocument/2006/relationships/notesMaster" Target="/ppt/notesMasters/notesMaster1.xml" Id="Re0653cb66de041e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e9599d4ffea470d" /><Relationship Type="http://schemas.openxmlformats.org/officeDocument/2006/relationships/notesMaster" Target="/ppt/notesMasters/notesMaster1.xml" Id="R4bc8245b9adf4c1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db99ee380704db8" /><Relationship Type="http://schemas.openxmlformats.org/officeDocument/2006/relationships/notesMaster" Target="/ppt/notesMasters/notesMaster1.xml" Id="R3489863ebbd84bd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b4431827b4b4fa0" /><Relationship Type="http://schemas.openxmlformats.org/officeDocument/2006/relationships/notesMaster" Target="/ppt/notesMasters/notesMaster1.xml" Id="R35bf498c1df04ee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2c24aedcb744ff0" /><Relationship Type="http://schemas.openxmlformats.org/officeDocument/2006/relationships/notesMaster" Target="/ppt/notesMasters/notesMaster1.xml" Id="R678ae87e9481473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2349893df044e46" /><Relationship Type="http://schemas.openxmlformats.org/officeDocument/2006/relationships/notesMaster" Target="/ppt/notesMasters/notesMaster1.xml" Id="R923c59bc042f442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886b3282a1e4bc9" /><Relationship Type="http://schemas.openxmlformats.org/officeDocument/2006/relationships/notesMaster" Target="/ppt/notesMasters/notesMaster1.xml" Id="Rd5e0f15ba0954cb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217bd9ed6ce4295" /><Relationship Type="http://schemas.openxmlformats.org/officeDocument/2006/relationships/notesMaster" Target="/ppt/notesMasters/notesMaster1.xml" Id="R20a33e35837f464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82c10b4c4f640cb" /><Relationship Type="http://schemas.openxmlformats.org/officeDocument/2006/relationships/notesMaster" Target="/ppt/notesMasters/notesMaster1.xml" Id="Re220d83e8674451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93251ac51c74a76" /><Relationship Type="http://schemas.openxmlformats.org/officeDocument/2006/relationships/notesMaster" Target="/ppt/notesMasters/notesMaster1.xml" Id="R6e8f03720d23471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9f262097fc34232" /><Relationship Type="http://schemas.openxmlformats.org/officeDocument/2006/relationships/notesMaster" Target="/ppt/notesMasters/notesMaster1.xml" Id="Rbfe17c24581e43f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9acf2d989044887" /><Relationship Type="http://schemas.openxmlformats.org/officeDocument/2006/relationships/notesMaster" Target="/ppt/notesMasters/notesMaster1.xml" Id="R4e88ef0379a8494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20f1bc41c414b4f" /><Relationship Type="http://schemas.openxmlformats.org/officeDocument/2006/relationships/notesMaster" Target="/ppt/notesMasters/notesMaster1.xml" Id="Rb0fd3d21a2b24b6f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4375e8cbcd7c491a" /><Relationship Type="http://schemas.openxmlformats.org/officeDocument/2006/relationships/notesMaster" Target="/ppt/notesMasters/notesMaster1.xml" Id="R215add3c9dbb462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96681aa43984e02" /><Relationship Type="http://schemas.openxmlformats.org/officeDocument/2006/relationships/notesMaster" Target="/ppt/notesMasters/notesMaster1.xml" Id="Rf20a8225a0dd4597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a07ee903a67b44b6" /><Relationship Type="http://schemas.openxmlformats.org/officeDocument/2006/relationships/notesMaster" Target="/ppt/notesMasters/notesMaster1.xml" Id="R86994f00cd654d02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5cefb8da8d5b4239" /><Relationship Type="http://schemas.openxmlformats.org/officeDocument/2006/relationships/notesMaster" Target="/ppt/notesMasters/notesMaster1.xml" Id="R7d7e5ccf8d1142ca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bd7dd45d6cd742b8" /><Relationship Type="http://schemas.openxmlformats.org/officeDocument/2006/relationships/notesMaster" Target="/ppt/notesMasters/notesMaster1.xml" Id="R91bc81397ded4b47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c55b51534c7045b7" /><Relationship Type="http://schemas.openxmlformats.org/officeDocument/2006/relationships/notesMaster" Target="/ppt/notesMasters/notesMaster1.xml" Id="R0e46623126774f60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37f654c0b7854351" /><Relationship Type="http://schemas.openxmlformats.org/officeDocument/2006/relationships/notesMaster" Target="/ppt/notesMasters/notesMaster1.xml" Id="R6f566709f64844c7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563b4f6996a44c2b" /><Relationship Type="http://schemas.openxmlformats.org/officeDocument/2006/relationships/notesMaster" Target="/ppt/notesMasters/notesMaster1.xml" Id="R34b8eeae98f74fcc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6a54753b455b482c" /><Relationship Type="http://schemas.openxmlformats.org/officeDocument/2006/relationships/notesMaster" Target="/ppt/notesMasters/notesMaster1.xml" Id="R50aa1833ad0a4202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5c4a4bffef4a448d" /><Relationship Type="http://schemas.openxmlformats.org/officeDocument/2006/relationships/notesMaster" Target="/ppt/notesMasters/notesMaster1.xml" Id="R26c6e5873271418f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e3414ac636a84ec5" /><Relationship Type="http://schemas.openxmlformats.org/officeDocument/2006/relationships/notesMaster" Target="/ppt/notesMasters/notesMaster1.xml" Id="R062a82400a264819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aa342a1c144a45cb" /><Relationship Type="http://schemas.openxmlformats.org/officeDocument/2006/relationships/notesMaster" Target="/ppt/notesMasters/notesMaster1.xml" Id="R5ebc88b79bad40c5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95b539f4720d445c" /><Relationship Type="http://schemas.openxmlformats.org/officeDocument/2006/relationships/notesMaster" Target="/ppt/notesMasters/notesMaster1.xml" Id="R4fbd0b708fc04330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c462465d8d024dd8" /><Relationship Type="http://schemas.openxmlformats.org/officeDocument/2006/relationships/notesMaster" Target="/ppt/notesMasters/notesMaster1.xml" Id="Ra8603dcecd414857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9a91c15865124e26" /><Relationship Type="http://schemas.openxmlformats.org/officeDocument/2006/relationships/notesMaster" Target="/ppt/notesMasters/notesMaster1.xml" Id="R9457fbc3a28f48a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この教材はデザイン集ではなく、AIと人の作業を分ける実務工程であると宣言する。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Generated visual: cover-background.png（AI顧問室制作）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AIの価値を否定せず、評価軸を作成時間から意思決定へ移す。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AI顧問室による実務工程の整理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読者自身の会議を想起させる。成果数値は断定しない。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Generated visual: stalled-meeting.png（AI顧問室制作）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意思決定設計を、会議後の行動が変わる選択として定義する。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AI顧問室による実務工程の整理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明確・具体的な指示と反復改善を、資料制作の工程分解へ翻訳する。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https://help.openai.com/en/articles/10032626-prompt-engineering-best-practices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組織の実測値ではなく、起こりうる典型的なリスクモデルとして説明する。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AI顧問室による実務工程の整理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決定を成果物として見せる。例は架空であることを明示する。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AI顧問室による実務工程の整理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現状と可能性の差を使う考えを、実務の決定順序へ翻訳する。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https://www.duarte.com/resources/communication-skills/business-storytelling/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学術モデルとしてではなく、本教材で使う実務上の順序として説明する。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https://www.duarte.com/resources/communication-skills/business-storytelling/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明確なコンテキストを先に渡す原則を、質問型のBrief作成にする。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https://help.openai.com/en/articles/10032626-prompt-engineering-best-practices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具体的の意味を、形容詞追加ではなく読者・決定・場面の固定として説明する。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https://help.openai.com/en/articles/10032626-prompt-engineering-best-practices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action title先行の考えを、日本語のGhost Deckとして手順化する。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https://info.think-cell.com/rs/287-QVC-366/images/EB-PPTBP23-EN-PowerPoint-Best-Practices.pdf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action titles全体で一貫した物語になるという考えを、実務チェックへ落とす。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https://info.think-cell.com/rs/287-QVC-366/images/EB-PPTBP23-EN-PowerPoint-Best-Practices.pdf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現状と可能性の対比を、初心者向けの5段階に噛み砕く。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https://www.duarte.com/resources/communication-skills/business-storytelling/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action titleは話題名ではなく、ページの主要メッセージを表すという原則を説明する。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https://info.think-cell.com/rs/287-QVC-366/images/EB-PPTBP23-EN-PowerPoint-Best-Practices.pdf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1スライド1アイデア、短い文章、折り返し回避の原則を結びつける。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https://info.think-cell.com/rs/287-QVC-366/images/EB-PPTBP23-EN-PowerPoint-Best-Practices.pdf</a:t>
            </a:r>
          </a:p>
          <a:p xmlns:a="http://schemas.openxmlformats.org/drawingml/2006/main">
            <a:r>
              <a:t>- https://support.microsoft.com/en-US/PowerPoint/tips-for-creating-and-delivering-an-effective-presentation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根拠を陳列せず、意思決定への含意まで書く。例は架空である。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https://info.think-cell.com/rs/287-QVC-366/images/EB-PPTBP23-EN-PowerPoint-Best-Practices.pdf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計画・実装・QAの分離を参考に、初心者が使える事前仕様へ整理した。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https://github.com/anthropics/skills/blob/main/skills/pptx/SKILL.md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5型はAI顧問室による制作上の分類であり、状況に応じて複合してよい。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https://support.microsoft.com/en-US/PowerPoint/tips-for-creating-and-delivering-an-effective-presentation</a:t>
            </a:r>
          </a:p>
          <a:p xmlns:a="http://schemas.openxmlformats.org/drawingml/2006/main">
            <a:r>
              <a:t>- https://info.think-cell.com/rs/287-QVC-366/images/EB-PPTBP23-EN-PowerPoint-Best-Practices.pdf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画像は話を伝えるために使い、多すぎないようにする原則を採用基準へ翻訳する。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https://support.microsoft.com/en-US/PowerPoint/tips-for-creating-and-delivering-an-effective-presentation</a:t>
            </a:r>
          </a:p>
          <a:p xmlns:a="http://schemas.openxmlformats.org/drawingml/2006/main">
            <a:r>
              <a:t>- Generated visual: generic-ai-background.png（AI顧問室制作）</a:t>
            </a:r>
          </a:p>
          <a:p xmlns:a="http://schemas.openxmlformats.org/drawingml/2006/main">
            <a:r>
              <a:t>- Generated visual: meaningful-workshop.png（AI顧問室制作）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十分なコントラストを担保し、画像と文字の役割を分ける。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https://support.microsoft.com/en-US/PowerPoint/tips-for-creating-and-delivering-an-effective-presentation</a:t>
            </a:r>
          </a:p>
          <a:p xmlns:a="http://schemas.openxmlformats.org/drawingml/2006/main">
            <a:r>
              <a:t>- https://support.microsoft.com/en-us/accessibility/powerpoint/make-your-powerpoint-presentations-accessible-to-people-with-disabilities</a:t>
            </a:r>
          </a:p>
          <a:p xmlns:a="http://schemas.openxmlformats.org/drawingml/2006/main">
            <a:r>
              <a:t>- Generated visual: busy-project-room.png（AI顧問室制作）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レイアウトを変え、全スライドを画像で確認する考えをリズム検査に使う。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https://github.com/anthropics/skills/blob/main/skills/pptx/SKILL.md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AIを自動完成装置ではなく、選択肢を速く出す協働者として位置づける。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https://help.openai.com/en/articles/10032626-prompt-engineering-best-practices</a:t>
            </a:r>
          </a:p>
          <a:p xmlns:a="http://schemas.openxmlformats.org/drawingml/2006/main">
            <a:r>
              <a:t>- https://github.com/anthropics/skills/blob/main/skills/pptx/SKILL.md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本教材自身がこのワークフローで作られている。反復改善を工程承認で制御する。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https://help.openai.com/en/articles/10032626-prompt-engineering-best-practices</a:t>
            </a:r>
          </a:p>
          <a:p xmlns:a="http://schemas.openxmlformats.org/drawingml/2006/main">
            <a:r>
              <a:t>- https://github.com/anthropics/skills/blob/main/skills/pptx/SKILL.md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反復改善と全ページ検査を、初稿の定義として説明する。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https://help.openai.com/en/articles/10032626-prompt-engineering-best-practices</a:t>
            </a:r>
          </a:p>
          <a:p xmlns:a="http://schemas.openxmlformats.org/drawingml/2006/main">
            <a:r>
              <a:t>- https://github.com/anthropics/skills/blob/main/skills/pptx/SKILL.md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検査を分けることで見落としを減らす実務手順。効果量は断定しない。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https://support.microsoft.com/en-US/PowerPoint/tips-for-creating-and-delivering-an-effective-presentation</a:t>
            </a:r>
          </a:p>
          <a:p xmlns:a="http://schemas.openxmlformats.org/drawingml/2006/main">
            <a:r>
              <a:t>- https://support.microsoft.com/en-us/accessibility/powerpoint/make-your-powerpoint-presentations-accessible-to-people-with-disabilities</a:t>
            </a:r>
          </a:p>
          <a:p xmlns:a="http://schemas.openxmlformats.org/drawingml/2006/main">
            <a:r>
              <a:t>- https://github.com/anthropics/skills/blob/main/skills/pptx/SKILL.md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互換性、フォント置換、PDF書き出し、投影解像度の注意を実務チェックへまとめる。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https://support.microsoft.com/en-US/PowerPoint/tips-for-creating-and-delivering-an-effective-presentation</a:t>
            </a:r>
          </a:p>
          <a:p xmlns:a="http://schemas.openxmlformats.org/drawingml/2006/main">
            <a:r>
              <a:t>- https://support.microsoft.com/en-us/powerpoint/export-a-presentation</a:t>
            </a:r>
          </a:p>
          <a:p xmlns:a="http://schemas.openxmlformats.org/drawingml/2006/main">
            <a:r>
              <a:t>- https://support.microsoft.com/en-US/Office/fonts/download-and-install-custom-fonts-to-use-with-office</a:t>
            </a:r>
          </a:p>
          <a:p xmlns:a="http://schemas.openxmlformats.org/drawingml/2006/main">
            <a:r>
              <a:t>- https://support.microsoft.com/en-US/PowerPoint/compatibility-checker-in-powerpoint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第1幕の会議が止まる問題を、自社資料1本の行動で回収する。CTAは支援の選択肢としてのみ提示する。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Generated visual: closing-work-session.png（AI顧問室制作）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0945e59c70f4d8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5770674650a417c" /><Relationship Type="http://schemas.openxmlformats.org/officeDocument/2006/relationships/slideLayout" Target="/ppt/slideLayouts/slideLayout1.xml" Id="R0b3a3f90770e497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b3a3f90770e497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d8990dfc3b4df0" /><Relationship Type="http://schemas.openxmlformats.org/officeDocument/2006/relationships/image" Target="/ppt/media/image.png" Id="Rc91872bafb2f4116" /><Relationship Type="http://schemas.openxmlformats.org/officeDocument/2006/relationships/notesSlide" Target="/ppt/notesSlides/notesSlide1.xml" Id="R5249cd4c34cd46d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8f3508be684276" /><Relationship Type="http://schemas.openxmlformats.org/officeDocument/2006/relationships/notesSlide" Target="/ppt/notesSlides/notesSlide2.xml" Id="R8d27d7e036f0482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dc267e7fca4e5f" /><Relationship Type="http://schemas.openxmlformats.org/officeDocument/2006/relationships/image" Target="/ppt/media/image2.png" Id="R1386b77cf8e64945" /><Relationship Type="http://schemas.openxmlformats.org/officeDocument/2006/relationships/notesSlide" Target="/ppt/notesSlides/notesSlide3.xml" Id="Rafa2b69124a647b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c8c8cb958542b4" /><Relationship Type="http://schemas.openxmlformats.org/officeDocument/2006/relationships/notesSlide" Target="/ppt/notesSlides/notesSlide4.xml" Id="R1d3d2299ca56454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34bf859903450b" /><Relationship Type="http://schemas.openxmlformats.org/officeDocument/2006/relationships/notesSlide" Target="/ppt/notesSlides/notesSlide5.xml" Id="Re3a39fc3dc9c41f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b4ce19bfcb41aa" /><Relationship Type="http://schemas.openxmlformats.org/officeDocument/2006/relationships/notesSlide" Target="/ppt/notesSlides/notesSlide6.xml" Id="R06abc416522b438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36fc04cc2a452e" /><Relationship Type="http://schemas.openxmlformats.org/officeDocument/2006/relationships/notesSlide" Target="/ppt/notesSlides/notesSlide7.xml" Id="Rb0ea65badff5492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19ae169e064e9f" /><Relationship Type="http://schemas.openxmlformats.org/officeDocument/2006/relationships/notesSlide" Target="/ppt/notesSlides/notesSlide8.xml" Id="R9e6ed63727a3485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eb928f06464f45" /><Relationship Type="http://schemas.openxmlformats.org/officeDocument/2006/relationships/notesSlide" Target="/ppt/notesSlides/notesSlide9.xml" Id="R081168602abe4a2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6439dd80a54c31" /><Relationship Type="http://schemas.openxmlformats.org/officeDocument/2006/relationships/notesSlide" Target="/ppt/notesSlides/notesSlide10.xml" Id="R054d681e729a4da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6376ed5c85484c" /><Relationship Type="http://schemas.openxmlformats.org/officeDocument/2006/relationships/notesSlide" Target="/ppt/notesSlides/notesSlide11.xml" Id="R705ce920829e44c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28a1e1cec74948" /><Relationship Type="http://schemas.openxmlformats.org/officeDocument/2006/relationships/notesSlide" Target="/ppt/notesSlides/notesSlide12.xml" Id="R0d16507ccc43474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00dfd070f44a32" /><Relationship Type="http://schemas.openxmlformats.org/officeDocument/2006/relationships/notesSlide" Target="/ppt/notesSlides/notesSlide13.xml" Id="Rc4d89e7f478c4a2d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5db96cf0f3443d" /><Relationship Type="http://schemas.openxmlformats.org/officeDocument/2006/relationships/notesSlide" Target="/ppt/notesSlides/notesSlide14.xml" Id="Rf3886c5ea5a1462d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44e0af3464413d" /><Relationship Type="http://schemas.openxmlformats.org/officeDocument/2006/relationships/notesSlide" Target="/ppt/notesSlides/notesSlide15.xml" Id="R1468c8c25fc5492a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3c079a22f04768" /><Relationship Type="http://schemas.openxmlformats.org/officeDocument/2006/relationships/notesSlide" Target="/ppt/notesSlides/notesSlide16.xml" Id="Rcf5e690c995c44f1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cbca9cff204084" /><Relationship Type="http://schemas.openxmlformats.org/officeDocument/2006/relationships/notesSlide" Target="/ppt/notesSlides/notesSlide17.xml" Id="R75775c4f968c4217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707982dd6c47f5" /><Relationship Type="http://schemas.openxmlformats.org/officeDocument/2006/relationships/notesSlide" Target="/ppt/notesSlides/notesSlide18.xml" Id="Rbacc86f387ca4d90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941b2fafd84922" /><Relationship Type="http://schemas.openxmlformats.org/officeDocument/2006/relationships/notesSlide" Target="/ppt/notesSlides/notesSlide19.xml" Id="R104ec04f7e4b4175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c5b48f84544b5f" /><Relationship Type="http://schemas.openxmlformats.org/officeDocument/2006/relationships/image" Target="/ppt/media/image3.png" Id="R352a2e67626e4e8e" /><Relationship Type="http://schemas.openxmlformats.org/officeDocument/2006/relationships/image" Target="/ppt/media/image4.png" Id="R1f003cf8c45c4214" /><Relationship Type="http://schemas.openxmlformats.org/officeDocument/2006/relationships/notesSlide" Target="/ppt/notesSlides/notesSlide20.xml" Id="Re930a6c496eb45f8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d357ab0b844f2d" /><Relationship Type="http://schemas.openxmlformats.org/officeDocument/2006/relationships/image" Target="/ppt/media/image5.png" Id="R04e3c6558e394e09" /><Relationship Type="http://schemas.openxmlformats.org/officeDocument/2006/relationships/notesSlide" Target="/ppt/notesSlides/notesSlide21.xml" Id="R5ab25c6084e143d3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46ea0e52274372" /><Relationship Type="http://schemas.openxmlformats.org/officeDocument/2006/relationships/notesSlide" Target="/ppt/notesSlides/notesSlide22.xml" Id="Rdf9104cb75f446cc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6880d5b35d4b11" /><Relationship Type="http://schemas.openxmlformats.org/officeDocument/2006/relationships/notesSlide" Target="/ppt/notesSlides/notesSlide23.xml" Id="Rda17cb53e2e84e5e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6126426fda4a73" /><Relationship Type="http://schemas.openxmlformats.org/officeDocument/2006/relationships/notesSlide" Target="/ppt/notesSlides/notesSlide24.xml" Id="Rf897c897384c4caa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de700abd0d478c" /><Relationship Type="http://schemas.openxmlformats.org/officeDocument/2006/relationships/notesSlide" Target="/ppt/notesSlides/notesSlide25.xml" Id="Rb59a2fdc086342e2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a0a417b7474ba9" /><Relationship Type="http://schemas.openxmlformats.org/officeDocument/2006/relationships/notesSlide" Target="/ppt/notesSlides/notesSlide26.xml" Id="R4ddb5c09bc294a24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683b885cfa46a8" /><Relationship Type="http://schemas.openxmlformats.org/officeDocument/2006/relationships/notesSlide" Target="/ppt/notesSlides/notesSlide27.xml" Id="R914f33f045b44129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abd74625a44c0e" /><Relationship Type="http://schemas.openxmlformats.org/officeDocument/2006/relationships/image" Target="/ppt/media/image6.png" Id="R5b00620593bc4004" /><Relationship Type="http://schemas.openxmlformats.org/officeDocument/2006/relationships/notesSlide" Target="/ppt/notesSlides/notesSlide28.xml" Id="Ra8fc627b18ac41ab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1872bafb2f4116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40E79E-D961-4C78-89BC-9DE844FB5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26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18A009-008C-40FF-8B2B-97799FB3A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76300" y="1066800"/>
            <a:ext cx="5905500" cy="447675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>
              <a:alpha val="96000"/>
            </a:srgbClr>
          </a:solidFill>
          <a:ln xmlns:a="http://schemas.openxmlformats.org/drawingml/2006/main" w="9525">
            <a:solidFill>
              <a:srgbClr val="D8DAD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9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BCDD2C-BF4A-4A51-954E-501AE73D9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257300" y="14287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2357D9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125" b="1">
                <a:solidFill>
                  <a:srgbClr val="2357D9"/>
                </a:solidFill>
                <a:latin typeface="Hiragino Kaku Gothic ProN"/>
                <a:ea typeface="Hiragino Kaku Gothic ProN"/>
                <a:cs typeface="Hiragino Kaku Gothic ProN"/>
              </a:rPr>
              <a:t>社長・決裁者向け 実務プレイブック</a:t>
            </a:r>
          </a:p>
        </p:txBody>
      </p:sp>
      <p:sp>
        <p:nvSpPr>
          <p:cNvPr id="5" name="slide-title-01">
            <a:extLst xmlns:a="http://schemas.openxmlformats.org/drawingml/2006/main">
              <a:ext uri="{FF2B5EF4-FFF2-40B4-BE49-F238E27FC236}">
                <a16:creationId xmlns:a16="http://schemas.microsoft.com/office/drawing/2014/main" id="{28598086-A5D5-4DA4-AE15-3801564E7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257300" y="1866900"/>
            <a:ext cx="4953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8974"/>
          </a:bodyPr>
          <a:lstStyle xmlns:a="http://schemas.openxmlformats.org/drawingml/2006/main"/>
          <a:p xmlns:a="http://schemas.openxmlformats.org/drawingml/2006/main">
            <a:pPr algn="l">
              <a:lnSpc>
                <a:spcPct val="93000"/>
              </a:lnSpc>
              <a:buNone/>
              <a:defRPr sz="39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9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これだけでOK。</a:t>
            </a:r>
          </a:p>
          <a:p xmlns:a="http://schemas.openxmlformats.org/drawingml/2006/main">
            <a:pPr algn="l">
              <a:lnSpc>
                <a:spcPct val="93000"/>
              </a:lnSpc>
              <a:buNone/>
              <a:defRPr sz="39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9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AIでクオリティの高い</a:t>
            </a:r>
          </a:p>
          <a:p xmlns:a="http://schemas.openxmlformats.org/drawingml/2006/main">
            <a:pPr algn="l">
              <a:lnSpc>
                <a:spcPct val="93000"/>
              </a:lnSpc>
              <a:buNone/>
              <a:defRPr sz="39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9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スライドを作る方法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D49F5B-9021-4732-8132-8BDEEB4D0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257300" y="4095750"/>
            <a:ext cx="4762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800" b="0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rPr>
              <a:t>経営会議で判断される資料を、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800" b="0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rPr>
              <a:t>AIと人で設計する5段階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FD29F3-FFE4-43C9-8173-C733130D2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257300" y="5067300"/>
            <a:ext cx="146685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4C5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FD70B8-BE34-4B6C-86FF-9F457BC1E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277600" y="6457950"/>
            <a:ext cx="304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FFFFFF">
                    <a:alpha val="70000"/>
                  </a:srgbClr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050" b="1">
                <a:solidFill>
                  <a:srgbClr val="FFFFFF">
                    <a:alpha val="70000"/>
                  </a:srgbClr>
                </a:solidFill>
                <a:latin typeface="Hiragino Kaku Gothic ProN"/>
                <a:ea typeface="Hiragino Kaku Gothic ProN"/>
                <a:cs typeface="Hiragino Kaku Gothic ProN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0343012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116B323-9BE9-4204-8744-F8B23D770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714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050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rPr>
              <a:t>PROBLEM / SPEED ≠ DECISION</a:t>
            </a:r>
          </a:p>
        </p:txBody>
      </p:sp>
      <p:sp>
        <p:nvSpPr>
          <p:cNvPr id="2" name="slide-title-2">
            <a:extLst xmlns:a="http://schemas.openxmlformats.org/drawingml/2006/main">
              <a:ext uri="{FF2B5EF4-FFF2-40B4-BE49-F238E27FC236}">
                <a16:creationId xmlns:a16="http://schemas.microsoft.com/office/drawing/2014/main" id="{31E279FC-19F5-4381-ADD1-5C50DE83A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43815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6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6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AIで資料は速くなる。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36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6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でも、経営会議の判断は速くならない。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1B6091-90AC-400D-87B3-2B62750B9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7250" y="2057400"/>
            <a:ext cx="342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850" b="1">
                <a:solidFill>
                  <a:srgbClr val="2357D9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2850" b="1">
                <a:solidFill>
                  <a:srgbClr val="2357D9"/>
                </a:solidFill>
                <a:latin typeface="Hiragino Kaku Gothic ProN"/>
                <a:ea typeface="Hiragino Kaku Gothic ProN"/>
                <a:cs typeface="Hiragino Kaku Gothic ProN"/>
              </a:rPr>
              <a:t>生成速度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316C45-EF8E-4321-8DC8-CE8EBFF78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05750" y="2057400"/>
            <a:ext cx="342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850" b="1">
                <a:solidFill>
                  <a:srgbClr val="E33B36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2850" b="1">
                <a:solidFill>
                  <a:srgbClr val="E33B36"/>
                </a:solidFill>
                <a:latin typeface="Hiragino Kaku Gothic ProN"/>
                <a:ea typeface="Hiragino Kaku Gothic ProN"/>
                <a:cs typeface="Hiragino Kaku Gothic ProN"/>
              </a:rPr>
              <a:t>判断速度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BC4CA3-D6FF-4BCA-B9E2-5548CAD04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420000">
            <a:off x="819150" y="2914650"/>
            <a:ext cx="21907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AD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C44D84-5625-4678-AC7E-F9F4C4B29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1550" y="3067050"/>
            <a:ext cx="122682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7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2D5F94-F075-4E00-8C65-0212A2DC6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1550" y="3333750"/>
            <a:ext cx="157734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21D9C3-C61D-4B10-9094-AC4B790C8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300000">
            <a:off x="1257300" y="3124200"/>
            <a:ext cx="21907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AD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244702-E2E7-467D-8842-239204176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3333750"/>
            <a:ext cx="8953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9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D59FC2-B329-4BCF-8BB1-04EE284EF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400300" y="3333750"/>
            <a:ext cx="8953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67A76F-5086-4F8D-A2C3-10F745536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180000">
            <a:off x="1695450" y="3333750"/>
            <a:ext cx="21907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AD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526463-009D-4BD9-ABFA-E1086D7B8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47850" y="3486150"/>
            <a:ext cx="122682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7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AB6EE7-F44D-45E1-A5B4-3C52D6E2F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47850" y="3752850"/>
            <a:ext cx="157734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00E12A4-E2BE-4ED4-84AF-668E936BD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60000">
            <a:off x="2133600" y="3543300"/>
            <a:ext cx="21907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AD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7EF3A77-F271-4FA8-A37D-74F55D21A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86000" y="3752850"/>
            <a:ext cx="8953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9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E4D2F89-317B-4301-966D-461497EE1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76600" y="3752850"/>
            <a:ext cx="8953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85B5FAE-4474-439A-8BA3-1F9DBC732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60000">
            <a:off x="2571750" y="3752850"/>
            <a:ext cx="21907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AD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4CC2781-78ED-44CA-98BE-E94FEE9FF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24150" y="3905250"/>
            <a:ext cx="122682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7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89608EF-8EDE-4CD8-8746-E9E29F658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24150" y="4171950"/>
            <a:ext cx="157734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DD30462-48A7-419B-B764-ECFA63883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80000">
            <a:off x="3009900" y="3962400"/>
            <a:ext cx="21907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AD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1578D4C-36F7-4F1B-8CEC-A4A63E89A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162300" y="4171950"/>
            <a:ext cx="8953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9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285FE72-BCFC-479E-AF9C-6123C1E2E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152900" y="4171950"/>
            <a:ext cx="8953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1CCD5EA-AAA8-48EA-BC3A-67F6DBF66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76850" y="2781300"/>
            <a:ext cx="1619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672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4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84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≠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3C2234A-2858-45D8-8295-D2D30AAB3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58150" y="2971800"/>
            <a:ext cx="3009900" cy="1752600"/>
          </a:xfrm>
          <a:prstGeom xmlns:a="http://schemas.openxmlformats.org/drawingml/2006/main" prst="roundRect">
            <a:avLst>
              <a:gd name="adj" fmla="val 76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AD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842CF52-5C5B-42D4-8B51-1884748F0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62950" y="32575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E33B36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125" b="1">
                <a:solidFill>
                  <a:srgbClr val="E33B36"/>
                </a:solidFill>
                <a:latin typeface="Hiragino Kaku Gothic ProN"/>
                <a:ea typeface="Hiragino Kaku Gothic ProN"/>
                <a:cs typeface="Hiragino Kaku Gothic ProN"/>
              </a:rPr>
              <a:t>会議後の決定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7AE242F-65E6-4D85-9A03-824F2AF5D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62950" y="3695700"/>
            <a:ext cx="24003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BE9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9A274C9-42E1-40D2-87F1-CB89019A5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62950" y="3695700"/>
            <a:ext cx="2400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950" b="1">
                <a:solidFill>
                  <a:srgbClr val="E33B36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950" b="1">
                <a:solidFill>
                  <a:srgbClr val="E33B36"/>
                </a:solidFill>
                <a:latin typeface="Hiragino Kaku Gothic ProN"/>
                <a:ea typeface="Hiragino Kaku Gothic ProN"/>
                <a:cs typeface="Hiragino Kaku Gothic ProN"/>
              </a:rPr>
              <a:t>未記入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E51B35C-DE38-4298-B946-49CF73653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28800" y="5581650"/>
            <a:ext cx="8534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2025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速く作ることと、相手が決められることは別の設計課題。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AE141D5-0DD2-4445-8431-E5D995590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9600" y="6334125"/>
            <a:ext cx="10363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AD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1C6686B-D4AD-4FDF-9A84-4548C4A66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277600" y="6457950"/>
            <a:ext cx="304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050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390475136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86b77cf8e64945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2EA872-5576-4CE1-903D-B2CCD579D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A2ECB3-F9BC-4815-BAFA-E167BC416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0550" y="514350"/>
            <a:ext cx="11010900" cy="5734050"/>
          </a:xfrm>
          <a:prstGeom xmlns:a="http://schemas.openxmlformats.org/drawingml/2006/main" prst="roundRect">
            <a:avLst>
              <a:gd name="adj" fmla="val 3322"/>
            </a:avLst>
          </a:prstGeom>
          <a:solidFill xmlns:a="http://schemas.openxmlformats.org/drawingml/2006/main">
            <a:srgbClr val="FFFFFF">
              <a:alpha val="94000"/>
            </a:srgbClr>
          </a:solidFill>
          <a:ln xmlns:a="http://schemas.openxmlformats.org/drawingml/2006/main" w="9525">
            <a:solidFill>
              <a:srgbClr val="D8DAD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9"/>
          <a:fontRef xmlns:a="http://schemas.openxmlformats.org/drawingml/2006/main" idx="major"/>
        </p:style>
      </p:sp>
      <p:sp>
        <p:nvSpPr>
          <p:cNvPr id="4" name="slide-title-3">
            <a:extLst xmlns:a="http://schemas.openxmlformats.org/drawingml/2006/main">
              <a:ext uri="{FF2B5EF4-FFF2-40B4-BE49-F238E27FC236}">
                <a16:creationId xmlns:a16="http://schemas.microsoft.com/office/drawing/2014/main" id="{9DD88382-DB9B-4F15-95B2-701493974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90600" y="781050"/>
            <a:ext cx="100012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6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6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資料は完成しているのに、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36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6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経営会議の判断が進まない。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84DC66-72E8-4A22-913E-0C1EB8FA1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90600" y="2190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E33B36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275" b="1">
                <a:solidFill>
                  <a:srgbClr val="E33B36"/>
                </a:solidFill>
                <a:latin typeface="Hiragino Kaku Gothic ProN"/>
                <a:ea typeface="Hiragino Kaku Gothic ProN"/>
                <a:cs typeface="Hiragino Kaku Gothic ProN"/>
              </a:rPr>
              <a:t>会議後に残る3つ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7AE4C7-5150-436E-A24A-6E51383D2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90600" y="2667000"/>
            <a:ext cx="6572250" cy="552450"/>
          </a:xfrm>
          <a:prstGeom xmlns:a="http://schemas.openxmlformats.org/drawingml/2006/main" prst="roundRect">
            <a:avLst>
              <a:gd name="adj" fmla="val 17241"/>
            </a:avLst>
          </a:prstGeom>
          <a:solidFill xmlns:a="http://schemas.openxmlformats.org/drawingml/2006/main">
            <a:srgbClr val="F2F3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46D922-E52C-4016-8766-BE4CA1E9F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219200" y="2667000"/>
            <a:ext cx="590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0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950" b="0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「もう少し情報がほしい」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F2F729-6E8A-473D-92D7-3603BBCB9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90600" y="3448050"/>
            <a:ext cx="6019800" cy="552450"/>
          </a:xfrm>
          <a:prstGeom xmlns:a="http://schemas.openxmlformats.org/drawingml/2006/main" prst="roundRect">
            <a:avLst>
              <a:gd name="adj" fmla="val 17241"/>
            </a:avLst>
          </a:prstGeom>
          <a:solidFill xmlns:a="http://schemas.openxmlformats.org/drawingml/2006/main">
            <a:srgbClr val="F2F3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DA68A2-C350-4565-B143-86A93FDAD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219200" y="3448050"/>
            <a:ext cx="590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0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950" b="0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「社内で確認します」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7E9D64-1054-4D01-8232-769E84E51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90600" y="4229100"/>
            <a:ext cx="5467350" cy="552450"/>
          </a:xfrm>
          <a:prstGeom xmlns:a="http://schemas.openxmlformats.org/drawingml/2006/main" prst="roundRect">
            <a:avLst>
              <a:gd name="adj" fmla="val 17241"/>
            </a:avLst>
          </a:prstGeom>
          <a:solidFill xmlns:a="http://schemas.openxmlformats.org/drawingml/2006/main">
            <a:srgbClr val="FBE9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AEB72D-96EF-4B9B-B991-EDB554B5B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219200" y="4229100"/>
            <a:ext cx="590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95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「次回また検討します」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DD1059-6182-4A28-A53B-41ECEA5D0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20050" y="2914650"/>
            <a:ext cx="26860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850" b="1">
                <a:solidFill>
                  <a:srgbClr val="E33B36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2850" b="1">
                <a:solidFill>
                  <a:srgbClr val="E33B36"/>
                </a:solidFill>
                <a:latin typeface="Hiragino Kaku Gothic ProN"/>
                <a:ea typeface="Hiragino Kaku Gothic ProN"/>
                <a:cs typeface="Hiragino Kaku Gothic ProN"/>
              </a:rPr>
              <a:t>ページは完成。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2850" b="1">
                <a:solidFill>
                  <a:srgbClr val="E33B36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2850" b="1">
                <a:solidFill>
                  <a:srgbClr val="E33B36"/>
                </a:solidFill>
                <a:latin typeface="Hiragino Kaku Gothic ProN"/>
                <a:ea typeface="Hiragino Kaku Gothic ProN"/>
                <a:cs typeface="Hiragino Kaku Gothic ProN"/>
              </a:rPr>
              <a:t>決定は未完成。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4EA184-0779-472D-9A77-6648AFCD1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277600" y="6457950"/>
            <a:ext cx="304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050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64571864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2F3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110E660-3686-4896-9E7E-B508C29D2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714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050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rPr>
              <a:t>CAUSE / DEFINE THE DECISION</a:t>
            </a:r>
          </a:p>
        </p:txBody>
      </p:sp>
      <p:sp>
        <p:nvSpPr>
          <p:cNvPr id="2" name="slide-title-4">
            <a:extLst xmlns:a="http://schemas.openxmlformats.org/drawingml/2006/main">
              <a:ext uri="{FF2B5EF4-FFF2-40B4-BE49-F238E27FC236}">
                <a16:creationId xmlns:a16="http://schemas.microsoft.com/office/drawing/2014/main" id="{9DFEF538-4D9C-441D-8CBA-7D0C10C1B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43815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6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6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止まる理由は、ページ不足ではなく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36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6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「何を決めるか」が曖昧だから。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71D495-012C-44DD-B45E-1BA23E8E8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300000">
            <a:off x="781050" y="2476500"/>
            <a:ext cx="3714750" cy="2266950"/>
          </a:xfrm>
          <a:prstGeom xmlns:a="http://schemas.openxmlformats.org/drawingml/2006/main" prst="roundRect">
            <a:avLst>
              <a:gd name="adj" fmla="val 42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AD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919C81-CDB0-44CE-A9CC-4E1190CF7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240000">
            <a:off x="914400" y="2381250"/>
            <a:ext cx="3714750" cy="2266950"/>
          </a:xfrm>
          <a:prstGeom xmlns:a="http://schemas.openxmlformats.org/drawingml/2006/main" prst="roundRect">
            <a:avLst>
              <a:gd name="adj" fmla="val 42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AD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F9BA4A-9869-46CE-88FE-63BE3F534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180000">
            <a:off x="1047750" y="2286000"/>
            <a:ext cx="3714750" cy="2266950"/>
          </a:xfrm>
          <a:prstGeom xmlns:a="http://schemas.openxmlformats.org/drawingml/2006/main" prst="roundRect">
            <a:avLst>
              <a:gd name="adj" fmla="val 42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AD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CD8D36-20A8-44E7-A47D-001DD5EDD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120000">
            <a:off x="1181100" y="2190750"/>
            <a:ext cx="3714750" cy="2266950"/>
          </a:xfrm>
          <a:prstGeom xmlns:a="http://schemas.openxmlformats.org/drawingml/2006/main" prst="roundRect">
            <a:avLst>
              <a:gd name="adj" fmla="val 42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AD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4587A2-347D-43B7-AFDE-108B949C2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60000">
            <a:off x="1314450" y="2095500"/>
            <a:ext cx="3714750" cy="2266950"/>
          </a:xfrm>
          <a:prstGeom xmlns:a="http://schemas.openxmlformats.org/drawingml/2006/main" prst="roundRect">
            <a:avLst>
              <a:gd name="adj" fmla="val 42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AD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90C400-A5DE-455B-940E-806E8AB95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47800" y="2000250"/>
            <a:ext cx="3714750" cy="2266950"/>
          </a:xfrm>
          <a:prstGeom xmlns:a="http://schemas.openxmlformats.org/drawingml/2006/main" prst="roundRect">
            <a:avLst>
              <a:gd name="adj" fmla="val 42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AD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EE1015-2D4E-4DF6-A312-D9F3F851B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60000">
            <a:off x="1581150" y="1905000"/>
            <a:ext cx="3714750" cy="2266950"/>
          </a:xfrm>
          <a:prstGeom xmlns:a="http://schemas.openxmlformats.org/drawingml/2006/main" prst="roundRect">
            <a:avLst>
              <a:gd name="adj" fmla="val 42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AD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8101AA-04FF-41D6-9CB2-371D8D72E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20000">
            <a:off x="1714500" y="1809750"/>
            <a:ext cx="3714750" cy="2266950"/>
          </a:xfrm>
          <a:prstGeom xmlns:a="http://schemas.openxmlformats.org/drawingml/2006/main" prst="roundRect">
            <a:avLst>
              <a:gd name="adj" fmla="val 42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AD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4AD199-1C53-4B5F-B2D9-8FB1A531B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80000">
            <a:off x="1847850" y="1714500"/>
            <a:ext cx="3714750" cy="2266950"/>
          </a:xfrm>
          <a:prstGeom xmlns:a="http://schemas.openxmlformats.org/drawingml/2006/main" prst="roundRect">
            <a:avLst>
              <a:gd name="adj" fmla="val 42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AD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E32BAA-AF90-40B6-8430-99B1A7699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66850" y="3638550"/>
            <a:ext cx="2647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2250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rPr>
              <a:t>ページを増やす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CCB42D-32B5-4048-B7CA-B45705366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48250" y="3390900"/>
            <a:ext cx="1009650" cy="3810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E33B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A03461-5969-4808-9EF8-AACB534A6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29400" y="2114550"/>
            <a:ext cx="4686300" cy="314325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AD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8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4B4A77-9758-4EA9-BE46-94F50E2C2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48500" y="24574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2357D9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275" b="1">
                <a:solidFill>
                  <a:srgbClr val="2357D9"/>
                </a:solidFill>
                <a:latin typeface="Hiragino Kaku Gothic ProN"/>
                <a:ea typeface="Hiragino Kaku Gothic ProN"/>
                <a:cs typeface="Hiragino Kaku Gothic ProN"/>
              </a:rPr>
              <a:t>決めること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71861A7-52BA-45EB-B695-1E6C02240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48500" y="2933700"/>
            <a:ext cx="38100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5C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C69A6E1-D004-4F50-BEF6-FF91D0677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77100" y="3105150"/>
            <a:ext cx="335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821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21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次回、担当部署で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21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2週間の検証を始めるか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66A272A-6552-4C0F-91AA-A3AF17CC4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48500" y="4305300"/>
            <a:ext cx="3810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0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650" b="0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rPr>
              <a:t>「決定」とは、会議後に誰が何をするかが変わる選択。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D55AB9E-76E3-4755-A02F-1DE08A196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277600" y="6457950"/>
            <a:ext cx="304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050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85581765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111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CA134A2-8C8E-4B36-8EAD-A1FE4646F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714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776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FFFFFF">
                    <a:alpha val="72000"/>
                  </a:srgbClr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050" b="1">
                <a:solidFill>
                  <a:srgbClr val="FFFFFF">
                    <a:alpha val="72000"/>
                  </a:srgbClr>
                </a:solidFill>
                <a:latin typeface="Hiragino Kaku Gothic ProN"/>
                <a:ea typeface="Hiragino Kaku Gothic ProN"/>
                <a:cs typeface="Hiragino Kaku Gothic ProN"/>
              </a:rPr>
              <a:t>FAILURE MODE / ONE-SHOT GENERATION</a:t>
            </a:r>
          </a:p>
        </p:txBody>
      </p:sp>
      <p:sp>
        <p:nvSpPr>
          <p:cNvPr id="2" name="slide-title-5">
            <a:extLst xmlns:a="http://schemas.openxmlformats.org/drawingml/2006/main">
              <a:ext uri="{FF2B5EF4-FFF2-40B4-BE49-F238E27FC236}">
                <a16:creationId xmlns:a16="http://schemas.microsoft.com/office/drawing/2014/main" id="{B0CF5DA4-E0D0-45DD-8164-63D27177B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438150"/>
            <a:ext cx="58102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502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60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60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一発生成は、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360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60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平均的なページを大量につくる。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557574-9AF7-4C6E-8EBA-4FA43538D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8650" y="2171700"/>
            <a:ext cx="4495800" cy="2838450"/>
          </a:xfrm>
          <a:prstGeom xmlns:a="http://schemas.openxmlformats.org/drawingml/2006/main" prst="roundRect">
            <a:avLst>
              <a:gd name="adj" fmla="val 6040"/>
            </a:avLst>
          </a:prstGeom>
          <a:solidFill xmlns:a="http://schemas.openxmlformats.org/drawingml/2006/main">
            <a:srgbClr val="1D1D1D"/>
          </a:solidFill>
          <a:ln xmlns:a="http://schemas.openxmlformats.org/drawingml/2006/main" w="9525">
            <a:solidFill>
              <a:srgbClr val="44444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8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C95F01-ECB4-4236-85EF-B3E973209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33450" y="24765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FFFFFF">
                    <a:alpha val="60000"/>
                  </a:srgbClr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125" b="1">
                <a:solidFill>
                  <a:srgbClr val="FFFFFF">
                    <a:alpha val="60000"/>
                  </a:srgbClr>
                </a:solidFill>
                <a:latin typeface="Hiragino Kaku Gothic ProN"/>
                <a:ea typeface="Hiragino Kaku Gothic ProN"/>
                <a:cs typeface="Hiragino Kaku Gothic ProN"/>
              </a:rPr>
              <a:t>PROMPT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0AB240-3689-4FF1-A887-6A1ED5F5E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33450" y="2990850"/>
            <a:ext cx="3638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40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240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「このテーマで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240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240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30枚の資料を作って」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A33B5C-A9B6-4E2F-B79B-25A6CC3EA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33450" y="4400550"/>
            <a:ext cx="20383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2357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1D01E8-AF86-46B0-A940-8F7E3C278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33450" y="4400550"/>
            <a:ext cx="2038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35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一度で完成させる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C60330-3062-491A-8E41-FE1BA5825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180000">
            <a:off x="6343650" y="1733550"/>
            <a:ext cx="1790700" cy="10096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AD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CEED73-720F-4BAE-8326-39F518EA8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1885950"/>
            <a:ext cx="1002792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B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107E4D-4ACF-48BB-A455-C78C7B323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2152650"/>
            <a:ext cx="1289304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2DF802B-C6EF-4398-A4D6-CB97FE7BB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120000">
            <a:off x="7810500" y="1733550"/>
            <a:ext cx="1790700" cy="10096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AD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16FB90-870A-472A-B9BA-F5FD02225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62900" y="1943100"/>
            <a:ext cx="69532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9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81342A1-BFE1-4B23-9D1D-C8A8AC148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753475" y="1943100"/>
            <a:ext cx="69532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E0E1B67-428C-400D-8AE7-12B8552E2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60000">
            <a:off x="9277350" y="1733550"/>
            <a:ext cx="1790700" cy="10096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AD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E1A586-357C-4A49-B235-0315F5760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429750" y="1885950"/>
            <a:ext cx="1002792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7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85CEEA5-6327-4602-9C07-547CD1CC1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429750" y="2152650"/>
            <a:ext cx="1289304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4B0E5D1-4576-4856-8836-2626ABE58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43650" y="3028950"/>
            <a:ext cx="1790700" cy="10096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AD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8C3FDCE-3DE0-4132-8565-58CB0A3CD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3238500"/>
            <a:ext cx="69532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9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1DC378A-73F8-4A95-A757-E53C55AD2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86625" y="3238500"/>
            <a:ext cx="69532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29A8392-90F0-4E7D-AAED-9025A0B58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60000">
            <a:off x="7810500" y="3028950"/>
            <a:ext cx="1790700" cy="10096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AD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F2ECCCB-CAC9-4CC4-9D15-04DB227EA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62900" y="3181350"/>
            <a:ext cx="1002792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7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0237838-4A49-44A0-8614-BEFB4A4CB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62900" y="3448050"/>
            <a:ext cx="1289304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A7968F0-FECF-4115-92EA-1DB014FF1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20000">
            <a:off x="9277350" y="3028950"/>
            <a:ext cx="1790700" cy="10096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AD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B4C0BEB-150A-46F6-9024-C41B87680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429750" y="3238500"/>
            <a:ext cx="69532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9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7EE1714-4732-4DD0-9B14-51A07BAA7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220325" y="3238500"/>
            <a:ext cx="69532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A63BC25-80EE-4679-8D27-2DB1AECFA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80000">
            <a:off x="6343650" y="4324350"/>
            <a:ext cx="1790700" cy="10096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AD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D5A2430-A8B6-45F5-BC44-3D0099712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4476750"/>
            <a:ext cx="1002792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B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CB1DEAE-97E9-42C8-BD10-75FB1BAD9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4743450"/>
            <a:ext cx="1289304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C8DC1F0-C710-43C4-8C10-2C58B3249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91250" y="5581650"/>
            <a:ext cx="1295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425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似た構図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B73104D-4738-4305-954D-D21733FC7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00950" y="5581650"/>
            <a:ext cx="1295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425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長い本文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8703B1D-2470-41BD-8662-598F80029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010650" y="5581650"/>
            <a:ext cx="1295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425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根拠の混在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BF2AAB9-AC6E-42EB-9FE8-267B57F6B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420350" y="5581650"/>
            <a:ext cx="1295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>
                <a:solidFill>
                  <a:srgbClr val="E33B36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425" b="1">
                <a:solidFill>
                  <a:srgbClr val="E33B36"/>
                </a:solidFill>
                <a:latin typeface="Hiragino Kaku Gothic ProN"/>
                <a:ea typeface="Hiragino Kaku Gothic ProN"/>
                <a:cs typeface="Hiragino Kaku Gothic ProN"/>
              </a:rPr>
              <a:t>弱い結論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2E8E105-7993-4034-A083-114BB75BC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9600" y="6334125"/>
            <a:ext cx="10363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5D4F97F-C1D4-4155-B440-BB64749F5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277600" y="6457950"/>
            <a:ext cx="304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FFFFFF">
                    <a:alpha val="70000"/>
                  </a:srgbClr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050" b="1">
                <a:solidFill>
                  <a:srgbClr val="FFFFFF">
                    <a:alpha val="70000"/>
                  </a:srgbClr>
                </a:solidFill>
                <a:latin typeface="Hiragino Kaku Gothic ProN"/>
                <a:ea typeface="Hiragino Kaku Gothic ProN"/>
                <a:cs typeface="Hiragino Kaku Gothic ProN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64798972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40FF8F-5ADA-41D9-920A-54F50BD5A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714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050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rPr>
              <a:t>WORST FUTURE / FAILURE LOOP</a:t>
            </a:r>
          </a:p>
        </p:txBody>
      </p:sp>
      <p:sp>
        <p:nvSpPr>
          <p:cNvPr id="2" name="slide-title-6">
            <a:extLst xmlns:a="http://schemas.openxmlformats.org/drawingml/2006/main">
              <a:ext uri="{FF2B5EF4-FFF2-40B4-BE49-F238E27FC236}">
                <a16:creationId xmlns:a16="http://schemas.microsoft.com/office/drawing/2014/main" id="{77509081-5848-417E-8F84-676C34CDF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43815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6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6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このままでは修正と不信が増え、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36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6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AI導入そのものが止まる。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E15AEB-8234-4427-917A-5F2167897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600000">
            <a:off x="2895600" y="2571750"/>
            <a:ext cx="14287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9D5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0ECEF1-5080-4A3A-9BA0-A9DD455B3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600000">
            <a:off x="6858000" y="2571750"/>
            <a:ext cx="14287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4D3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ECF6FF-725C-4F61-B9C3-A6AF6CD1B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9000000">
            <a:off x="7372350" y="4000500"/>
            <a:ext cx="14287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4D3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C17C78-C765-4CB3-8C20-47ABA3E29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2600000">
            <a:off x="2895600" y="4000500"/>
            <a:ext cx="14287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4D3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9C0BB1-F964-44F4-96F4-A2B1A6B89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295400" y="2419350"/>
            <a:ext cx="1466850" cy="1466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57D9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80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生成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FDBC5C-1AED-4688-8898-7175FF747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52950" y="1885950"/>
            <a:ext cx="1466850" cy="1466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33B36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80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修正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EB8710-0DB0-4CE2-8818-07BC5B84E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86700" y="2419350"/>
            <a:ext cx="1466850" cy="1466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C542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8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根拠確認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FED091-F85C-402C-BF99-0D985B980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52950" y="4191000"/>
            <a:ext cx="1466850" cy="1466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33B36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80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作り直し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FFA1FF-5B8D-4821-894C-12BA835FF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76800" y="3143250"/>
            <a:ext cx="2438400" cy="990600"/>
          </a:xfrm>
          <a:prstGeom xmlns:a="http://schemas.openxmlformats.org/drawingml/2006/main" prst="roundRect">
            <a:avLst>
              <a:gd name="adj" fmla="val 17308"/>
            </a:avLst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8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3B230E5-693F-4AF9-A30C-7A600724B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76800" y="3143250"/>
            <a:ext cx="24384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85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285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導入停止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BA58D4B-0F22-4B00-9AC1-80E4B99EB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190750" y="5962650"/>
            <a:ext cx="781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0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575" b="0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rPr>
              <a:t>起こりうる失敗ループ：生成を完成と扱い、人の確認工程を持たない。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0F8ED1-51EA-456C-B485-8ECFD7149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277600" y="6457950"/>
            <a:ext cx="304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050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31866841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7C2A692-589D-4F4D-B1A0-C1F1C969D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714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050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rPr>
              <a:t>BEST FUTURE / DECISION LOG</a:t>
            </a:r>
          </a:p>
        </p:txBody>
      </p:sp>
      <p:sp>
        <p:nvSpPr>
          <p:cNvPr id="2" name="slide-title-7">
            <a:extLst xmlns:a="http://schemas.openxmlformats.org/drawingml/2006/main">
              <a:ext uri="{FF2B5EF4-FFF2-40B4-BE49-F238E27FC236}">
                <a16:creationId xmlns:a16="http://schemas.microsoft.com/office/drawing/2014/main" id="{32824532-B89B-46F9-B87B-629D0F4C3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43815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6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6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反対に、判断が設計された資料は、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36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6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会議後の次の一手を生む。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DCFE49-789F-4D99-B29D-9EE0A2F68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257300" y="1981200"/>
            <a:ext cx="9677400" cy="371475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AD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8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13C068-BA04-4BDE-A7B1-1034B0A75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95450" y="23241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2357D9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350" b="1">
                <a:solidFill>
                  <a:srgbClr val="2357D9"/>
                </a:solidFill>
                <a:latin typeface="Hiragino Kaku Gothic ProN"/>
                <a:ea typeface="Hiragino Kaku Gothic ProN"/>
                <a:cs typeface="Hiragino Kaku Gothic ProN"/>
              </a:rPr>
              <a:t>会議後の決定ログ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4D68B3-6FF8-4F8E-8B93-0AAC4D3A5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695450" y="2724150"/>
            <a:ext cx="8801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4E6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589FBD-1984-4850-AC71-D48E38AA4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95450" y="30480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200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rPr>
              <a:t>決定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549D96-5F00-4493-890E-269C5C352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00450" y="2971800"/>
            <a:ext cx="65532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5C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3F0454-CDAB-4206-B171-358B6ADA3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90950" y="2971800"/>
            <a:ext cx="6096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725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2週間の検証を開始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B79B8C-E3B5-4C69-A1DB-7F15C40DC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95450" y="36195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200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rPr>
              <a:t>Owner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7E4924-CC7B-4E63-B0C5-55681CD4A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00450" y="3543300"/>
            <a:ext cx="65532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9EEF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0E89D8-395E-4A97-846A-B88794565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90950" y="3543300"/>
            <a:ext cx="6096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725" b="0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営業責任者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103EDF-6F07-4B31-89C9-F3EC9D10D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95450" y="41910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200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rPr>
              <a:t>Deadline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7C53C7-405A-4E09-92BA-B5C5726E2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00450" y="4114800"/>
            <a:ext cx="65532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2F3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B42346E-81E7-48BF-967A-2FD4E2F76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90950" y="4114800"/>
            <a:ext cx="6096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725" b="0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次回会議まで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5BDB8CA-108C-459F-932C-F6B9D09DB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95450" y="47625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200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rPr>
              <a:t>Next action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F0EF83-62EB-4E1D-A6E8-13BB31E33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00450" y="4686300"/>
            <a:ext cx="65532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BE9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0D4D4CE-283D-40D7-9502-442DF0EA6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90950" y="4686300"/>
            <a:ext cx="6096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725" b="0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対象業務を3つ選ぶ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6FFC636-AB3E-4B26-97EC-6612F1012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96500" y="49720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7A4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2175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✓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73FC8A9-143C-425A-B27F-7E4D5CA7A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34550" y="5467350"/>
            <a:ext cx="876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050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rPr>
              <a:t>架空例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FE84838-0AE4-47F6-9BA4-9E6F14862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66950" y="6019800"/>
            <a:ext cx="7658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8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良い資料は「分かった」で終わらず、次の行動が残る。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6C05427-98AA-43A4-9B1F-03E07399B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277600" y="6457950"/>
            <a:ext cx="304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050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98739153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1111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3123A81-EB07-430A-A502-63A7789BB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714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FFFFFF">
                    <a:alpha val="72000"/>
                  </a:srgbClr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050" b="1">
                <a:solidFill>
                  <a:srgbClr val="FFFFFF">
                    <a:alpha val="72000"/>
                  </a:srgbClr>
                </a:solidFill>
                <a:latin typeface="Hiragino Kaku Gothic ProN"/>
                <a:ea typeface="Hiragino Kaku Gothic ProN"/>
                <a:cs typeface="Hiragino Kaku Gothic ProN"/>
              </a:rPr>
              <a:t>REFRAME / DECISION DESIGN</a:t>
            </a:r>
          </a:p>
        </p:txBody>
      </p:sp>
      <p:sp>
        <p:nvSpPr>
          <p:cNvPr id="2" name="slide-title-8">
            <a:extLst xmlns:a="http://schemas.openxmlformats.org/drawingml/2006/main">
              <a:ext uri="{FF2B5EF4-FFF2-40B4-BE49-F238E27FC236}">
                <a16:creationId xmlns:a16="http://schemas.microsoft.com/office/drawing/2014/main" id="{3A580288-04A9-439A-AF8C-3D7DACB0F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43815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60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60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経営者が判断できる資料は、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360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60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ページではなく意思決定を設計する。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DF6E6B-1413-4E8F-BADE-7A2005BFC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480000">
            <a:off x="685800" y="2914650"/>
            <a:ext cx="21145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AD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11DE01-934F-474E-9678-E7CE678DE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8200" y="3067050"/>
            <a:ext cx="1184148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B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BF3FF9-351B-483D-B6E2-2349F528E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8200" y="3333750"/>
            <a:ext cx="1522476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08E472-F784-4794-B368-55B28D9DB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300000">
            <a:off x="1143000" y="3219450"/>
            <a:ext cx="21145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AD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A0EFDA-28ED-49AF-B6A9-D9C423C28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295400" y="3429000"/>
            <a:ext cx="8572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9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198DC0-4065-4541-9DA7-7B63200EF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47900" y="3429000"/>
            <a:ext cx="8572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8AEC61-3745-4DF6-9736-16E7C60C8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120000">
            <a:off x="1600200" y="3524250"/>
            <a:ext cx="21145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AD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A03466-84CC-4CA7-94AD-4C565C285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752600" y="3676650"/>
            <a:ext cx="1184148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B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7BB4A7-A7A1-4186-A8AF-7D72AD117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752600" y="3943350"/>
            <a:ext cx="1522476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647D00-8FE4-42AB-993A-1461666AC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60000">
            <a:off x="2057400" y="3829050"/>
            <a:ext cx="21145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AD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A8C72D2-3C04-4F1F-B5F9-DC5582B9E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09800" y="4038600"/>
            <a:ext cx="8572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9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86BDC10-8BCA-4E68-BBE4-5F7BD7421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162300" y="4038600"/>
            <a:ext cx="8572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6FC8C37-1C09-43B7-BB02-3E55C03B9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240000">
            <a:off x="2514600" y="4133850"/>
            <a:ext cx="21145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AD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066EB4-FFF4-4B6C-B05F-D8D0B58ED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667000" y="4286250"/>
            <a:ext cx="1184148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B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D0CC2F9-3B95-42B4-96B1-F8F648A32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667000" y="4552950"/>
            <a:ext cx="1522476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C3D813E-17C1-4153-BF0C-1EAE6C552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76650" y="3714750"/>
            <a:ext cx="1600200" cy="533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E33B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7720C9B-5436-4A9F-B1E0-AD19664C2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24550" y="3105150"/>
            <a:ext cx="990600" cy="990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57D9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65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理解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6716539-F5FA-4B65-B322-32645886C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900000">
            <a:off x="6762750" y="3524250"/>
            <a:ext cx="72390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FFFF">
              <a:alpha val="2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8318BBD-C358-457E-A699-7FE4DC42C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19950" y="2762250"/>
            <a:ext cx="990600" cy="990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276D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65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比較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AED602E-D3AC-4998-A1B0-F0DFAF271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900000">
            <a:off x="8058150" y="3181350"/>
            <a:ext cx="72390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FFFF">
              <a:alpha val="2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A79FCEB-B736-4BE5-A386-B208B87C8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15350" y="2400300"/>
            <a:ext cx="990600" cy="990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C542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65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納得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22F24FE-F9A6-4FCD-A88D-28F7F441F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900000">
            <a:off x="9353550" y="2819400"/>
            <a:ext cx="72390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FFFF">
              <a:alpha val="2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D37A3EC-F50A-401A-94AC-55E3A3577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810750" y="2000250"/>
            <a:ext cx="990600" cy="990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33B36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65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行動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94DB7C0-94FD-4803-8A03-3724CAA76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28750" y="5715000"/>
            <a:ext cx="933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875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意思決定設計 = 相手が理解し、比べ、納得し、行動できる順に材料を置くこと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9F2F7BB-22A3-4CB9-BA31-EB24F99E0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9600" y="6334125"/>
            <a:ext cx="10363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354DF64-F4AD-47E5-90A2-7CC36D8B7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277600" y="6457950"/>
            <a:ext cx="304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FFFFFF">
                    <a:alpha val="70000"/>
                  </a:srgbClr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050" b="1">
                <a:solidFill>
                  <a:srgbClr val="FFFFFF">
                    <a:alpha val="70000"/>
                  </a:srgbClr>
                </a:solidFill>
                <a:latin typeface="Hiragino Kaku Gothic ProN"/>
                <a:ea typeface="Hiragino Kaku Gothic ProN"/>
                <a:cs typeface="Hiragino Kaku Gothic ProN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87082552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42E5611-44EF-4052-8DE7-2CAC860E3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714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050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rPr>
              <a:t>MAP / HOW PEOPLE MOVE</a:t>
            </a:r>
          </a:p>
        </p:txBody>
      </p:sp>
      <p:sp>
        <p:nvSpPr>
          <p:cNvPr id="2" name="slide-title-9">
            <a:extLst xmlns:a="http://schemas.openxmlformats.org/drawingml/2006/main">
              <a:ext uri="{FF2B5EF4-FFF2-40B4-BE49-F238E27FC236}">
                <a16:creationId xmlns:a16="http://schemas.microsoft.com/office/drawing/2014/main" id="{88188F81-AC46-4CF0-8859-78BCA39E5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43815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6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6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経営者が判断するには、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36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6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理解・比較・納得・行動の順が必要だ。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15D42B-C3C0-454B-B42A-054817984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">
            <a:off x="2552700" y="3562350"/>
            <a:ext cx="116205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5DD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5BFF10-2D75-47B2-ABC8-564C28442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8200" y="2990850"/>
            <a:ext cx="2000250" cy="1352550"/>
          </a:xfrm>
          <a:prstGeom xmlns:a="http://schemas.openxmlformats.org/drawingml/2006/main" prst="roundRect">
            <a:avLst>
              <a:gd name="adj" fmla="val 12676"/>
            </a:avLst>
          </a:prstGeom>
          <a:solidFill xmlns:a="http://schemas.openxmlformats.org/drawingml/2006/main">
            <a:srgbClr val="2357D9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ADFFED-167F-4AC1-BDBD-A968004C8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47750" y="316230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FFFFFF">
                    <a:alpha val="70000"/>
                  </a:srgbClr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125" b="1">
                <a:solidFill>
                  <a:srgbClr val="FFFFFF">
                    <a:alpha val="70000"/>
                  </a:srgbClr>
                </a:solidFill>
                <a:latin typeface="Hiragino Kaku Gothic ProN"/>
                <a:ea typeface="Hiragino Kaku Gothic ProN"/>
                <a:cs typeface="Hiragino Kaku Gothic ProN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A89689-EEB3-4C5E-9AF4-862312C5C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47750" y="3448050"/>
            <a:ext cx="1581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2325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理解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AEE79C-9EBB-432B-9DCD-02C6AF25E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47750" y="3905250"/>
            <a:ext cx="1581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FFFFFF">
                    <a:alpha val="86000"/>
                  </a:srgbClr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350" b="0">
                <a:solidFill>
                  <a:srgbClr val="FFFFFF">
                    <a:alpha val="86000"/>
                  </a:srgbClr>
                </a:solidFill>
                <a:latin typeface="Hiragino Kaku Gothic ProN"/>
                <a:ea typeface="Hiragino Kaku Gothic ProN"/>
                <a:cs typeface="Hiragino Kaku Gothic ProN"/>
              </a:rPr>
              <a:t>何の話か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8E2B2B-9D9C-40C4-8D26-4FEDCFE3F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">
            <a:off x="5295900" y="3143250"/>
            <a:ext cx="116205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5DD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748CF5-4B29-4311-86FD-C94A85CE7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81400" y="2571750"/>
            <a:ext cx="2000250" cy="1352550"/>
          </a:xfrm>
          <a:prstGeom xmlns:a="http://schemas.openxmlformats.org/drawingml/2006/main" prst="roundRect">
            <a:avLst>
              <a:gd name="adj" fmla="val 12676"/>
            </a:avLst>
          </a:prstGeom>
          <a:solidFill xmlns:a="http://schemas.openxmlformats.org/drawingml/2006/main">
            <a:srgbClr val="5276D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9CB68E-A545-44D2-82CA-55A40528B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90950" y="274320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FFFFFF">
                    <a:alpha val="70000"/>
                  </a:srgbClr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125" b="1">
                <a:solidFill>
                  <a:srgbClr val="FFFFFF">
                    <a:alpha val="70000"/>
                  </a:srgbClr>
                </a:solidFill>
                <a:latin typeface="Hiragino Kaku Gothic ProN"/>
                <a:ea typeface="Hiragino Kaku Gothic ProN"/>
                <a:cs typeface="Hiragino Kaku Gothic ProN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7F6C1C-7B7E-4F81-B930-DE923E28E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90950" y="3028950"/>
            <a:ext cx="1581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2325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比較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E48184-184D-4A9F-86C9-A95C7826E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90950" y="3486150"/>
            <a:ext cx="1581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FFFFFF">
                    <a:alpha val="86000"/>
                  </a:srgbClr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350" b="0">
                <a:solidFill>
                  <a:srgbClr val="FFFFFF">
                    <a:alpha val="86000"/>
                  </a:srgbClr>
                </a:solidFill>
                <a:latin typeface="Hiragino Kaku Gothic ProN"/>
                <a:ea typeface="Hiragino Kaku Gothic ProN"/>
                <a:cs typeface="Hiragino Kaku Gothic ProN"/>
              </a:rPr>
              <a:t>何が違うか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332B38-29AB-45DA-B943-6D08E7F8A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">
            <a:off x="8039100" y="2705100"/>
            <a:ext cx="116205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5DD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30960CA-105A-4016-BD3B-4D66E67DA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24600" y="2133600"/>
            <a:ext cx="2000250" cy="1352550"/>
          </a:xfrm>
          <a:prstGeom xmlns:a="http://schemas.openxmlformats.org/drawingml/2006/main" prst="roundRect">
            <a:avLst>
              <a:gd name="adj" fmla="val 12676"/>
            </a:avLst>
          </a:prstGeom>
          <a:solidFill xmlns:a="http://schemas.openxmlformats.org/drawingml/2006/main">
            <a:srgbClr val="F4C542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055D88-DAB7-4BA0-A3CF-977BFFA7A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34150" y="23050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125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76556D5-3CCD-4E48-A2CC-B72BB0365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34150" y="2590800"/>
            <a:ext cx="1581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2325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納得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F24E6E2-DF86-4CFC-8593-43FB2B569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34150" y="3048000"/>
            <a:ext cx="1581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350" b="0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なぜ信じられるか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83D7BA3-696A-4C73-A8C6-0E52FE25A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067800" y="1676400"/>
            <a:ext cx="2000250" cy="1352550"/>
          </a:xfrm>
          <a:prstGeom xmlns:a="http://schemas.openxmlformats.org/drawingml/2006/main" prst="roundRect">
            <a:avLst>
              <a:gd name="adj" fmla="val 12676"/>
            </a:avLst>
          </a:prstGeom>
          <a:solidFill xmlns:a="http://schemas.openxmlformats.org/drawingml/2006/main">
            <a:srgbClr val="E33B36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E23B583-958C-4339-A41A-272FFA288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77350" y="18478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FFFFFF">
                    <a:alpha val="70000"/>
                  </a:srgbClr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125" b="1">
                <a:solidFill>
                  <a:srgbClr val="FFFFFF">
                    <a:alpha val="70000"/>
                  </a:srgbClr>
                </a:solidFill>
                <a:latin typeface="Hiragino Kaku Gothic ProN"/>
                <a:ea typeface="Hiragino Kaku Gothic ProN"/>
                <a:cs typeface="Hiragino Kaku Gothic ProN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EBC0F7C-A6BE-4B89-8341-79021743F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77350" y="2133600"/>
            <a:ext cx="1581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2325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行動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B944BC1-D68E-4A49-A978-1606FA227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77350" y="2590800"/>
            <a:ext cx="1581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FFFFFF">
                    <a:alpha val="86000"/>
                  </a:srgbClr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350" b="0">
                <a:solidFill>
                  <a:srgbClr val="FFFFFF">
                    <a:alpha val="86000"/>
                  </a:srgbClr>
                </a:solidFill>
                <a:latin typeface="Hiragino Kaku Gothic ProN"/>
                <a:ea typeface="Hiragino Kaku Gothic ProN"/>
                <a:cs typeface="Hiragino Kaku Gothic ProN"/>
              </a:rPr>
              <a:t>次に何をするか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5F95A1A-D79F-46D1-A4A5-519DBCAD2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47850" y="5810250"/>
            <a:ext cx="8496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8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AI導入提案なら：対象業務 → 現状との差 → 根拠 → 小さな検証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70C1565-CCD1-4CBB-BBB1-933CBC644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277600" y="6457950"/>
            <a:ext cx="304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050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57325134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2F3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9602470-BD52-4B92-AE37-2A1B04B4B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714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050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rPr>
              <a:t>STEP 1 / BRIEF</a:t>
            </a:r>
          </a:p>
        </p:txBody>
      </p:sp>
      <p:sp>
        <p:nvSpPr>
          <p:cNvPr id="2" name="slide-title-10">
            <a:extLst xmlns:a="http://schemas.openxmlformats.org/drawingml/2006/main">
              <a:ext uri="{FF2B5EF4-FFF2-40B4-BE49-F238E27FC236}">
                <a16:creationId xmlns:a16="http://schemas.microsoft.com/office/drawing/2014/main" id="{551F5ABA-77F0-48CD-B719-F4898E67C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43815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6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6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AIに頼む前に、読者・決定・根拠・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36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6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次の行動を固定する。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ECE19F-01E2-4B91-9E99-7AB3B4F17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5800" y="2019300"/>
            <a:ext cx="6381750" cy="3829050"/>
          </a:xfrm>
          <a:prstGeom xmlns:a="http://schemas.openxmlformats.org/drawingml/2006/main" prst="roundRect">
            <a:avLst>
              <a:gd name="adj" fmla="val 44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AD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5F326B-CC60-4D7B-A013-E03FF05C8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47750" y="23050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2357D9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275" b="1">
                <a:solidFill>
                  <a:srgbClr val="2357D9"/>
                </a:solidFill>
                <a:latin typeface="Hiragino Kaku Gothic ProN"/>
                <a:ea typeface="Hiragino Kaku Gothic ProN"/>
                <a:cs typeface="Hiragino Kaku Gothic ProN"/>
              </a:rPr>
              <a:t>BRIEF / 4 QUESTIONS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BE17BD-5A1C-4B4B-8716-7FFB0838B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47750" y="2838450"/>
            <a:ext cx="1219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275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rPr>
              <a:t>読者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E5D755-0FD3-4E5B-87BE-F1EB3F806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62200" y="2743200"/>
            <a:ext cx="41719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2F3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6079BC-516C-4B9E-83E4-94E289FB0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552700" y="2743200"/>
            <a:ext cx="3790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650" b="0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誰が読むか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A156A6-A43B-45EE-9936-E02161B8C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47750" y="3486150"/>
            <a:ext cx="1219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E33B36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275" b="1">
                <a:solidFill>
                  <a:srgbClr val="E33B36"/>
                </a:solidFill>
                <a:latin typeface="Hiragino Kaku Gothic ProN"/>
                <a:ea typeface="Hiragino Kaku Gothic ProN"/>
                <a:cs typeface="Hiragino Kaku Gothic ProN"/>
              </a:rPr>
              <a:t>決定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DF981C-B06C-4C76-9DF4-4C840B8E6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62200" y="3390900"/>
            <a:ext cx="41719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F5C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EFFCF7-3F35-45B2-A2F1-F660EC160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552700" y="3390900"/>
            <a:ext cx="3790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65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何を決めてもらうか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6ED8B5-2C0A-4EEB-AF78-FED4C5474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47750" y="4133850"/>
            <a:ext cx="1219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275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rPr>
              <a:t>根拠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7FB888E-DE7E-45AE-B808-A9F89D45F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62200" y="4038600"/>
            <a:ext cx="41719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2F3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A31F6F-CA4F-4B68-9847-623467688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552700" y="4038600"/>
            <a:ext cx="3790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650" b="0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何が信頼材料か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DEEF0A-69A9-4FC5-8D14-0CB00713A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47750" y="4781550"/>
            <a:ext cx="1219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275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rPr>
              <a:t>次の行動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B10103C-62AD-49E0-A746-1BF63EB33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62200" y="4686300"/>
            <a:ext cx="41719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2F3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CA8716-653D-4DB6-AF7B-293ECD6C9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552700" y="4686300"/>
            <a:ext cx="3790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650" b="0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会議後に何をしてほしいか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D2D0EB5-DE5D-4889-BE31-5402C4236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86650" y="2514600"/>
            <a:ext cx="4000500" cy="2762250"/>
          </a:xfrm>
          <a:prstGeom xmlns:a="http://schemas.openxmlformats.org/drawingml/2006/main" prst="roundRect">
            <a:avLst>
              <a:gd name="adj" fmla="val 6207"/>
            </a:avLst>
          </a:prstGeom>
          <a:solidFill xmlns:a="http://schemas.openxmlformats.org/drawingml/2006/main">
            <a:srgbClr val="111111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8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C63ADF8-6A50-405E-9351-BAA20159A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29550" y="28003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FFFFFF">
                    <a:alpha val="60000"/>
                  </a:srgbClr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125" b="1">
                <a:solidFill>
                  <a:srgbClr val="FFFFFF">
                    <a:alpha val="60000"/>
                  </a:srgbClr>
                </a:solidFill>
                <a:latin typeface="Hiragino Kaku Gothic ProN"/>
                <a:ea typeface="Hiragino Kaku Gothic ProN"/>
                <a:cs typeface="Hiragino Kaku Gothic ProN"/>
              </a:rPr>
              <a:t>COPY PROMPT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2B9E57E-FD50-4BD2-A8F0-366D0C7F9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29550" y="3200400"/>
            <a:ext cx="329565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898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575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あなたはプレゼン編集者です。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575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次の4項目を質問し、曖昧な点を埋めてください。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575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読者／決定／根拠／次の行動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575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本文やスライドは、まだ作らないでください。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3072931-DAAF-4E92-A7CE-592650C03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277600" y="6457950"/>
            <a:ext cx="304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050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64523638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23ABF7-EB31-4F68-8B3A-6E8549E79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714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050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rPr>
              <a:t>BRIEF / VAGUE VS SPECIFIC</a:t>
            </a:r>
          </a:p>
        </p:txBody>
      </p:sp>
      <p:sp>
        <p:nvSpPr>
          <p:cNvPr id="2" name="slide-title-11">
            <a:extLst xmlns:a="http://schemas.openxmlformats.org/drawingml/2006/main">
              <a:ext uri="{FF2B5EF4-FFF2-40B4-BE49-F238E27FC236}">
                <a16:creationId xmlns:a16="http://schemas.microsoft.com/office/drawing/2014/main" id="{3D52F3B7-49A7-4341-8FBF-015C91906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43815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6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6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Briefが曖昧なら、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36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6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どれだけ良いプロンプトでも資料はぶれる。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3414D3-6E97-4DB8-ABE0-76E18023E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76300" y="21526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E33B36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350" b="1">
                <a:solidFill>
                  <a:srgbClr val="E33B36"/>
                </a:solidFill>
                <a:latin typeface="Hiragino Kaku Gothic ProN"/>
                <a:ea typeface="Hiragino Kaku Gothic ProN"/>
                <a:cs typeface="Hiragino Kaku Gothic ProN"/>
              </a:rPr>
              <a:t>VAGUE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BE0F52-1A3F-4D72-B1B2-2A156FC05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76300" y="2571750"/>
            <a:ext cx="4248150" cy="23622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D8DAD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FDAB40-0125-4D37-A03F-64D8CEFD1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257300" y="3143250"/>
            <a:ext cx="34861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400" b="1">
                <a:solidFill>
                  <a:srgbClr val="8B8E94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2400" b="1">
                <a:solidFill>
                  <a:srgbClr val="8B8E94"/>
                </a:solidFill>
                <a:latin typeface="Hiragino Kaku Gothic ProN"/>
                <a:ea typeface="Hiragino Kaku Gothic ProN"/>
                <a:cs typeface="Hiragino Kaku Gothic ProN"/>
              </a:rPr>
              <a:t>経営者向けに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2400" b="1">
                <a:solidFill>
                  <a:srgbClr val="8B8E94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2400" b="1">
                <a:solidFill>
                  <a:srgbClr val="8B8E94"/>
                </a:solidFill>
                <a:latin typeface="Hiragino Kaku Gothic ProN"/>
                <a:ea typeface="Hiragino Kaku Gothic ProN"/>
                <a:cs typeface="Hiragino Kaku Gothic ProN"/>
              </a:rPr>
              <a:t>AIの提案資料を作る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1DBC1A-0D35-45EC-83CF-DE90641EE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28750" y="438150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E33B36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125" b="1">
                <a:solidFill>
                  <a:srgbClr val="E33B36"/>
                </a:solidFill>
                <a:latin typeface="Hiragino Kaku Gothic ProN"/>
                <a:ea typeface="Hiragino Kaku Gothic ProN"/>
                <a:cs typeface="Hiragino Kaku Gothic ProN"/>
              </a:rPr>
              <a:t>読者も、決定も、場面も曖昧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21C4E7-242C-4C24-83BA-9976CAE3B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91150" y="3505200"/>
            <a:ext cx="1104900" cy="4191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4C5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5A3CDC-B449-4701-9807-42EB1BEBD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15150" y="21526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2357D9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350" b="1">
                <a:solidFill>
                  <a:srgbClr val="2357D9"/>
                </a:solidFill>
                <a:latin typeface="Hiragino Kaku Gothic ProN"/>
                <a:ea typeface="Hiragino Kaku Gothic ProN"/>
                <a:cs typeface="Hiragino Kaku Gothic ProN"/>
              </a:rPr>
              <a:t>SPECIFIC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3CAE5F9-68FC-434E-A9D9-B38D5DB33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15150" y="2419350"/>
            <a:ext cx="4438650" cy="2800350"/>
          </a:xfrm>
          <a:prstGeom xmlns:a="http://schemas.openxmlformats.org/drawingml/2006/main" prst="roundRect">
            <a:avLst>
              <a:gd name="adj" fmla="val 54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AD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FE2C02-CD77-4250-AC15-961EC6FF8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34250" y="2990850"/>
            <a:ext cx="360045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75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875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従業員30〜100名の経営者が、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875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875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問い合わせ対応で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875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875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2週間の試験導入を承認する提案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F3061C-6AAC-48AC-82A8-0B7E0F077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72400" y="4476750"/>
            <a:ext cx="27051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E9EEF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C217EB-8E74-4840-8624-7FB8D3C50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72400" y="4476750"/>
            <a:ext cx="2705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2357D9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500" b="1">
                <a:solidFill>
                  <a:srgbClr val="2357D9"/>
                </a:solidFill>
                <a:latin typeface="Hiragino Kaku Gothic ProN"/>
                <a:ea typeface="Hiragino Kaku Gothic ProN"/>
                <a:cs typeface="Hiragino Kaku Gothic ProN"/>
              </a:rPr>
              <a:t>判断条件が具体的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DAF48A-A43F-4A87-9CF6-C177A372B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67050" y="5810250"/>
            <a:ext cx="6057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95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95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具体化するのは文章量ではなく、判断条件。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3CEA87-4170-44B4-A536-BAD8C594F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277600" y="6457950"/>
            <a:ext cx="304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050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80884112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1111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07A9384-036E-400A-976F-34706DF29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714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FFFFFF">
                    <a:alpha val="72000"/>
                  </a:srgbClr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050" b="1">
                <a:solidFill>
                  <a:srgbClr val="FFFFFF">
                    <a:alpha val="72000"/>
                  </a:srgbClr>
                </a:solidFill>
                <a:latin typeface="Hiragino Kaku Gothic ProN"/>
                <a:ea typeface="Hiragino Kaku Gothic ProN"/>
                <a:cs typeface="Hiragino Kaku Gothic ProN"/>
              </a:rPr>
              <a:t>STEP 2 / GHOST DECK</a:t>
            </a:r>
          </a:p>
        </p:txBody>
      </p:sp>
      <p:sp>
        <p:nvSpPr>
          <p:cNvPr id="2" name="slide-title-12">
            <a:extLst xmlns:a="http://schemas.openxmlformats.org/drawingml/2006/main">
              <a:ext uri="{FF2B5EF4-FFF2-40B4-BE49-F238E27FC236}">
                <a16:creationId xmlns:a16="http://schemas.microsoft.com/office/drawing/2014/main" id="{A703AD60-6439-48FE-95E2-549E28AB5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438150"/>
            <a:ext cx="6667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4891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60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60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最初に作るのは本文ではなく、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360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60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タイトルだけのGhost Deckである。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C708BA-7E96-4393-9E68-58E2EFC66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360000">
            <a:off x="6572250" y="1504950"/>
            <a:ext cx="3714750" cy="990600"/>
          </a:xfrm>
          <a:prstGeom xmlns:a="http://schemas.openxmlformats.org/drawingml/2006/main" prst="roundRect">
            <a:avLst>
              <a:gd name="adj" fmla="val 96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AD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8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6F87DD-DCC4-4256-B5B7-40B970889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38950" y="16764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2357D9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125" b="1">
                <a:solidFill>
                  <a:srgbClr val="2357D9"/>
                </a:solidFill>
                <a:latin typeface="Hiragino Kaku Gothic ProN"/>
                <a:ea typeface="Hiragino Kaku Gothic ProN"/>
                <a:cs typeface="Hiragino Kaku Gothic ProN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45217A-C424-4970-8652-5100BEE55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10450" y="1714500"/>
            <a:ext cx="2571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875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問題を特定する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96F35B-49CF-49CA-B67C-9D3CCD5D1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240000">
            <a:off x="7000875" y="2247900"/>
            <a:ext cx="3714750" cy="990600"/>
          </a:xfrm>
          <a:prstGeom xmlns:a="http://schemas.openxmlformats.org/drawingml/2006/main" prst="roundRect">
            <a:avLst>
              <a:gd name="adj" fmla="val 96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AD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8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025A13-1DAD-4E6E-9CDC-CA9C0171A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41935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2357D9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125" b="1">
                <a:solidFill>
                  <a:srgbClr val="2357D9"/>
                </a:solidFill>
                <a:latin typeface="Hiragino Kaku Gothic ProN"/>
                <a:ea typeface="Hiragino Kaku Gothic ProN"/>
                <a:cs typeface="Hiragino Kaku Gothic ProN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1A269D-4762-491A-80A7-0507EE200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39075" y="2457450"/>
            <a:ext cx="2571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875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原因を絞る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52AA28-33AD-4261-B2D9-727906FD1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120000">
            <a:off x="7429500" y="2990850"/>
            <a:ext cx="3714750" cy="990600"/>
          </a:xfrm>
          <a:prstGeom xmlns:a="http://schemas.openxmlformats.org/drawingml/2006/main" prst="roundRect">
            <a:avLst>
              <a:gd name="adj" fmla="val 96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AD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8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C1BEC8-59AC-4069-9369-D01B28902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96200" y="31623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2357D9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125" b="1">
                <a:solidFill>
                  <a:srgbClr val="2357D9"/>
                </a:solidFill>
                <a:latin typeface="Hiragino Kaku Gothic ProN"/>
                <a:ea typeface="Hiragino Kaku Gothic ProN"/>
                <a:cs typeface="Hiragino Kaku Gothic ProN"/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D6870B-9767-4535-9D21-E0D03CCCA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267700" y="3200400"/>
            <a:ext cx="2571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875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見方を変える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4CAB89-7BE0-47EA-A40C-BFD38EE16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58125" y="3733800"/>
            <a:ext cx="3714750" cy="990600"/>
          </a:xfrm>
          <a:prstGeom xmlns:a="http://schemas.openxmlformats.org/drawingml/2006/main" prst="roundRect">
            <a:avLst>
              <a:gd name="adj" fmla="val 96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AD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8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081D90-0A35-4E0A-BE9F-5B68E9260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24825" y="390525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2357D9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125" b="1">
                <a:solidFill>
                  <a:srgbClr val="2357D9"/>
                </a:solidFill>
                <a:latin typeface="Hiragino Kaku Gothic ProN"/>
                <a:ea typeface="Hiragino Kaku Gothic ProN"/>
                <a:cs typeface="Hiragino Kaku Gothic ProN"/>
              </a:rPr>
              <a:t>04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041DE1-4C6E-4B1A-8106-AA854E19E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696325" y="3943350"/>
            <a:ext cx="2571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875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根拠を示す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81214F4-3E91-40D0-A8EE-BCBA97438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20000">
            <a:off x="8286750" y="4476750"/>
            <a:ext cx="3714750" cy="990600"/>
          </a:xfrm>
          <a:prstGeom xmlns:a="http://schemas.openxmlformats.org/drawingml/2006/main" prst="roundRect">
            <a:avLst>
              <a:gd name="adj" fmla="val 96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AD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8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CCB5B59-DA9B-4CED-AAB5-9CED7515A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53450" y="46482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2357D9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125" b="1">
                <a:solidFill>
                  <a:srgbClr val="2357D9"/>
                </a:solidFill>
                <a:latin typeface="Hiragino Kaku Gothic ProN"/>
                <a:ea typeface="Hiragino Kaku Gothic ProN"/>
                <a:cs typeface="Hiragino Kaku Gothic ProN"/>
              </a:rPr>
              <a:t>05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971CC69-30DC-4366-9FEC-BE1CC0F56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124950" y="4686300"/>
            <a:ext cx="2571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875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今日の行動を決める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1738B6F-E744-464F-96D7-ED57EAB50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7700" y="2800350"/>
            <a:ext cx="4838700" cy="2247900"/>
          </a:xfrm>
          <a:prstGeom xmlns:a="http://schemas.openxmlformats.org/drawingml/2006/main" prst="roundRect">
            <a:avLst>
              <a:gd name="adj" fmla="val 7627"/>
            </a:avLst>
          </a:prstGeom>
          <a:solidFill xmlns:a="http://schemas.openxmlformats.org/drawingml/2006/main">
            <a:srgbClr val="1C1C1C"/>
          </a:solidFill>
          <a:ln xmlns:a="http://schemas.openxmlformats.org/drawingml/2006/main" w="9525">
            <a:solidFill>
              <a:srgbClr val="3C3C3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A1C0F85-6831-4359-9DBB-4CA07313C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90600" y="31051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FFFFFF">
                    <a:alpha val="60000"/>
                  </a:srgbClr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125" b="1">
                <a:solidFill>
                  <a:srgbClr val="FFFFFF">
                    <a:alpha val="60000"/>
                  </a:srgbClr>
                </a:solidFill>
                <a:latin typeface="Hiragino Kaku Gothic ProN"/>
                <a:ea typeface="Hiragino Kaku Gothic ProN"/>
                <a:cs typeface="Hiragino Kaku Gothic ProN"/>
              </a:rPr>
              <a:t>COPY PROMPT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290B02B-ACFC-48E8-8D58-51D2A7BCF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90600" y="3524250"/>
            <a:ext cx="4095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725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725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Briefを基に、結論タイトルだけで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725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725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12〜20枚の流れを作ってください。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725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725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本文・画像・レイアウトは、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725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725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まだ作らないでください。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7DD1FCB-CBAD-47AE-93BD-092A2E3EF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9600" y="6334125"/>
            <a:ext cx="10363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7BBD803-A02F-4E25-9D18-A32FE6840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277600" y="6457950"/>
            <a:ext cx="304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FFFFFF">
                    <a:alpha val="70000"/>
                  </a:srgbClr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050" b="1">
                <a:solidFill>
                  <a:srgbClr val="FFFFFF">
                    <a:alpha val="70000"/>
                  </a:srgbClr>
                </a:solidFill>
                <a:latin typeface="Hiragino Kaku Gothic ProN"/>
                <a:ea typeface="Hiragino Kaku Gothic ProN"/>
                <a:cs typeface="Hiragino Kaku Gothic ProN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3444354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2F3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1A33D31-B8DB-434E-8032-2E4C8CBD7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714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050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rPr>
              <a:t>GHOST DECK / PASS-FAIL TEST</a:t>
            </a:r>
          </a:p>
        </p:txBody>
      </p:sp>
      <p:sp>
        <p:nvSpPr>
          <p:cNvPr id="2" name="slide-title-13">
            <a:extLst xmlns:a="http://schemas.openxmlformats.org/drawingml/2006/main">
              <a:ext uri="{FF2B5EF4-FFF2-40B4-BE49-F238E27FC236}">
                <a16:creationId xmlns:a16="http://schemas.microsoft.com/office/drawing/2014/main" id="{E575DC62-B526-4328-9415-92F26FF4D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43815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6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6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タイトルだけで話が通れば、本文は短くできる。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B0077D-3CFD-4082-B719-5CC97A507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057400" y="2133600"/>
            <a:ext cx="0" cy="3429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357D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7B3A38-097B-4679-8EAE-E2AAA4A2B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47850" y="215265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57D9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35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19CC01-95EA-44BA-B0F4-9643F32D2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514600" y="2038350"/>
            <a:ext cx="7239000" cy="533400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AD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0934B3-1493-4D7C-8269-4082BF657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81300" y="2038350"/>
            <a:ext cx="67437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0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800" b="0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問い合わせ対応に時間がかかっている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FA1F9A-392B-47BB-A854-BDC1EE154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47850" y="283845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57D9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35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0DF372-7627-4FE3-A05E-C14453076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514600" y="2724150"/>
            <a:ext cx="7239000" cy="533400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AD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458E21-DE5F-468A-ACCA-213B1750E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81300" y="2724150"/>
            <a:ext cx="67437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0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800" b="0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原因は定型質問の繰り返しにある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387CD6-D066-4BF9-8764-1A1CBF45C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47850" y="352425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57D9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35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AA7114-D6D3-40C1-BCAD-DC12C6FEF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514600" y="3409950"/>
            <a:ext cx="7239000" cy="533400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AD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F2F4EB-4218-4E56-B7B1-5C490B572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81300" y="3409950"/>
            <a:ext cx="67437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0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800" b="0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AIは一次回答だけを担当できる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3A7334-E909-409B-989C-926F018F4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47850" y="421005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57D9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35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F7993C-D9A9-4B71-9290-4F4923AFF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514600" y="4095750"/>
            <a:ext cx="7239000" cy="533400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AD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5605D52-AE02-406C-B713-CFCEAFCD6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81300" y="4095750"/>
            <a:ext cx="67437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0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800" b="0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まず2週間、FAQ上位10件で検証する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D8E6459-94DD-4E2D-A49A-EA8D6209A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47850" y="489585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C54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35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37F325C-3933-4040-841B-90AB71075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514600" y="4781550"/>
            <a:ext cx="7239000" cy="533400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AD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464D1E9-5DC2-491D-9E0E-31E8180C2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81300" y="4781550"/>
            <a:ext cx="67437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8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本日決めるのは担当者と開始日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9BFB7C0-A951-429A-8043-A48CFE55B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39350" y="2038350"/>
            <a:ext cx="1390650" cy="3276600"/>
          </a:xfrm>
          <a:prstGeom xmlns:a="http://schemas.openxmlformats.org/drawingml/2006/main" prst="roundRect">
            <a:avLst>
              <a:gd name="adj" fmla="val 12329"/>
            </a:avLst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04A0500-CE79-4240-BDEE-84AF109E7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229850" y="2762250"/>
            <a:ext cx="10096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301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95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95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縦に読んで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95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95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因果が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95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95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つながるか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D6B8825-8E11-47E9-899E-12F33BA37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172700" y="4838700"/>
            <a:ext cx="106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FFFFFF">
                    <a:alpha val="60000"/>
                  </a:srgbClr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125" b="1">
                <a:solidFill>
                  <a:srgbClr val="FFFFFF">
                    <a:alpha val="60000"/>
                  </a:srgbClr>
                </a:solidFill>
                <a:latin typeface="Hiragino Kaku Gothic ProN"/>
                <a:ea typeface="Hiragino Kaku Gothic ProN"/>
                <a:cs typeface="Hiragino Kaku Gothic ProN"/>
              </a:rPr>
              <a:t>架空例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E144C63-2A29-4343-A3BB-91841DBCB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277600" y="6457950"/>
            <a:ext cx="304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050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69250639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BB816A4-AEB5-4CCC-9E50-402322294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714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050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rPr>
              <a:t>STORY / BUILD PRESSURE</a:t>
            </a:r>
          </a:p>
        </p:txBody>
      </p:sp>
      <p:sp>
        <p:nvSpPr>
          <p:cNvPr id="2" name="slide-title-14">
            <a:extLst xmlns:a="http://schemas.openxmlformats.org/drawingml/2006/main">
              <a:ext uri="{FF2B5EF4-FFF2-40B4-BE49-F238E27FC236}">
                <a16:creationId xmlns:a16="http://schemas.microsoft.com/office/drawing/2014/main" id="{421C19D5-D962-4768-9E7D-D7980193E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43815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6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6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物語は「現状・問題・転換・根拠・行動」の順に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36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6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圧力をつくる。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9B4801-832B-40CA-9204-C34CBA77B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04950" y="4152900"/>
            <a:ext cx="1695450" cy="419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BFC3C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B06B49-8189-4E3A-B281-A6DFB69EA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1">
            <a:off x="3657600" y="3486150"/>
            <a:ext cx="1695450" cy="108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2357D9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700A01-7571-446D-B248-686333F85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1">
            <a:off x="5810250" y="2800350"/>
            <a:ext cx="1695450" cy="685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BFC3C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4F9E80-9F14-4A77-88FA-96E778BBB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1">
            <a:off x="7962900" y="2114550"/>
            <a:ext cx="1695450" cy="685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BFC3C9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F37304-3C34-4039-9AD8-0534C0D09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0100" y="369570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666D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80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現状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870CCA-B9F8-46C8-9971-17FECB3AF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3400" y="4876800"/>
            <a:ext cx="1562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0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275" b="0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rPr>
              <a:t>共有できる事実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B7623D-8A02-4CE4-9F0B-DB1D6A727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411480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33B36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80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問題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DD9322-D47B-4D71-A120-A73F45441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686050" y="5295900"/>
            <a:ext cx="1562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0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275" b="0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rPr>
              <a:t>放置する損失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E123B1-199F-49CD-AF41-6FD6C29E5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05400" y="302895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57D9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80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転換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938273-E8C9-45D9-A471-1D5D2DCAD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38700" y="4210050"/>
            <a:ext cx="1562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0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275" b="0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rPr>
              <a:t>見方を変える一文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B16A86-BFA7-47E3-B5BC-588DC7F3A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58050" y="234315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276D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80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根拠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FC4AECD-3645-4EEB-9D6D-1E4DA1857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91350" y="3524250"/>
            <a:ext cx="1562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0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275" b="0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rPr>
              <a:t>信じる材料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75E2EC-C64E-4ED0-81E7-FC039B324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410700" y="165735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C542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8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行動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0E7198-2E4D-4215-BF6B-989138AA2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144000" y="2838450"/>
            <a:ext cx="1562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0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275" b="0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rPr>
              <a:t>今日決めること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063F244-0556-4FAD-80A3-93B13BC4D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33700" y="5810250"/>
            <a:ext cx="6324600" cy="419100"/>
          </a:xfrm>
          <a:prstGeom xmlns:a="http://schemas.openxmlformats.org/drawingml/2006/main" prst="roundRect">
            <a:avLst>
              <a:gd name="adj" fmla="val 22727"/>
            </a:avLst>
          </a:prstGeom>
          <a:solidFill xmlns:a="http://schemas.openxmlformats.org/drawingml/2006/main">
            <a:srgbClr val="FFF5CC"/>
          </a:solidFill>
          <a:ln xmlns:a="http://schemas.openxmlformats.org/drawingml/2006/main" w="9525">
            <a:solidFill>
              <a:srgbClr val="D8DADE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9BFDCAC-1082-44AE-B892-4E5A2F070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124200" y="5810250"/>
            <a:ext cx="5943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575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「圧力」は不安を煽ることではなく、次を知る必要を作ること。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D1246E8-4381-416C-BEEB-AC0867845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277600" y="6457950"/>
            <a:ext cx="304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050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23733846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2F3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DAED98-BAB3-4329-B104-AEC59DB8C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714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050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rPr>
              <a:t>COPY / TAKEAWAY TITLES</a:t>
            </a:r>
          </a:p>
        </p:txBody>
      </p:sp>
      <p:sp>
        <p:nvSpPr>
          <p:cNvPr id="2" name="slide-title-15">
            <a:extLst xmlns:a="http://schemas.openxmlformats.org/drawingml/2006/main">
              <a:ext uri="{FF2B5EF4-FFF2-40B4-BE49-F238E27FC236}">
                <a16:creationId xmlns:a16="http://schemas.microsoft.com/office/drawing/2014/main" id="{181ACFBF-6817-4FA7-8FFD-083D1E75F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43815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6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6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タイトルには話題ではなく、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36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6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読み手が持ち帰る結論を書く。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FABFE6-5D5C-40CD-A0F2-BA8926070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76300" y="2286000"/>
            <a:ext cx="10439400" cy="2990850"/>
          </a:xfrm>
          <a:prstGeom xmlns:a="http://schemas.openxmlformats.org/drawingml/2006/main" prst="roundRect">
            <a:avLst>
              <a:gd name="adj" fmla="val 573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AD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A73AF1-F119-4D76-9CD5-BC2B1EC2E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257300" y="2667000"/>
            <a:ext cx="190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E33B36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125" b="1">
                <a:solidFill>
                  <a:srgbClr val="E33B36"/>
                </a:solidFill>
                <a:latin typeface="Hiragino Kaku Gothic ProN"/>
                <a:ea typeface="Hiragino Kaku Gothic ProN"/>
                <a:cs typeface="Hiragino Kaku Gothic ProN"/>
              </a:rPr>
              <a:t>TOPIC TITLE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402FFF-11FC-413A-B69D-04B9D9E31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257300" y="3086100"/>
            <a:ext cx="35814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BE9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6B3DFF-7B33-49B4-96D8-01D4D5534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85900" y="3086100"/>
            <a:ext cx="31242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550" b="1">
                <a:solidFill>
                  <a:srgbClr val="E33B36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2550" b="1">
                <a:solidFill>
                  <a:srgbClr val="E33B36"/>
                </a:solidFill>
                <a:latin typeface="Hiragino Kaku Gothic ProN"/>
                <a:ea typeface="Hiragino Kaku Gothic ProN"/>
                <a:cs typeface="Hiragino Kaku Gothic ProN"/>
              </a:rPr>
              <a:t>AI導入の現状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4BA238-BCFC-42C3-A40D-1ECB49F99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19700" y="3352800"/>
            <a:ext cx="1295400" cy="457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4C5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95FFDC-FD0E-4575-83B9-60AC47533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58000" y="266700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2357D9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125" b="1">
                <a:solidFill>
                  <a:srgbClr val="2357D9"/>
                </a:solidFill>
                <a:latin typeface="Hiragino Kaku Gothic ProN"/>
                <a:ea typeface="Hiragino Kaku Gothic ProN"/>
                <a:cs typeface="Hiragino Kaku Gothic ProN"/>
              </a:rPr>
              <a:t>TAKEAWAY TITLE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74FF6C-E5D9-4321-BFA3-6CF9FCC0F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58000" y="3028950"/>
            <a:ext cx="400050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E9EEF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D28F39-BDE4-4043-BD98-C87A75BFF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24700" y="3219450"/>
            <a:ext cx="34671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661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025" b="1">
                <a:solidFill>
                  <a:srgbClr val="2357D9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2025" b="1">
                <a:solidFill>
                  <a:srgbClr val="2357D9"/>
                </a:solidFill>
                <a:latin typeface="Hiragino Kaku Gothic ProN"/>
                <a:ea typeface="Hiragino Kaku Gothic ProN"/>
                <a:cs typeface="Hiragino Kaku Gothic ProN"/>
              </a:rPr>
              <a:t>問い合わせ対応から始めると、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2025" b="1">
                <a:solidFill>
                  <a:srgbClr val="2357D9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2025" b="1">
                <a:solidFill>
                  <a:srgbClr val="2357D9"/>
                </a:solidFill>
                <a:latin typeface="Hiragino Kaku Gothic ProN"/>
                <a:ea typeface="Hiragino Kaku Gothic ProN"/>
                <a:cs typeface="Hiragino Kaku Gothic ProN"/>
              </a:rPr>
              <a:t>小さく検証できる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B3CD75-72A5-437D-AF12-D98179B49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86150" y="4552950"/>
            <a:ext cx="5219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8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主語 + 変化 / 判断 + 理由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E14BE56-1E4C-43A5-A18E-915A76D88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162300" y="5772150"/>
            <a:ext cx="5867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875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タイトルだけで「だから何？」に答えているか。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112A68-36EE-4981-A74E-6F4C3F1BE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277600" y="6457950"/>
            <a:ext cx="304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050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913557814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D6DCDF3-86F6-4488-BA8C-2322E9504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714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050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rPr>
              <a:t>FOCUS / ONE SLIDE, ONE CLAIM</a:t>
            </a:r>
          </a:p>
        </p:txBody>
      </p:sp>
      <p:sp>
        <p:nvSpPr>
          <p:cNvPr id="2" name="slide-title-16">
            <a:extLst xmlns:a="http://schemas.openxmlformats.org/drawingml/2006/main">
              <a:ext uri="{FF2B5EF4-FFF2-40B4-BE49-F238E27FC236}">
                <a16:creationId xmlns:a16="http://schemas.microsoft.com/office/drawing/2014/main" id="{3DA2A761-05ED-4927-A174-35D9BA318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43815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6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6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1枚に1つの主張を守ると、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36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6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視線の行き先が1つになる。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EC0E39-9BFB-4112-8EA3-4A1FA7F70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2500" y="21717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E33B36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350" b="1">
                <a:solidFill>
                  <a:srgbClr val="E33B36"/>
                </a:solidFill>
                <a:latin typeface="Hiragino Kaku Gothic ProN"/>
                <a:ea typeface="Hiragino Kaku Gothic ProN"/>
                <a:cs typeface="Hiragino Kaku Gothic ProN"/>
              </a:rPr>
              <a:t>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95F3B0-1B13-4F37-B099-EE1167A03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2500" y="2552700"/>
            <a:ext cx="4476750" cy="2628900"/>
          </a:xfrm>
          <a:prstGeom xmlns:a="http://schemas.openxmlformats.org/drawingml/2006/main" prst="roundRect">
            <a:avLst>
              <a:gd name="adj" fmla="val 507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AD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CA428B-BEA6-4993-83AC-C0FE6E8D3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219200" y="2876550"/>
            <a:ext cx="15240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BE9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FC63DA-ECE4-43FD-8D17-45B4FA698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219200" y="2876550"/>
            <a:ext cx="1524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575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結論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64046F-E2A2-4B01-A5C8-4A2B63B20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33750" y="2838450"/>
            <a:ext cx="165735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E9EEF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F2F8FE-9DAD-4517-AEA4-2E27D504B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33750" y="2838450"/>
            <a:ext cx="16573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575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例外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4CB5D6-59C4-4499-A14A-514865D2E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43050" y="3924300"/>
            <a:ext cx="21145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5C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93C442-528B-46B2-B562-460A9DF31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43050" y="3924300"/>
            <a:ext cx="21145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575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次の行動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A7D635-7FB6-4E87-918A-27DF02B65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05250" y="4000500"/>
            <a:ext cx="10668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2F3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EB7422-28F6-4752-82BD-10AE6BE98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05250" y="4000500"/>
            <a:ext cx="1066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575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補足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A8CCE9-5AEB-4EC0-98E7-D85572D49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1">
            <a:off x="1981200" y="3219450"/>
            <a:ext cx="1181100" cy="495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33B3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9EDBEC-4F58-4BDB-9BB9-190B134E4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1">
            <a:off x="3162300" y="3200400"/>
            <a:ext cx="1047750" cy="5143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33B3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D8BF69-D5E5-4D38-ACC2-9FBA848A4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2476500" y="3714750"/>
            <a:ext cx="685800" cy="742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33B3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E628F7F-ECA9-4CA2-86BE-D23A999E9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162300" y="3714750"/>
            <a:ext cx="1257300" cy="742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33B3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0B6E8BA-8E4F-4338-9950-C1ED6D75B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24650" y="21717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2357D9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350" b="1">
                <a:solidFill>
                  <a:srgbClr val="2357D9"/>
                </a:solidFill>
                <a:latin typeface="Hiragino Kaku Gothic ProN"/>
                <a:ea typeface="Hiragino Kaku Gothic ProN"/>
                <a:cs typeface="Hiragino Kaku Gothic ProN"/>
              </a:rPr>
              <a:t>OK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76C52DC-0566-40F4-BF44-ED95C0617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24650" y="2552700"/>
            <a:ext cx="4514850" cy="2628900"/>
          </a:xfrm>
          <a:prstGeom xmlns:a="http://schemas.openxmlformats.org/drawingml/2006/main" prst="roundRect">
            <a:avLst>
              <a:gd name="adj" fmla="val 507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AD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1D193E1-7902-4F88-A83D-5B05E2227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39000" y="2990850"/>
            <a:ext cx="3486150" cy="933450"/>
          </a:xfrm>
          <a:prstGeom xmlns:a="http://schemas.openxmlformats.org/drawingml/2006/main" prst="roundRect">
            <a:avLst>
              <a:gd name="adj" fmla="val 12245"/>
            </a:avLst>
          </a:prstGeom>
          <a:solidFill xmlns:a="http://schemas.openxmlformats.org/drawingml/2006/main">
            <a:srgbClr val="2357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2726D3D-A5D0-41FB-A400-102985F70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39000" y="2990850"/>
            <a:ext cx="34861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70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270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結論は1つ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76FE4E8-993C-4921-9332-5AD9C8EB2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39000" y="4286250"/>
            <a:ext cx="3486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0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650" b="0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rPr>
              <a:t>支える情報は、結論に従属させる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0072A3D-AE28-4923-9564-B4F38D9F3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181350" y="5791200"/>
            <a:ext cx="5829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875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2つの「だから何？」があるなら、2枚に分ける。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C619FB2-7488-4ACE-AC4A-BBCAE7F22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277600" y="6457950"/>
            <a:ext cx="304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050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66396746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1111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C5C544C-2656-45C0-97F8-A366BCD48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714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FFFFFF">
                    <a:alpha val="72000"/>
                  </a:srgbClr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050" b="1">
                <a:solidFill>
                  <a:srgbClr val="FFFFFF">
                    <a:alpha val="72000"/>
                  </a:srgbClr>
                </a:solidFill>
                <a:latin typeface="Hiragino Kaku Gothic ProN"/>
                <a:ea typeface="Hiragino Kaku Gothic ProN"/>
                <a:cs typeface="Hiragino Kaku Gothic ProN"/>
              </a:rPr>
              <a:t>EVIDENCE / SO WHAT?</a:t>
            </a:r>
          </a:p>
        </p:txBody>
      </p:sp>
      <p:sp>
        <p:nvSpPr>
          <p:cNvPr id="2" name="slide-title-17">
            <a:extLst xmlns:a="http://schemas.openxmlformats.org/drawingml/2006/main">
              <a:ext uri="{FF2B5EF4-FFF2-40B4-BE49-F238E27FC236}">
                <a16:creationId xmlns:a16="http://schemas.microsoft.com/office/drawing/2014/main" id="{DD210B57-1075-4BA7-9E2B-9D00FD9D9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43815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60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60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根拠は数字を置くだけでなく、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360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60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「だから何か」まで示す。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D0602E-D6E8-46CB-84CF-B120BBF2F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57625" y="3486150"/>
            <a:ext cx="5905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FFFF">
              <a:alpha val="2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A4A133-158B-460E-8C7C-54E02F2E0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24775" y="3486150"/>
            <a:ext cx="5905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FFFF">
              <a:alpha val="2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E2AC1F-5BAB-4130-B783-AA1240F4F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2343150"/>
            <a:ext cx="3124200" cy="2838450"/>
          </a:xfrm>
          <a:prstGeom xmlns:a="http://schemas.openxmlformats.org/drawingml/2006/main" prst="roundRect">
            <a:avLst>
              <a:gd name="adj" fmla="val 6040"/>
            </a:avLst>
          </a:prstGeom>
          <a:solidFill xmlns:a="http://schemas.openxmlformats.org/drawingml/2006/main">
            <a:srgbClr val="232323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8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1AB89B-4395-4FE6-A2F4-470F9255A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33450" y="2647950"/>
            <a:ext cx="2590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FFFFFF">
                    <a:alpha val="55000"/>
                  </a:srgbClr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125" b="1">
                <a:solidFill>
                  <a:srgbClr val="FFFFFF">
                    <a:alpha val="55000"/>
                  </a:srgbClr>
                </a:solidFill>
                <a:latin typeface="Hiragino Kaku Gothic ProN"/>
                <a:ea typeface="Hiragino Kaku Gothic ProN"/>
                <a:cs typeface="Hiragino Kaku Gothic ProN"/>
              </a:rPr>
              <a:t>CLAIM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38CD0C-FBDF-4B77-8ED5-2BBE968DA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33450" y="3371850"/>
            <a:ext cx="2590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95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95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次回は価格説明より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95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95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セキュリティ確認を優先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4F1B06-92BF-438C-B294-8FA3FB8F4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33900" y="2343150"/>
            <a:ext cx="3124200" cy="2838450"/>
          </a:xfrm>
          <a:prstGeom xmlns:a="http://schemas.openxmlformats.org/drawingml/2006/main" prst="roundRect">
            <a:avLst>
              <a:gd name="adj" fmla="val 6040"/>
            </a:avLst>
          </a:prstGeom>
          <a:solidFill xmlns:a="http://schemas.openxmlformats.org/drawingml/2006/main">
            <a:srgbClr val="F7F7F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8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DDD94E-52B1-468A-B5DE-77B497360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00600" y="2647950"/>
            <a:ext cx="2590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125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rPr>
              <a:t>EVIDENCE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37DB76-25BD-4DBF-BD60-A1238F08E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00600" y="3371850"/>
            <a:ext cx="2590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95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95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稟議コメントの未確認事項が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95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95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セキュリティ欄に集中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70D963-61C1-44E1-A2CB-6B66E26D4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401050" y="2343150"/>
            <a:ext cx="3124200" cy="2838450"/>
          </a:xfrm>
          <a:prstGeom xmlns:a="http://schemas.openxmlformats.org/drawingml/2006/main" prst="roundRect">
            <a:avLst>
              <a:gd name="adj" fmla="val 6040"/>
            </a:avLst>
          </a:prstGeom>
          <a:solidFill xmlns:a="http://schemas.openxmlformats.org/drawingml/2006/main">
            <a:srgbClr val="F4C542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8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083CD5-AF72-47AE-9084-7F670A0C5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667750" y="2647950"/>
            <a:ext cx="2590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125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rPr>
              <a:t>MEANING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BF14C7-1541-476F-AC50-96C245ED6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667750" y="3371850"/>
            <a:ext cx="2590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95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95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決裁停止の原因に合わせて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95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95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会議の議題を変える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41CB5F0-D65F-4EF7-B339-FC40F0391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363200" y="5334000"/>
            <a:ext cx="1085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>
                <a:solidFill>
                  <a:srgbClr val="FFFFFF">
                    <a:alpha val="55000"/>
                  </a:srgbClr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125" b="1">
                <a:solidFill>
                  <a:srgbClr val="FFFFFF">
                    <a:alpha val="55000"/>
                  </a:srgbClr>
                </a:solidFill>
                <a:latin typeface="Hiragino Kaku Gothic ProN"/>
                <a:ea typeface="Hiragino Kaku Gothic ProN"/>
                <a:cs typeface="Hiragino Kaku Gothic ProN"/>
              </a:rPr>
              <a:t>架空例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C361F68-5DD8-4542-8973-422AEDA3D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9600" y="6334125"/>
            <a:ext cx="10363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A1D0D62-2A3C-4D88-9E6F-BAEBC6E11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277600" y="6457950"/>
            <a:ext cx="304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FFFFFF">
                    <a:alpha val="70000"/>
                  </a:srgbClr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050" b="1">
                <a:solidFill>
                  <a:srgbClr val="FFFFFF">
                    <a:alpha val="70000"/>
                  </a:srgbClr>
                </a:solidFill>
                <a:latin typeface="Hiragino Kaku Gothic ProN"/>
                <a:ea typeface="Hiragino Kaku Gothic ProN"/>
                <a:cs typeface="Hiragino Kaku Gothic ProN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001743388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2F3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CE37FD8-635C-49A2-8005-67CB82183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714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050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rPr>
              <a:t>STEP 3 / SLIDE SPEC</a:t>
            </a:r>
          </a:p>
        </p:txBody>
      </p:sp>
      <p:sp>
        <p:nvSpPr>
          <p:cNvPr id="2" name="slide-title-18">
            <a:extLst xmlns:a="http://schemas.openxmlformats.org/drawingml/2006/main">
              <a:ext uri="{FF2B5EF4-FFF2-40B4-BE49-F238E27FC236}">
                <a16:creationId xmlns:a16="http://schemas.microsoft.com/office/drawing/2014/main" id="{7AF24578-4C4D-4FCF-AEB2-90DB90D50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43815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6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6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Slide Specが、各ページの主張・根拠・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36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6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見せ方・出典を固定する。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6CBF05-B801-4CCD-AF32-512EEE124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5800" y="1981200"/>
            <a:ext cx="8477250" cy="4019550"/>
          </a:xfrm>
          <a:prstGeom xmlns:a="http://schemas.openxmlformats.org/drawingml/2006/main" prst="roundRect">
            <a:avLst>
              <a:gd name="adj" fmla="val 42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AD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8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E9DC29-DACE-431D-BF4D-D4CC00D4F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28700" y="224790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2357D9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275" b="1">
                <a:solidFill>
                  <a:srgbClr val="2357D9"/>
                </a:solidFill>
                <a:latin typeface="Hiragino Kaku Gothic ProN"/>
                <a:ea typeface="Hiragino Kaku Gothic ProN"/>
                <a:cs typeface="Hiragino Kaku Gothic ProN"/>
              </a:rPr>
              <a:t>SLIDE SPEC / SAMPLE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93727E-7F6F-4ACA-BD7B-1A0F45A37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28700" y="26670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E33B36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050" b="1">
                <a:solidFill>
                  <a:srgbClr val="E33B36"/>
                </a:solidFill>
                <a:latin typeface="Hiragino Kaku Gothic ProN"/>
                <a:ea typeface="Hiragino Kaku Gothic ProN"/>
                <a:cs typeface="Hiragino Kaku Gothic ProN"/>
              </a:rPr>
              <a:t>Title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01DD46-E4C3-4374-A497-9DD954BE4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43200" y="2609850"/>
            <a:ext cx="5981700" cy="28575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5C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1B7682-CAEC-4AAA-9586-76DF35646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95600" y="2609850"/>
            <a:ext cx="567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275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読み手が持ち帰る結論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51EB94-57A1-4811-AC73-FE082854A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28700" y="3038475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050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rPr>
              <a:t>Narrative job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F60760-E7FB-4B94-83E5-E43D0B8C4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43200" y="2981325"/>
            <a:ext cx="5981700" cy="28575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4F301B-1DC9-4F4B-9E04-149FD132C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95600" y="2981325"/>
            <a:ext cx="567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275" b="0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このページが物語で担う役割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37D94D5-8C1C-4373-ABEA-DA41546B6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28700" y="34099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050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rPr>
              <a:t>Visible content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BB1A8F-738A-426F-9935-644C19ABF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43200" y="3352800"/>
            <a:ext cx="5981700" cy="28575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2F3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5EE4F7F-4441-49A6-8348-5363DEE39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95600" y="3352800"/>
            <a:ext cx="567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275" b="0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画面に残す情報だけ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FAFB9F-4455-4E0C-85EC-9C920842E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28700" y="3781425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050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rPr>
              <a:t>Evidence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705BC4B-FECE-4EA0-82EA-CD57A2B1C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43200" y="3724275"/>
            <a:ext cx="5981700" cy="28575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E05433-E714-4B67-8E71-C2A192016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95600" y="3724275"/>
            <a:ext cx="567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275" b="0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主張を信じる材料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2FDA3D3-C4EA-46EF-B6E2-5033D3AAE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28700" y="41529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050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rPr>
              <a:t>Visual type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83AAE16-21EF-452E-BC0B-DFD51BB4F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43200" y="4095750"/>
            <a:ext cx="5981700" cy="28575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2F3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05AEA7A-95C7-4346-9898-01452D9A3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95600" y="4095750"/>
            <a:ext cx="567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275" b="0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HERO / CONTRAST / PROCESS / EVIDENCE / ACTION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217EB00-5E76-4135-9194-68E400F18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28700" y="4524375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050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rPr>
              <a:t>Layout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DE35D5C-5272-4A49-8DEF-0D334D9B6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43200" y="4467225"/>
            <a:ext cx="5981700" cy="28575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25F493A-52C0-4C92-B5A4-25469C511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95600" y="4467225"/>
            <a:ext cx="567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275" b="0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情報の重心と視線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60578F0-1456-4DF9-B500-32F942E3A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28700" y="48958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050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rPr>
              <a:t>Source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3C177E0-5978-45E5-8A78-DEFCA5C93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43200" y="4838700"/>
            <a:ext cx="5981700" cy="28575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2F3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0A02ED0-C411-4FDF-A8A0-0208013DB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95600" y="4838700"/>
            <a:ext cx="567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275" b="0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出典URL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B63CE0E-12C2-4C88-B905-42FFE8BBA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28700" y="5267325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050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rPr>
              <a:t>QA risk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A4A7756-4581-4C2A-BFB8-B824DC875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43200" y="5210175"/>
            <a:ext cx="5981700" cy="28575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FBD0075-F598-43A4-BD6C-4CE579F15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95600" y="5210175"/>
            <a:ext cx="567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275" b="0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切れ・重なり・誤認の危険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CC817CF-5C96-4E3F-83C8-10D2C6D4E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20000">
            <a:off x="9525000" y="2667000"/>
            <a:ext cx="20955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AD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9E143A8-2793-4D8B-86D1-F731DDE9E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77400" y="2857500"/>
            <a:ext cx="88011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3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1E42DC4-C33D-4A74-B890-18B650322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614660" y="2895600"/>
            <a:ext cx="67056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7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3F18798-1A96-47B6-89BD-38D3B8A7B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614660" y="3181350"/>
            <a:ext cx="8382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91844BB-A35C-4093-8601-C60E5C2CE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896350" y="3238500"/>
            <a:ext cx="6858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4C5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21F6F7C-9861-4E4E-B02E-ECE3AED35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467850" y="4210050"/>
            <a:ext cx="21526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725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作り始める前に、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725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725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完成条件を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725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725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言語化する。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2978DFF-5895-4360-823E-99C3BE4E9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277600" y="6457950"/>
            <a:ext cx="304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050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081613991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D82A1CC-B32B-4954-B90B-BA3450EAD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714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050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rPr>
              <a:t>VISUAL / FIVE TYPES</a:t>
            </a:r>
          </a:p>
        </p:txBody>
      </p:sp>
      <p:sp>
        <p:nvSpPr>
          <p:cNvPr id="2" name="slide-title-19">
            <a:extLst xmlns:a="http://schemas.openxmlformats.org/drawingml/2006/main">
              <a:ext uri="{FF2B5EF4-FFF2-40B4-BE49-F238E27FC236}">
                <a16:creationId xmlns:a16="http://schemas.microsoft.com/office/drawing/2014/main" id="{1C48AFD4-7E57-40D6-AFA3-79881E4FE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43815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6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6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見せ方は、主張に合わせて5つの型から選べる。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EF524D-E5DC-4685-8654-6EA162D00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8650" y="2381250"/>
            <a:ext cx="241935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AD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C187AF-CBBE-425B-A820-B8ED84BF2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1050" y="2533650"/>
            <a:ext cx="1354836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90365E-8F34-44F3-AA97-C99416B30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1050" y="2800350"/>
            <a:ext cx="1741932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8E520B-E428-4E12-AA84-F4C6C6EF1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8650" y="4591050"/>
            <a:ext cx="2419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2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HERO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D19F4D-9566-49D3-A588-1E291EC19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8650" y="4876800"/>
            <a:ext cx="2419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350" b="0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rPr>
              <a:t>結論を記憶させる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DB8733-5157-486F-8A92-E7457D408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19450" y="2800350"/>
            <a:ext cx="1981200" cy="1638300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AD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E23AC6-BC84-4724-A139-59993C25A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71850" y="3009900"/>
            <a:ext cx="79057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9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A2F0A7-DDA9-44D0-9F7C-CBC3D8F8B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57675" y="3009900"/>
            <a:ext cx="79057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A4ED6F-B616-4C4F-AA0E-F62A578E9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19450" y="4648200"/>
            <a:ext cx="198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E33B36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200" b="1">
                <a:solidFill>
                  <a:srgbClr val="E33B36"/>
                </a:solidFill>
                <a:latin typeface="Hiragino Kaku Gothic ProN"/>
                <a:ea typeface="Hiragino Kaku Gothic ProN"/>
                <a:cs typeface="Hiragino Kaku Gothic ProN"/>
              </a:rPr>
              <a:t>CONTRAST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14606B-B34F-48D6-AAAE-11DA2C732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19450" y="4933950"/>
            <a:ext cx="1981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350" b="0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rPr>
              <a:t>違いを判断させる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7349D4-5F15-4B31-9360-903892156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91150" y="2381250"/>
            <a:ext cx="1981200" cy="2000250"/>
          </a:xfrm>
          <a:prstGeom xmlns:a="http://schemas.openxmlformats.org/drawingml/2006/main" prst="roundRect">
            <a:avLst>
              <a:gd name="adj" fmla="val 384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AD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0D4499-1B2F-47C6-A5E1-5365BAA15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62600" y="32670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57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4A78BB5-A059-45B5-B19D-F4F33DE04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91200" y="3324225"/>
            <a:ext cx="581025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C5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0DB445E-B328-4BC1-995F-C09333A16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86500" y="32670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57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9830397-B832-4166-B7EF-35AF3D955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15100" y="3324225"/>
            <a:ext cx="581025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C5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1CEC47E-F768-4A55-9CDB-B8168027E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10400" y="32670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C5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0DCA633-B066-4E4C-AF4D-14925E1FD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91150" y="4591050"/>
            <a:ext cx="198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2357D9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200" b="1">
                <a:solidFill>
                  <a:srgbClr val="2357D9"/>
                </a:solidFill>
                <a:latin typeface="Hiragino Kaku Gothic ProN"/>
                <a:ea typeface="Hiragino Kaku Gothic ProN"/>
                <a:cs typeface="Hiragino Kaku Gothic ProN"/>
              </a:rPr>
              <a:t>PROCESS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46E0285-DD5B-4A4A-9235-652204DC7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91150" y="4876800"/>
            <a:ext cx="1981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350" b="0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rPr>
              <a:t>順序を理解させる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3189A91-C4C9-476D-99D0-BA1F086A6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62850" y="2857500"/>
            <a:ext cx="1981200" cy="15811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AD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4FCED69-FA28-486D-AC90-3A94F964A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15250" y="3048000"/>
            <a:ext cx="832104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3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4964030-14A3-46F0-A911-1450DE7E8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93074" y="3086100"/>
            <a:ext cx="633984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76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75B8961-14CE-4C77-BC8C-FACE8C871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93074" y="3371850"/>
            <a:ext cx="79248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21C5672-CCDF-444D-B466-D0EFE5177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62850" y="4648200"/>
            <a:ext cx="198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5276DF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200" b="1">
                <a:solidFill>
                  <a:srgbClr val="5276DF"/>
                </a:solidFill>
                <a:latin typeface="Hiragino Kaku Gothic ProN"/>
                <a:ea typeface="Hiragino Kaku Gothic ProN"/>
                <a:cs typeface="Hiragino Kaku Gothic ProN"/>
              </a:rPr>
              <a:t>EVIDENCE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6ADFCC0-CB94-42E5-B20A-B1ABF54BB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62850" y="4933950"/>
            <a:ext cx="1981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350" b="0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rPr>
              <a:t>根拠を信じてもらう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0157E31-15B1-45C7-AE7C-892FDAB19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34550" y="2190750"/>
            <a:ext cx="1828800" cy="219075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AD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78277DC-CF1F-4C9B-A0A8-31880AE06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925050" y="2381250"/>
            <a:ext cx="144780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5C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837EA05-0260-4829-A71F-5DE8CB9FD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740390" y="4095750"/>
            <a:ext cx="54864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C5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020F9CA-0BD2-469F-8B8A-C3C1D4C29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34550" y="4591050"/>
            <a:ext cx="1828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2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ACTION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2C0D08E-8C03-4D77-8B5D-D9D444E9E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34550" y="4876800"/>
            <a:ext cx="1828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350" b="0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rPr>
              <a:t>その場で使わせる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63F8C96-9D79-46A5-90DF-F1690CBD7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86150" y="5962650"/>
            <a:ext cx="5219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95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95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先に型を選び、あとから内容を詰める。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99512CF-7007-410F-AD7A-AA361FD29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277600" y="6457950"/>
            <a:ext cx="304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050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095810198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2a2e67626e4e8e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89AA48-4942-418B-8FF8-46419AE85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1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46D6FE-1C0B-48A7-9F44-565C8A6D3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400050"/>
            <a:ext cx="11277600" cy="5924550"/>
          </a:xfrm>
          <a:prstGeom xmlns:a="http://schemas.openxmlformats.org/drawingml/2006/main" prst="roundRect">
            <a:avLst>
              <a:gd name="adj" fmla="val 3215"/>
            </a:avLst>
          </a:prstGeom>
          <a:solidFill xmlns:a="http://schemas.openxmlformats.org/drawingml/2006/main">
            <a:srgbClr val="FFFFFF">
              <a:alpha val="92000"/>
            </a:srgbClr>
          </a:solidFill>
          <a:ln xmlns:a="http://schemas.openxmlformats.org/drawingml/2006/main" w="9525">
            <a:solidFill>
              <a:srgbClr val="D8DAD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9"/>
          <a:fontRef xmlns:a="http://schemas.openxmlformats.org/drawingml/2006/main" idx="major"/>
        </p:style>
      </p:sp>
      <p:sp>
        <p:nvSpPr>
          <p:cNvPr id="4" name="slide-title-20">
            <a:extLst xmlns:a="http://schemas.openxmlformats.org/drawingml/2006/main">
              <a:ext uri="{FF2B5EF4-FFF2-40B4-BE49-F238E27FC236}">
                <a16:creationId xmlns:a16="http://schemas.microsoft.com/office/drawing/2014/main" id="{635D102A-D234-4B0F-8964-309E364D6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1050" y="685800"/>
            <a:ext cx="105727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6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6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背景画像は、雰囲気ではなく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36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6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理解を助ける舞台として使う。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003cf8c45c4214"/>
          <a:srcRect xmlns:a="http://schemas.openxmlformats.org/drawingml/2006/main" l="10551" t="0" r="1055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81050" y="2343150"/>
            <a:ext cx="2857500" cy="2038350"/>
          </a:xfrm>
          <a:prstGeom xmlns:a="http://schemas.openxmlformats.org/drawingml/2006/main" prst="roundRect">
            <a:avLst>
              <a:gd name="adj" fmla="val 6542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44146B-C8ED-470C-B26F-E94942402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1050" y="2343150"/>
            <a:ext cx="2857500" cy="2038350"/>
          </a:xfrm>
          <a:prstGeom xmlns:a="http://schemas.openxmlformats.org/drawingml/2006/main" prst="roundRect">
            <a:avLst>
              <a:gd name="adj" fmla="val 6542"/>
            </a:avLst>
          </a:prstGeom>
          <a:solidFill xmlns:a="http://schemas.openxmlformats.org/drawingml/2006/main">
            <a:srgbClr val="000000">
              <a:alpha val="2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51AD78-EE7C-43E2-875A-C6508DEAF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1550" y="25336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33B3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8995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875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×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692DD6-7934-423F-93A4-F9E7E3226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200150" y="3143250"/>
            <a:ext cx="20193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725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ただ未来的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725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725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ただ綺麗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725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725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ただAIらしい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5DA725-57EE-4B94-8192-0899EEA20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67200" y="2343150"/>
            <a:ext cx="6667500" cy="2724150"/>
          </a:xfrm>
          <a:prstGeom xmlns:a="http://schemas.openxmlformats.org/drawingml/2006/main" prst="roundRect">
            <a:avLst>
              <a:gd name="adj" fmla="val 5594"/>
            </a:avLst>
          </a:prstGeom>
          <a:solidFill xmlns:a="http://schemas.openxmlformats.org/drawingml/2006/main">
            <a:srgbClr val="FFFFFF">
              <a:alpha val="96000"/>
            </a:srgbClr>
          </a:solidFill>
          <a:ln xmlns:a="http://schemas.openxmlformats.org/drawingml/2006/main" w="9525">
            <a:solidFill>
              <a:srgbClr val="D8DAD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8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E0A353-62ED-4A48-A4B0-A2EFC16E5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33900" y="26098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7A4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8995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875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B99CF4-D417-4373-B4F1-8836263DB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62550" y="2590800"/>
            <a:ext cx="485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2025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会議の緊張を見せる背景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6DCEC4-60C3-4254-9A13-A5AA57AF1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320040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6666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2250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rPr>
              <a:t>+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5B1C821-70E5-430D-8947-4543232E2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05400" y="3657600"/>
            <a:ext cx="49530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FF5C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E44E0F-72EE-4172-B867-AE4CB91E8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05400" y="365760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75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2175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判断シートを前景に置く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EDE6B4-A02C-49B5-B3ED-806B68028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05100" y="5619750"/>
            <a:ext cx="6781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725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場所・人物・状況が、主張の理解に必要なときだけ使う。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78AB2D8-2655-4A2A-B729-98636D0B4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277600" y="6457950"/>
            <a:ext cx="304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050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58228614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e3c6558e394e09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9AB3F9-FCBF-4AD5-A995-1D2DD76BD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AE6E46-9E28-414B-B002-AF05D9C93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3400" y="400050"/>
            <a:ext cx="11125200" cy="1123950"/>
          </a:xfrm>
          <a:prstGeom xmlns:a="http://schemas.openxmlformats.org/drawingml/2006/main" prst="roundRect">
            <a:avLst>
              <a:gd name="adj" fmla="val 15254"/>
            </a:avLst>
          </a:prstGeom>
          <a:solidFill xmlns:a="http://schemas.openxmlformats.org/drawingml/2006/main">
            <a:srgbClr val="FFFFFF">
              <a:alpha val="96000"/>
            </a:srgbClr>
          </a:solidFill>
          <a:ln xmlns:a="http://schemas.openxmlformats.org/drawingml/2006/main" w="9525">
            <a:solidFill>
              <a:srgbClr val="D8DAD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8"/>
          <a:fontRef xmlns:a="http://schemas.openxmlformats.org/drawingml/2006/main" idx="major"/>
        </p:style>
      </p:sp>
      <p:sp>
        <p:nvSpPr>
          <p:cNvPr id="4" name="slide-title-21">
            <a:extLst xmlns:a="http://schemas.openxmlformats.org/drawingml/2006/main">
              <a:ext uri="{FF2B5EF4-FFF2-40B4-BE49-F238E27FC236}">
                <a16:creationId xmlns:a16="http://schemas.microsoft.com/office/drawing/2014/main" id="{3BBA1D01-CC74-470A-A95D-DCCE5CE1B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7250" y="514350"/>
            <a:ext cx="10477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37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3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3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背景画像の上には前景モックを置き、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33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3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文字の居場所をつくる。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3D59D4-56CD-4509-B858-9FE3A4CC3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180000">
            <a:off x="781050" y="2152650"/>
            <a:ext cx="3600450" cy="3162300"/>
          </a:xfrm>
          <a:prstGeom xmlns:a="http://schemas.openxmlformats.org/drawingml/2006/main" prst="roundRect">
            <a:avLst>
              <a:gd name="adj" fmla="val 54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AD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9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386610-C701-4607-9745-E9C19AF62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43000" y="24193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2357D9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125" b="1">
                <a:solidFill>
                  <a:srgbClr val="2357D9"/>
                </a:solidFill>
                <a:latin typeface="Hiragino Kaku Gothic ProN"/>
                <a:ea typeface="Hiragino Kaku Gothic ProN"/>
                <a:cs typeface="Hiragino Kaku Gothic ProN"/>
              </a:rPr>
              <a:t>PAPER MOCK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45C6CC-525F-4DAB-8B9A-42F7125E0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43000" y="2990850"/>
            <a:ext cx="285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24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説明・結論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A1BAD9-F895-41D6-B611-E65728CEA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43000" y="3752850"/>
            <a:ext cx="2857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875" b="0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rPr>
              <a:t>写真は舞台。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75" b="0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875" b="0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rPr>
              <a:t>文字は情報面。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817D5A-15F3-42F1-8F21-78CFC7B58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20000">
            <a:off x="4591050" y="2343150"/>
            <a:ext cx="4171950" cy="2724150"/>
          </a:xfrm>
          <a:prstGeom xmlns:a="http://schemas.openxmlformats.org/drawingml/2006/main" prst="roundRect">
            <a:avLst>
              <a:gd name="adj" fmla="val 629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AD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9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DFC415-7E06-43DC-BF72-6BD8F8A49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91050" y="2343150"/>
            <a:ext cx="4171950" cy="40005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B462422-D6BD-469D-BCDF-3D229173C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62500" y="24765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33B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3CCC73-9587-4052-9720-47AC5CD15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53000" y="24765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C5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7B661F-C769-4AD6-BF6F-756B309CA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43500" y="24765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7A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FD420FC-CB91-4576-AE86-16F94B591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91100" y="30289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2357D9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125" b="1">
                <a:solidFill>
                  <a:srgbClr val="2357D9"/>
                </a:solidFill>
                <a:latin typeface="Hiragino Kaku Gothic ProN"/>
                <a:ea typeface="Hiragino Kaku Gothic ProN"/>
                <a:cs typeface="Hiragino Kaku Gothic ProN"/>
              </a:rPr>
              <a:t>BROWSER MOCK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50794F-4EB6-472E-86CD-2D6120E55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91100" y="3524250"/>
            <a:ext cx="3219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225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プロンプト・操作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DCA467-6AA7-465B-A42C-AA643B89D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91100" y="4210050"/>
            <a:ext cx="32194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2F3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CDCB02-34D9-4F19-B9AA-1220BE586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81600" y="4210050"/>
            <a:ext cx="2838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500" b="0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rPr>
              <a:t>編集可能な入力欄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7A0A2D5-1EE5-4445-BD65-1406FBCE4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120000">
            <a:off x="9182100" y="2381250"/>
            <a:ext cx="1981200" cy="3124200"/>
          </a:xfrm>
          <a:prstGeom xmlns:a="http://schemas.openxmlformats.org/drawingml/2006/main" prst="roundRect">
            <a:avLst>
              <a:gd name="adj" fmla="val 13462"/>
            </a:avLst>
          </a:prstGeom>
          <a:solidFill xmlns:a="http://schemas.openxmlformats.org/drawingml/2006/main">
            <a:srgbClr val="111111"/>
          </a:solidFill>
          <a:ln xmlns:a="http://schemas.openxmlformats.org/drawingml/2006/main" w="9525">
            <a:solidFill>
              <a:srgbClr val="D8DAD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9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39B182B-A8F0-40AA-B7DF-8BF72F689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334500" y="2609850"/>
            <a:ext cx="1676400" cy="2647950"/>
          </a:xfrm>
          <a:prstGeom xmlns:a="http://schemas.openxmlformats.org/drawingml/2006/main" prst="roundRect">
            <a:avLst>
              <a:gd name="adj" fmla="val 1022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427A9C7-38E1-47D1-AFC9-AA8F2C88D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44050" y="291465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2357D9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125" b="1">
                <a:solidFill>
                  <a:srgbClr val="2357D9"/>
                </a:solidFill>
                <a:latin typeface="Hiragino Kaku Gothic ProN"/>
                <a:ea typeface="Hiragino Kaku Gothic ProN"/>
                <a:cs typeface="Hiragino Kaku Gothic ProN"/>
              </a:rPr>
              <a:t>DEVICE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08C4CE6-5F2E-453D-B1D3-7AFAE2C15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467850" y="3486150"/>
            <a:ext cx="1409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21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閲覧体験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C7CA10A-AC61-4D69-9726-EB937FE9F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277600" y="6457950"/>
            <a:ext cx="304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FFFFFF">
                    <a:alpha val="70000"/>
                  </a:srgbClr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050" b="1">
                <a:solidFill>
                  <a:srgbClr val="FFFFFF">
                    <a:alpha val="70000"/>
                  </a:srgbClr>
                </a:solidFill>
                <a:latin typeface="Hiragino Kaku Gothic ProN"/>
                <a:ea typeface="Hiragino Kaku Gothic ProN"/>
                <a:cs typeface="Hiragino Kaku Gothic ProN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264672297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2F3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8B6E7CF-F5B8-4441-9734-DB32ADF5F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714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050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rPr>
              <a:t>RHYTHM / VARY THE SILHOUETTE</a:t>
            </a:r>
          </a:p>
        </p:txBody>
      </p:sp>
      <p:sp>
        <p:nvSpPr>
          <p:cNvPr id="2" name="slide-title-22">
            <a:extLst xmlns:a="http://schemas.openxmlformats.org/drawingml/2006/main">
              <a:ext uri="{FF2B5EF4-FFF2-40B4-BE49-F238E27FC236}">
                <a16:creationId xmlns:a16="http://schemas.microsoft.com/office/drawing/2014/main" id="{A2F19723-D54D-4BE2-95A6-3C116F3A9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43815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6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6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同じレイアウトを繰り返さず、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36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6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主張に合わせて画面の形を変える。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F036CD-B0D8-4242-A03E-96CD1A7EC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240000">
            <a:off x="666750" y="2990850"/>
            <a:ext cx="1790700" cy="200025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AD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EF0041-3EFB-4CD0-A778-EFDFD14B8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9150" y="3143250"/>
            <a:ext cx="1002792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82D99F-D776-4865-B468-A2D777847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9150" y="3409950"/>
            <a:ext cx="1289304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34AB59-E9BF-4E52-A9C0-1954F7299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1">
            <a:off x="2381250" y="3105150"/>
            <a:ext cx="190500" cy="8858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7BAC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80EE86-E1E7-412D-A54F-C22C02EA9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20000">
            <a:off x="2476500" y="2381250"/>
            <a:ext cx="1714500" cy="1447800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AD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D8B002-21BC-4AD5-8F42-4CE144D64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628900" y="2590800"/>
            <a:ext cx="6572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9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8CD462-05CF-48A7-8564-724A907F9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81375" y="2590800"/>
            <a:ext cx="6572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27EA75-40A6-4496-A1FA-603937EB9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14800" y="3105150"/>
            <a:ext cx="247650" cy="742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7BAC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E037AD-DDD3-4BE9-A708-60E0586FF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120000">
            <a:off x="4267200" y="2914650"/>
            <a:ext cx="1866900" cy="1866900"/>
          </a:xfrm>
          <a:prstGeom xmlns:a="http://schemas.openxmlformats.org/drawingml/2006/main" prst="roundRect">
            <a:avLst>
              <a:gd name="adj" fmla="val 40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AD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823094-741A-41BD-8D6A-F18152F2D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38650" y="37338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57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734B38-CA6E-43A7-9E06-755DEB651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67250" y="3790950"/>
            <a:ext cx="523875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C5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53AFFEE-FD7E-4D1D-9E23-C3496B644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05400" y="37338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57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7E92700-F07B-410E-AC5D-2C2099A09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34000" y="3790950"/>
            <a:ext cx="523875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C5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9FF7A2-06A3-4C38-9124-6ECD81140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72150" y="37338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C5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ADD23D3-491D-495C-B71A-24DDE9B73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1">
            <a:off x="6057900" y="3009900"/>
            <a:ext cx="228600" cy="838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7BAC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19744EE-AEED-4C75-8683-2958D6C93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80000">
            <a:off x="6191250" y="2209800"/>
            <a:ext cx="1752600" cy="160020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AD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4E11524-B51A-41C4-A585-5BAC5A924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43650" y="2400300"/>
            <a:ext cx="736092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3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8F946D9-B051-4248-91BC-3A5223FED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02602" y="2438400"/>
            <a:ext cx="560832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76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4A27487-9FEE-4CD6-B404-D9A1F3F98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02602" y="2724150"/>
            <a:ext cx="70104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F972305-669B-4554-BFE4-A38166D36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867650" y="3009900"/>
            <a:ext cx="247650" cy="8858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7BAC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771E96C-CCB2-4441-8E96-EF44A1F02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180000">
            <a:off x="8020050" y="2857500"/>
            <a:ext cx="1676400" cy="207645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AD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3C37117-3C74-4616-832F-57FC41968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210550" y="3048000"/>
            <a:ext cx="12954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5C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EEF15C0-1EF7-4F2B-BBBC-47A25203C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42070" y="4648200"/>
            <a:ext cx="50292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C5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1ED0125-15C1-4A4D-9829-5088B6E8D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1">
            <a:off x="9620250" y="2924175"/>
            <a:ext cx="247650" cy="971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7BAC1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F39E8FC-1A05-4312-B13F-D71BA5E3A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20000">
            <a:off x="9772650" y="2076450"/>
            <a:ext cx="1790700" cy="1695450"/>
          </a:xfrm>
          <a:prstGeom xmlns:a="http://schemas.openxmlformats.org/drawingml/2006/main" prst="roundRect">
            <a:avLst>
              <a:gd name="adj" fmla="val 449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AD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022DD83-D543-4009-8E43-3713B4854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925050" y="2228850"/>
            <a:ext cx="1002792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4DAB697-F839-4AB9-9318-00F528C24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925050" y="2495550"/>
            <a:ext cx="1289304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A7FC01D-BE95-4008-95C8-A66D5F545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105150" y="5753100"/>
            <a:ext cx="5981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95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95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色を変えるのではなく、情報の形を変える。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5B15406-A83B-426A-9AC8-7B326A1E4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277600" y="6457950"/>
            <a:ext cx="304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050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1106104399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EBD38BC-4E57-493F-8AF5-03752A6A1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714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050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rPr>
              <a:t>COLLABORATION / AI × HUMAN</a:t>
            </a:r>
          </a:p>
        </p:txBody>
      </p:sp>
      <p:sp>
        <p:nvSpPr>
          <p:cNvPr id="2" name="slide-title-23">
            <a:extLst xmlns:a="http://schemas.openxmlformats.org/drawingml/2006/main">
              <a:ext uri="{FF2B5EF4-FFF2-40B4-BE49-F238E27FC236}">
                <a16:creationId xmlns:a16="http://schemas.microsoft.com/office/drawing/2014/main" id="{AACB0896-5134-47B2-A140-BF571FC1E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43815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6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6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AIには候補と速度を任せ、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36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6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人は目的・事実・優先順位を持つ。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CCB1EE-8D9E-4355-B656-655334E07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2000" y="2247900"/>
            <a:ext cx="819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2357D9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500" b="1">
                <a:solidFill>
                  <a:srgbClr val="2357D9"/>
                </a:solidFill>
                <a:latin typeface="Hiragino Kaku Gothic ProN"/>
                <a:ea typeface="Hiragino Kaku Gothic ProN"/>
                <a:cs typeface="Hiragino Kaku Gothic ProN"/>
              </a:rPr>
              <a:t>AI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686F0E-57E2-4A67-BCB8-469EDC2B9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2000" y="430530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E33B36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500" b="1">
                <a:solidFill>
                  <a:srgbClr val="E33B36"/>
                </a:solidFill>
                <a:latin typeface="Hiragino Kaku Gothic ProN"/>
                <a:ea typeface="Hiragino Kaku Gothic ProN"/>
                <a:cs typeface="Hiragino Kaku Gothic ProN"/>
              </a:rPr>
              <a:t>HUMAN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E5894D-B14E-4059-AC37-0FA982229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809750" y="2476500"/>
            <a:ext cx="9410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4E6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1D2264-775E-40FB-B495-252077735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809750" y="4533900"/>
            <a:ext cx="9410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4E6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432EEB-DFA3-471C-89CD-281D779B0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019300" y="2724150"/>
            <a:ext cx="18097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E9EEF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D5D54A-CF8E-4A45-A364-A34CFE672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019300" y="2724150"/>
            <a:ext cx="180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2357D9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650" b="1">
                <a:solidFill>
                  <a:srgbClr val="2357D9"/>
                </a:solidFill>
                <a:latin typeface="Hiragino Kaku Gothic ProN"/>
                <a:ea typeface="Hiragino Kaku Gothic ProN"/>
                <a:cs typeface="Hiragino Kaku Gothic ProN"/>
              </a:rPr>
              <a:t>タイトル候補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2BB38C-BA9B-4F32-BCF6-F8A7AA72A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48100" y="2943225"/>
            <a:ext cx="43815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A8B9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F09FD2-243E-4EF1-936E-A66A2EA04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019300" y="4743450"/>
            <a:ext cx="18097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FBE9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D5EA03-FC0D-4EE9-A88E-65594669A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019300" y="4743450"/>
            <a:ext cx="180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E33B36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650" b="1">
                <a:solidFill>
                  <a:srgbClr val="E33B36"/>
                </a:solidFill>
                <a:latin typeface="Hiragino Kaku Gothic ProN"/>
                <a:ea typeface="Hiragino Kaku Gothic ProN"/>
                <a:cs typeface="Hiragino Kaku Gothic ProN"/>
              </a:rPr>
              <a:t>目的を決める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13F650-43BF-481B-94BF-512EF6765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0" y="3733800"/>
            <a:ext cx="495300" cy="495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F4C5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F489E3-A7A8-4931-A41E-FF594EBC4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86200" y="424815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05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承認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7AF204-69C0-49C8-A648-28A13D555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43400" y="2724150"/>
            <a:ext cx="18097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E9EEF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6FA5C6-D270-4694-9019-958F8AD36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43400" y="2724150"/>
            <a:ext cx="180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2357D9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650" b="1">
                <a:solidFill>
                  <a:srgbClr val="2357D9"/>
                </a:solidFill>
                <a:latin typeface="Hiragino Kaku Gothic ProN"/>
                <a:ea typeface="Hiragino Kaku Gothic ProN"/>
                <a:cs typeface="Hiragino Kaku Gothic ProN"/>
              </a:rPr>
              <a:t>構成案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583DAE2-2EA9-467E-B565-24049E40A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72200" y="2943225"/>
            <a:ext cx="43815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A8B9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BEE991F-2199-442C-84B8-B25095723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43400" y="4743450"/>
            <a:ext cx="18097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FBE9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C342B9-1F22-4D1B-8CD0-3EAB93AC7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43400" y="4743450"/>
            <a:ext cx="180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E33B36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650" b="1">
                <a:solidFill>
                  <a:srgbClr val="E33B36"/>
                </a:solidFill>
                <a:latin typeface="Hiragino Kaku Gothic ProN"/>
                <a:ea typeface="Hiragino Kaku Gothic ProN"/>
                <a:cs typeface="Hiragino Kaku Gothic ProN"/>
              </a:rPr>
              <a:t>事実を確認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D1F28B1-C918-4D5E-8555-1B834B540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24600" y="3733800"/>
            <a:ext cx="495300" cy="495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F4C5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6FCFF4C-EAA9-4789-8B9A-8D5B6BB50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10300" y="424815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05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承認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5BF629B-5B5E-4687-9480-C9D41C50E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0" y="2724150"/>
            <a:ext cx="18097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E9EEF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ED4A6D7-7FCE-44F3-8C82-56F72A9F8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0" y="2724150"/>
            <a:ext cx="180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2357D9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650" b="1">
                <a:solidFill>
                  <a:srgbClr val="2357D9"/>
                </a:solidFill>
                <a:latin typeface="Hiragino Kaku Gothic ProN"/>
                <a:ea typeface="Hiragino Kaku Gothic ProN"/>
                <a:cs typeface="Hiragino Kaku Gothic ProN"/>
              </a:rPr>
              <a:t>表現の短縮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C6627A0-A216-4901-B616-280CFC388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496300" y="2943225"/>
            <a:ext cx="43815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A8B9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8988821-2201-47E7-B604-1369EF9E9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0" y="4743450"/>
            <a:ext cx="18097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FBE9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718D1E1-262C-496F-A192-B6FF14A6F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0" y="4743450"/>
            <a:ext cx="180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E33B36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650" b="1">
                <a:solidFill>
                  <a:srgbClr val="E33B36"/>
                </a:solidFill>
                <a:latin typeface="Hiragino Kaku Gothic ProN"/>
                <a:ea typeface="Hiragino Kaku Gothic ProN"/>
                <a:cs typeface="Hiragino Kaku Gothic ProN"/>
              </a:rPr>
              <a:t>何を削るか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04EE6B0-49B3-48B7-88A1-C6ECE96FD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648700" y="3733800"/>
            <a:ext cx="495300" cy="495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F4C5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3A526BB-80C3-4E44-9FDE-8E4AFB6BA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34400" y="424815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05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承認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1F3CF69-CF7B-4987-BEB9-65910613A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91600" y="2724150"/>
            <a:ext cx="18097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E9EEF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42AEEA5-1BFE-48AD-AA52-961A9FD41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91600" y="2724150"/>
            <a:ext cx="180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2357D9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650" b="1">
                <a:solidFill>
                  <a:srgbClr val="2357D9"/>
                </a:solidFill>
                <a:latin typeface="Hiragino Kaku Gothic ProN"/>
                <a:ea typeface="Hiragino Kaku Gothic ProN"/>
                <a:cs typeface="Hiragino Kaku Gothic ProN"/>
              </a:rPr>
              <a:t>ビジュアル案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C3415C0-1A5D-4FBA-9ECE-665249B78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91600" y="4743450"/>
            <a:ext cx="18097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FFF5C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868BB51-F588-4E5F-AEF8-4700DC2E4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91600" y="4743450"/>
            <a:ext cx="180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65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最終承認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2FD9B12-3768-4622-A721-8898B1A61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95650" y="6019800"/>
            <a:ext cx="5600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2025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生成は委任できる。責任は委任しない。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6F8BECB-66C5-4C05-B9AB-E58742E48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277600" y="6457950"/>
            <a:ext cx="304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050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330053426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1111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2884D1A-FB09-4965-BECF-B5845A80D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714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FFFFFF">
                    <a:alpha val="72000"/>
                  </a:srgbClr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050" b="1">
                <a:solidFill>
                  <a:srgbClr val="FFFFFF">
                    <a:alpha val="72000"/>
                  </a:srgbClr>
                </a:solidFill>
                <a:latin typeface="Hiragino Kaku Gothic ProN"/>
                <a:ea typeface="Hiragino Kaku Gothic ProN"/>
                <a:cs typeface="Hiragino Kaku Gothic ProN"/>
              </a:rPr>
              <a:t>WORKFLOW / FIVE STAGES</a:t>
            </a:r>
          </a:p>
        </p:txBody>
      </p:sp>
      <p:sp>
        <p:nvSpPr>
          <p:cNvPr id="2" name="slide-title-24">
            <a:extLst xmlns:a="http://schemas.openxmlformats.org/drawingml/2006/main">
              <a:ext uri="{FF2B5EF4-FFF2-40B4-BE49-F238E27FC236}">
                <a16:creationId xmlns:a16="http://schemas.microsoft.com/office/drawing/2014/main" id="{67D1FA73-067D-4C1F-BFA1-80FBFA1C4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43815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60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60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制作はBrief、Ghost Deck、Slide Spec、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360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60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Visual、QAの順に進める。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81925B-FA30-4A1F-A678-65A57D19A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2647950"/>
            <a:ext cx="1943100" cy="13716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242424"/>
          </a:solidFill>
          <a:ln xmlns:a="http://schemas.openxmlformats.org/drawingml/2006/main" w="9525">
            <a:solidFill>
              <a:srgbClr val="44444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38663A-2619-4A08-AC8E-AE3988C3E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3900" y="2800350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FFFFFF">
                    <a:alpha val="55000"/>
                  </a:srgbClr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125" b="1">
                <a:solidFill>
                  <a:srgbClr val="FFFFFF">
                    <a:alpha val="55000"/>
                  </a:srgbClr>
                </a:solidFill>
                <a:latin typeface="Hiragino Kaku Gothic ProN"/>
                <a:ea typeface="Hiragino Kaku Gothic ProN"/>
                <a:cs typeface="Hiragino Kaku Gothic ProN"/>
              </a:rPr>
              <a:t>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AD43B1-9207-4026-AC1B-BAD692AF8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3900" y="3162300"/>
            <a:ext cx="1600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875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Brief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6BB8ED-22F3-4E90-A1A9-A362DBA9A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3900" y="3619500"/>
            <a:ext cx="1600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FFFFFF">
                    <a:alpha val="72000"/>
                  </a:srgbClr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200" b="0">
                <a:solidFill>
                  <a:srgbClr val="FFFFFF">
                    <a:alpha val="72000"/>
                  </a:srgbClr>
                </a:solidFill>
                <a:latin typeface="Hiragino Kaku Gothic ProN"/>
                <a:ea typeface="Hiragino Kaku Gothic ProN"/>
                <a:cs typeface="Hiragino Kaku Gothic ProN"/>
              </a:rPr>
              <a:t>読者と決定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DEB615-0A9F-4D7D-A024-C17203CA7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476500" y="3124200"/>
            <a:ext cx="40005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FFFF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37970C-C8FD-4ED6-8912-4812E52F0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533650" y="4248150"/>
            <a:ext cx="457200" cy="4572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F4C5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034985-317E-4BD5-BDF8-50BBFFE14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66950" y="4781550"/>
            <a:ext cx="1009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>
                <a:solidFill>
                  <a:srgbClr val="F4C542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975" b="1">
                <a:solidFill>
                  <a:srgbClr val="F4C542"/>
                </a:solidFill>
                <a:latin typeface="Hiragino Kaku Gothic ProN"/>
                <a:ea typeface="Hiragino Kaku Gothic ProN"/>
                <a:cs typeface="Hiragino Kaku Gothic ProN"/>
              </a:rPr>
              <a:t>人が承認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DE5776-38A5-4329-B9A9-88DDDF09C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76550" y="2647950"/>
            <a:ext cx="1943100" cy="13716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242424"/>
          </a:solidFill>
          <a:ln xmlns:a="http://schemas.openxmlformats.org/drawingml/2006/main" w="9525">
            <a:solidFill>
              <a:srgbClr val="44444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E9EA98-5A1A-498A-800C-365F839E9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48000" y="2800350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FFFFFF">
                    <a:alpha val="55000"/>
                  </a:srgbClr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125" b="1">
                <a:solidFill>
                  <a:srgbClr val="FFFFFF">
                    <a:alpha val="55000"/>
                  </a:srgbClr>
                </a:solidFill>
                <a:latin typeface="Hiragino Kaku Gothic ProN"/>
                <a:ea typeface="Hiragino Kaku Gothic ProN"/>
                <a:cs typeface="Hiragino Kaku Gothic ProN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A27B5DB-3B60-46CA-9512-8DC637190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48000" y="3162300"/>
            <a:ext cx="1600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875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Ghost Deck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3E399E-2E04-4246-8B54-238ECBE08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48000" y="3619500"/>
            <a:ext cx="1600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FFFFFF">
                    <a:alpha val="72000"/>
                  </a:srgbClr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200" b="0">
                <a:solidFill>
                  <a:srgbClr val="FFFFFF">
                    <a:alpha val="72000"/>
                  </a:srgbClr>
                </a:solidFill>
                <a:latin typeface="Hiragino Kaku Gothic ProN"/>
                <a:ea typeface="Hiragino Kaku Gothic ProN"/>
                <a:cs typeface="Hiragino Kaku Gothic ProN"/>
              </a:rPr>
              <a:t>タイトルで物語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0D913B-F74C-4A30-BF94-2039F5C8D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00600" y="3124200"/>
            <a:ext cx="40005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FFFF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04E7577-2255-42C1-B205-8EE3BC53A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57750" y="4248150"/>
            <a:ext cx="457200" cy="4572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F4C5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62515A-46A1-4A81-9227-BCAD79942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91050" y="4781550"/>
            <a:ext cx="1009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>
                <a:solidFill>
                  <a:srgbClr val="F4C542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975" b="1">
                <a:solidFill>
                  <a:srgbClr val="F4C542"/>
                </a:solidFill>
                <a:latin typeface="Hiragino Kaku Gothic ProN"/>
                <a:ea typeface="Hiragino Kaku Gothic ProN"/>
                <a:cs typeface="Hiragino Kaku Gothic ProN"/>
              </a:rPr>
              <a:t>人が承認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CB4D3CF-754E-42EA-A6C4-8ACBF3157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00650" y="2647950"/>
            <a:ext cx="1943100" cy="13716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242424"/>
          </a:solidFill>
          <a:ln xmlns:a="http://schemas.openxmlformats.org/drawingml/2006/main" w="9525">
            <a:solidFill>
              <a:srgbClr val="44444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C29B520-32EE-4ED9-B701-E74E44657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72100" y="2800350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FFFFFF">
                    <a:alpha val="55000"/>
                  </a:srgbClr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125" b="1">
                <a:solidFill>
                  <a:srgbClr val="FFFFFF">
                    <a:alpha val="55000"/>
                  </a:srgbClr>
                </a:solidFill>
                <a:latin typeface="Hiragino Kaku Gothic ProN"/>
                <a:ea typeface="Hiragino Kaku Gothic ProN"/>
                <a:cs typeface="Hiragino Kaku Gothic ProN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AF1F90E-BB1E-44A0-83C3-0F151DE84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72100" y="3162300"/>
            <a:ext cx="1600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875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Slide Spec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52F6069-6651-4A6B-B659-C865AB33D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72100" y="3619500"/>
            <a:ext cx="1600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FFFFFF">
                    <a:alpha val="72000"/>
                  </a:srgbClr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200" b="0">
                <a:solidFill>
                  <a:srgbClr val="FFFFFF">
                    <a:alpha val="72000"/>
                  </a:srgbClr>
                </a:solidFill>
                <a:latin typeface="Hiragino Kaku Gothic ProN"/>
                <a:ea typeface="Hiragino Kaku Gothic ProN"/>
                <a:cs typeface="Hiragino Kaku Gothic ProN"/>
              </a:rPr>
              <a:t>根拠と見せ方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D962433-2A41-468D-B42D-E3EA1E59D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24700" y="3124200"/>
            <a:ext cx="40005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FFFF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85D275B-0117-434E-BC73-5E8C337DA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81850" y="4248150"/>
            <a:ext cx="457200" cy="4572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F4C5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CEC6F56-F7EF-46F5-AC98-0BA466212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15150" y="4781550"/>
            <a:ext cx="1009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>
                <a:solidFill>
                  <a:srgbClr val="F4C542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975" b="1">
                <a:solidFill>
                  <a:srgbClr val="F4C542"/>
                </a:solidFill>
                <a:latin typeface="Hiragino Kaku Gothic ProN"/>
                <a:ea typeface="Hiragino Kaku Gothic ProN"/>
                <a:cs typeface="Hiragino Kaku Gothic ProN"/>
              </a:rPr>
              <a:t>人が承認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FACA4C7-FC8E-413D-A3F3-81C6471FF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24750" y="2647950"/>
            <a:ext cx="1943100" cy="13716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242424"/>
          </a:solidFill>
          <a:ln xmlns:a="http://schemas.openxmlformats.org/drawingml/2006/main" w="9525">
            <a:solidFill>
              <a:srgbClr val="44444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5A93D8D-ADB8-4F37-83FF-BD67E01C1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96200" y="2800350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FFFFFF">
                    <a:alpha val="55000"/>
                  </a:srgbClr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125" b="1">
                <a:solidFill>
                  <a:srgbClr val="FFFFFF">
                    <a:alpha val="55000"/>
                  </a:srgbClr>
                </a:solidFill>
                <a:latin typeface="Hiragino Kaku Gothic ProN"/>
                <a:ea typeface="Hiragino Kaku Gothic ProN"/>
                <a:cs typeface="Hiragino Kaku Gothic ProN"/>
              </a:rPr>
              <a:t>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48DE861-A27A-41AD-9328-A76A47773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96200" y="3162300"/>
            <a:ext cx="1600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875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Visual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36282AC-1792-4448-917C-8BC6A5490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96200" y="3619500"/>
            <a:ext cx="1600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FFFFFF">
                    <a:alpha val="72000"/>
                  </a:srgbClr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200" b="0">
                <a:solidFill>
                  <a:srgbClr val="FFFFFF">
                    <a:alpha val="72000"/>
                  </a:srgbClr>
                </a:solidFill>
                <a:latin typeface="Hiragino Kaku Gothic ProN"/>
                <a:ea typeface="Hiragino Kaku Gothic ProN"/>
                <a:cs typeface="Hiragino Kaku Gothic ProN"/>
              </a:rPr>
              <a:t>制作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80BE460-A480-4CFF-858C-B992583C5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448800" y="3124200"/>
            <a:ext cx="40005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FFFF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C0C1807-6B1D-45EB-8F7B-283639FAD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848850" y="2647950"/>
            <a:ext cx="1943100" cy="13716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4C542"/>
          </a:solidFill>
          <a:ln xmlns:a="http://schemas.openxmlformats.org/drawingml/2006/main" w="9525">
            <a:solidFill>
              <a:srgbClr val="F4C54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2ECA1BD-9C78-4A89-9B53-E48DA9C07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20300" y="2800350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125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5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4A6CA6C-C3DD-445A-976A-7B247564D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20300" y="3162300"/>
            <a:ext cx="1600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875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QA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975B29D-45C6-4A21-9BBE-8F6723957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20300" y="3619500"/>
            <a:ext cx="1600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200" b="0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全ページ検査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1F4E0C8-249D-4640-9B00-A9112AAD1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85950" y="5276850"/>
            <a:ext cx="842010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1D1D1D"/>
          </a:solidFill>
          <a:ln xmlns:a="http://schemas.openxmlformats.org/drawingml/2006/main" w="9525">
            <a:solidFill>
              <a:srgbClr val="444444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E19E68A-2253-4C7B-993F-05820409B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133600" y="5429250"/>
            <a:ext cx="7924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871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5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「各工程の承認が出るまで次へ進まないでください。最初はBriefだけを作成してください。」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CFCFE03-8C7B-4691-A9D6-473318A7A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9600" y="6334125"/>
            <a:ext cx="10363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CB756F6-FCE4-481F-91DD-3B147F6B5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277600" y="6457950"/>
            <a:ext cx="304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FFFFFF">
                    <a:alpha val="70000"/>
                  </a:srgbClr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050" b="1">
                <a:solidFill>
                  <a:srgbClr val="FFFFFF">
                    <a:alpha val="70000"/>
                  </a:srgbClr>
                </a:solidFill>
                <a:latin typeface="Hiragino Kaku Gothic ProN"/>
                <a:ea typeface="Hiragino Kaku Gothic ProN"/>
                <a:cs typeface="Hiragino Kaku Gothic ProN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366044302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2F3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CF8E4DA-4741-47CD-9128-88D96F6C6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714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050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rPr>
              <a:t>QA / DRAFT AS HYPOTHESIS</a:t>
            </a:r>
          </a:p>
        </p:txBody>
      </p:sp>
      <p:sp>
        <p:nvSpPr>
          <p:cNvPr id="2" name="slide-title-25">
            <a:extLst xmlns:a="http://schemas.openxmlformats.org/drawingml/2006/main">
              <a:ext uri="{FF2B5EF4-FFF2-40B4-BE49-F238E27FC236}">
                <a16:creationId xmlns:a16="http://schemas.microsoft.com/office/drawing/2014/main" id="{C759EC4C-45FC-4929-8A99-1D353B561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43815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6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6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AIの初稿は、完成品ではなく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36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6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検査するための仮説である。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43FCCE-3618-4C7B-9502-CB795D9FE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180000">
            <a:off x="1466850" y="2171700"/>
            <a:ext cx="6724650" cy="3543300"/>
          </a:xfrm>
          <a:prstGeom xmlns:a="http://schemas.openxmlformats.org/drawingml/2006/main" prst="roundRect">
            <a:avLst>
              <a:gd name="adj" fmla="val 21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AD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1E3C12-EE6B-459D-B673-3E61D5FD6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19250" y="2362200"/>
            <a:ext cx="2824353" cy="3162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3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E06B47-71AD-4226-916D-2484730B8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63668" y="2400300"/>
            <a:ext cx="2151888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7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1760BD-AC39-4B24-856E-1E21D1B9E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63668" y="2686050"/>
            <a:ext cx="268986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999ADB-57C9-4577-9F2B-DA02F59F1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240000">
            <a:off x="6191250" y="2381250"/>
            <a:ext cx="17526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33B36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72A584-591D-465A-9703-B6F297036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240000">
            <a:off x="6191250" y="2381250"/>
            <a:ext cx="1752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210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DRAFT 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F8B4A3-5714-40A7-85DF-A97967C4E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705850" y="2362200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57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029279-02EE-44DE-B982-91DB15791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105900" y="2324100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2357D9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575" b="1">
                <a:solidFill>
                  <a:srgbClr val="2357D9"/>
                </a:solidFill>
                <a:latin typeface="Hiragino Kaku Gothic ProN"/>
                <a:ea typeface="Hiragino Kaku Gothic ProN"/>
                <a:cs typeface="Hiragino Kaku Gothic ProN"/>
              </a:rPr>
              <a:t>何が伝わるか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31540A-BFD2-41EE-98F6-8896AF443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153400" y="2476500"/>
            <a:ext cx="495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357D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6F70C5-6AA6-4852-8FF8-913225237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20200" y="3276600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33B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49A9084-DCCB-4B55-BEF6-A69A23D3A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20250" y="3238500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E33B36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575" b="1">
                <a:solidFill>
                  <a:srgbClr val="E33B36"/>
                </a:solidFill>
                <a:latin typeface="Hiragino Kaku Gothic ProN"/>
                <a:ea typeface="Hiragino Kaku Gothic ProN"/>
                <a:cs typeface="Hiragino Kaku Gothic ProN"/>
              </a:rPr>
              <a:t>何が余計か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6B9BF2-FFCE-45E0-8911-4369255FB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667750" y="3390900"/>
            <a:ext cx="495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33B3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9CE3C3-C57D-4543-BE36-B3BB5093A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820150" y="4171950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C5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4D4B7A2-F080-46F7-962D-E0F52AEA2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20200" y="4133850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575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何が足りないか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CF395E1-7D27-4AFA-B357-2671A0710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267700" y="4286250"/>
            <a:ext cx="495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4C54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791DEDA-CC6F-4B7F-B2C6-08E546B7A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58150" y="5105400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AB1A106-26D7-4DD9-8237-C729AFC62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458200" y="5067300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575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何が未確認か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DC5499C-5E0F-40C6-A137-56F543F12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505700" y="5219700"/>
            <a:ext cx="495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F0BD411-DDC4-4BB3-8AED-B025076D2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71850" y="5962650"/>
            <a:ext cx="5448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95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95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直す前に、問題の種類を言葉にする。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8FC8114-3F74-42F8-8736-A3F91E059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277600" y="6457950"/>
            <a:ext cx="304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050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836791150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651FFA3-AD84-4884-8E71-4E79FD987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714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050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rPr>
              <a:t>QA / FIVE PASSES</a:t>
            </a:r>
          </a:p>
        </p:txBody>
      </p:sp>
      <p:sp>
        <p:nvSpPr>
          <p:cNvPr id="2" name="slide-title-26">
            <a:extLst xmlns:a="http://schemas.openxmlformats.org/drawingml/2006/main">
              <a:ext uri="{FF2B5EF4-FFF2-40B4-BE49-F238E27FC236}">
                <a16:creationId xmlns:a16="http://schemas.microsoft.com/office/drawing/2014/main" id="{3D6BEEC9-9AAF-4516-B509-B247776EC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43815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6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6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品質は、物語・焦点・収まり・根拠・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36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6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読みやすさの5回に分けて確認する。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99D04A-C7B8-49D3-A92D-55A278386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120000">
            <a:off x="819150" y="2724150"/>
            <a:ext cx="34290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AD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D5EBFE-F9AD-4C0D-A04F-A4CC3BEE6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1550" y="2876550"/>
            <a:ext cx="192024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7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3F586D-EE50-418A-8915-F2D322040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1550" y="3143250"/>
            <a:ext cx="246888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D1BFF6-C549-4A44-AE83-D345F41AE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29200" y="20383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57D9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20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7DBAE1-E765-4506-862D-C86DF7F7D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76900" y="200025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875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物語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878E99-BB26-46BA-85D0-72A11BD02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53300" y="2019300"/>
            <a:ext cx="3943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500" b="0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rPr>
              <a:t>タイトルだけで因果が通るか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B33DFA-9AB8-4280-ACA0-424E6A257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257800" y="2495550"/>
            <a:ext cx="0" cy="285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4E6E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B8721B-C0BF-43F6-879D-7F6C3F345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29200" y="27813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276D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20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CF0842-70B9-4CAC-B8A0-3698B6FF9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76900" y="27432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875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焦点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AB624D6-2FE6-4A00-B5FB-A1B826F02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53300" y="2762250"/>
            <a:ext cx="3943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500" b="0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rPr>
              <a:t>1枚1主張か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C78E00-10C9-4F58-BF2C-CAB49BEE1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257800" y="3238500"/>
            <a:ext cx="0" cy="285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4E6E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8A990A-7094-49A4-8D0B-12F2318F7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29200" y="35242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33B3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20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E46F0E-B292-4B71-8A9C-F454F62B3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76900" y="348615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875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収まり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34039A1-252A-42A3-B6A3-AFD6BEEE4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53300" y="3505200"/>
            <a:ext cx="3943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500" b="0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rPr>
              <a:t>重なり・切れ・折返し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C42584-A7C3-4B96-B3D7-943B7E08A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257800" y="3981450"/>
            <a:ext cx="0" cy="285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4E6E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87964F-073F-494E-B931-1E2CE7286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29200" y="42672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C54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2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43E9EA-4D28-4E4D-B58E-FA408976C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76900" y="42291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875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根拠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FEE508C-5A72-46DE-8A63-A8D6EFBDE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53300" y="4248150"/>
            <a:ext cx="3943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500" b="0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rPr>
              <a:t>出典・仮定・架空例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8DFC351-7981-48B0-A151-32622310F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257800" y="4724400"/>
            <a:ext cx="0" cy="285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4E6E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FDBECF0-8E06-4BEB-874E-2CD7C310E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29200" y="50101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7A4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20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FD18147-4577-4F12-918B-6DE65886D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76900" y="497205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875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読みやすさ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8219463-5FEC-43F9-ABB9-98BD0E232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53300" y="4991100"/>
            <a:ext cx="3943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500" b="0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rPr>
              <a:t>距離・コントラスト・読み順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7EF3E0E-1037-4C47-8C1E-D468FA734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52550" y="5219700"/>
            <a:ext cx="285750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111111"/>
          </a:solidFill>
          <a:ln xmlns:a="http://schemas.openxmlformats.org/drawingml/2006/main" w="9525">
            <a:solidFill>
              <a:srgbClr val="D8DAD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A391233-47F2-40E9-8544-EBF080D07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52550" y="5219700"/>
            <a:ext cx="2857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40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240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1回 1目的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D394912-5942-4331-865B-F3D51EC4B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277600" y="6457950"/>
            <a:ext cx="304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050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1698790530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2F3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17C121E-BC78-4283-BB81-648894DF2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714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050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rPr>
              <a:t>QA / FOUR OUTPUTS</a:t>
            </a:r>
          </a:p>
        </p:txBody>
      </p:sp>
      <p:sp>
        <p:nvSpPr>
          <p:cNvPr id="2" name="slide-title-27">
            <a:extLst xmlns:a="http://schemas.openxmlformats.org/drawingml/2006/main">
              <a:ext uri="{FF2B5EF4-FFF2-40B4-BE49-F238E27FC236}">
                <a16:creationId xmlns:a16="http://schemas.microsoft.com/office/drawing/2014/main" id="{0C59A723-2CBE-4798-A6A8-A9039DEE9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43815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6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6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PPTX、PDF、投影、スマホでは、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36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6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同じ資料でも崩れ方が違う。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50ABEA-C244-45D1-931F-286F8FBE0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4850" y="2438400"/>
            <a:ext cx="2724150" cy="17907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AD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7D5A35-D12E-4CB2-AA0E-E0938D8EF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7250" y="2590800"/>
            <a:ext cx="1525524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7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D4D4C6-7760-4B9F-9FFE-0D092B83C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7250" y="2857500"/>
            <a:ext cx="1961388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995553-2897-4F75-B451-26FC05246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4850" y="4438650"/>
            <a:ext cx="2724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2357D9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350" b="1">
                <a:solidFill>
                  <a:srgbClr val="2357D9"/>
                </a:solidFill>
                <a:latin typeface="Hiragino Kaku Gothic ProN"/>
                <a:ea typeface="Hiragino Kaku Gothic ProN"/>
                <a:cs typeface="Hiragino Kaku Gothic ProN"/>
              </a:rPr>
              <a:t>PPTX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A4B44C-D552-4943-8CD0-159BDC8AF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4850" y="4705350"/>
            <a:ext cx="2724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0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275" b="0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rPr>
              <a:t>編集・フォント・互換性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10DA31-98B0-4667-9AE0-1AE4462E4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14750" y="2133600"/>
            <a:ext cx="2095500" cy="27432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AD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AEC87D-4A03-465E-B0BD-992335FF2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67150" y="2324100"/>
            <a:ext cx="880110" cy="2362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3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95BD02-10DF-480C-9453-69A2F7DCA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04410" y="2362200"/>
            <a:ext cx="67056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B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38C3B2-AB70-477D-A824-AFCABC654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04410" y="2647950"/>
            <a:ext cx="8382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60BD27-7E4C-4E65-9567-985E665A5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14750" y="50863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E33B36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350" b="1">
                <a:solidFill>
                  <a:srgbClr val="E33B36"/>
                </a:solidFill>
                <a:latin typeface="Hiragino Kaku Gothic ProN"/>
                <a:ea typeface="Hiragino Kaku Gothic ProN"/>
                <a:cs typeface="Hiragino Kaku Gothic ProN"/>
              </a:rPr>
              <a:t>PDF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E06855D-8C9C-47D6-A417-4FBE6D524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14750" y="53530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0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275" b="0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rPr>
              <a:t>固定レイアウト・リンク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4F1908-DACB-4817-811E-0F59A8B2D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0" y="2381250"/>
            <a:ext cx="3009900" cy="1943100"/>
          </a:xfrm>
          <a:prstGeom xmlns:a="http://schemas.openxmlformats.org/drawingml/2006/main" prst="roundRect">
            <a:avLst>
              <a:gd name="adj" fmla="val 39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AD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D968384-39B3-464F-A4B4-31A8D726E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48400" y="2590800"/>
            <a:ext cx="1304925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9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8F776A2-A5C6-4B69-AEBA-70D7DD31A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48575" y="2590800"/>
            <a:ext cx="1304925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E97A090-10C6-4BDB-96AB-10CDD62E9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0" y="4533900"/>
            <a:ext cx="300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35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投影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A1FB7A1-9E5E-460F-94EB-A7947F3DF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0" y="4800600"/>
            <a:ext cx="3009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0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275" b="0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rPr>
              <a:t>距離・端の切れ・色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021EF3-DC91-458F-86AF-99B296D19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20250" y="2076450"/>
            <a:ext cx="1562100" cy="285750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111111"/>
          </a:solidFill>
          <a:ln xmlns:a="http://schemas.openxmlformats.org/drawingml/2006/main" w="9525">
            <a:solidFill>
              <a:srgbClr val="D8DAD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8"/>
          <a:fontRef xmlns:a="http://schemas.openxmlformats.org/drawingml/2006/main" idx="major"/>
        </p:style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32EA59C-DF29-420E-8CB6-10A451707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34550" y="2305050"/>
            <a:ext cx="1333500" cy="24003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6C15FBC-7239-417E-A85F-8CB294D3B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848850" y="2590800"/>
            <a:ext cx="11049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AD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3317A99-D8E1-4DDF-A998-9E5373F84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39350" y="2781300"/>
            <a:ext cx="723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5C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32A8BBC-E7F0-4894-8325-5C6669785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456545" y="3181350"/>
            <a:ext cx="33147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44A53AA-1E68-4D26-A275-CD0B55A2A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20250" y="5143500"/>
            <a:ext cx="1562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35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スマホ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DE87091-D90A-417F-A065-3429778E0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20250" y="5410200"/>
            <a:ext cx="1562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0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275" b="0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rPr>
              <a:t>縮小時の文字量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6703322-045E-447A-8AFC-86ED8D244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76550" y="5924550"/>
            <a:ext cx="6438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875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開く → PDF化 → 全画面投影 → スマホ確認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A95D314-301B-41A0-8EB0-253F3944B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277600" y="6457950"/>
            <a:ext cx="304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050" b="1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6340651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00620593bc4004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F487BB-2948-4D7F-A075-02ACFD1EF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1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6AAC08-3B6E-405C-B4E1-338E513CD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4350" y="438150"/>
            <a:ext cx="7067550" cy="5943600"/>
          </a:xfrm>
          <a:prstGeom xmlns:a="http://schemas.openxmlformats.org/drawingml/2006/main" prst="roundRect">
            <a:avLst>
              <a:gd name="adj" fmla="val 3205"/>
            </a:avLst>
          </a:prstGeom>
          <a:solidFill xmlns:a="http://schemas.openxmlformats.org/drawingml/2006/main">
            <a:srgbClr val="FFFFFF">
              <a:alpha val="96000"/>
            </a:srgbClr>
          </a:solidFill>
          <a:ln xmlns:a="http://schemas.openxmlformats.org/drawingml/2006/main" w="9525">
            <a:solidFill>
              <a:srgbClr val="D8DAD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9"/>
          <a:fontRef xmlns:a="http://schemas.openxmlformats.org/drawingml/2006/main" idx="major"/>
        </p:style>
      </p:sp>
      <p:sp>
        <p:nvSpPr>
          <p:cNvPr id="4" name="slide-title-28">
            <a:extLst xmlns:a="http://schemas.openxmlformats.org/drawingml/2006/main">
              <a:ext uri="{FF2B5EF4-FFF2-40B4-BE49-F238E27FC236}">
                <a16:creationId xmlns:a16="http://schemas.microsoft.com/office/drawing/2014/main" id="{EE868826-354F-465D-BDFB-335A6095F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76300" y="647700"/>
            <a:ext cx="61722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6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6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まず自社資料1本で試し、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36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600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AI導入の判断を前に進める。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0C18AE-D61F-4A80-AB80-F776A34C3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76300" y="22098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2357D9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350" b="1">
                <a:solidFill>
                  <a:srgbClr val="2357D9"/>
                </a:solidFill>
                <a:latin typeface="Hiragino Kaku Gothic ProN"/>
                <a:ea typeface="Hiragino Kaku Gothic ProN"/>
                <a:cs typeface="Hiragino Kaku Gothic ProN"/>
              </a:rPr>
              <a:t>今日やること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BC3B6C-442A-43D8-B676-B1D03B6F7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76300" y="2628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57D9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125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B37D53-2E8E-4DFB-865D-E943DF409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295400" y="2609850"/>
            <a:ext cx="55816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725" b="1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自社資料を1本選ぶ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AD7614-088C-48EE-9CD4-7010D4F9A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76300" y="32385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57D9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125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F03F3C-0D27-4CB2-AF61-36753FEE8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295400" y="3219450"/>
            <a:ext cx="55816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725" b="0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Briefの4項目を書く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9A7557-B383-4231-8FAF-94DDBEA12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76300" y="38481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57D9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125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63A4D2-6BB4-492B-ABDE-791F027C1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295400" y="3829050"/>
            <a:ext cx="55816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725" b="0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タイトルだけでGhost Deckを作る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E53F0D-F44F-483C-A859-2616027D8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76300" y="44577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57D9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125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1F3172C-C1AC-435A-A007-707DF9678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295400" y="4438650"/>
            <a:ext cx="55816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725" b="0">
                <a:solidFill>
                  <a:srgbClr val="111111"/>
                </a:solidFill>
                <a:latin typeface="Hiragino Kaku Gothic ProN"/>
                <a:ea typeface="Hiragino Kaku Gothic ProN"/>
                <a:cs typeface="Hiragino Kaku Gothic ProN"/>
              </a:rPr>
              <a:t>1枚だけSlide Specを書いて作り直す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5955B0-F340-4EEB-814E-C02D1B695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76300" y="5600700"/>
            <a:ext cx="59626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350" b="0">
                <a:solidFill>
                  <a:srgbClr val="62666D"/>
                </a:solidFill>
                <a:latin typeface="Hiragino Kaku Gothic ProN"/>
                <a:ea typeface="Hiragino Kaku Gothic ProN"/>
                <a:cs typeface="Hiragino Kaku Gothic ProN"/>
              </a:rPr>
              <a:t>教材だけで進められる方は、そのまま実践してください。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4B8439F-5266-4B0D-811E-860DD519C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39100" y="3714750"/>
            <a:ext cx="3467100" cy="2038350"/>
          </a:xfrm>
          <a:prstGeom xmlns:a="http://schemas.openxmlformats.org/drawingml/2006/main" prst="roundRect">
            <a:avLst>
              <a:gd name="adj" fmla="val 8411"/>
            </a:avLst>
          </a:prstGeom>
          <a:solidFill xmlns:a="http://schemas.openxmlformats.org/drawingml/2006/main">
            <a:srgbClr val="111111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9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4489037-826C-4AFC-994D-14DADCABD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82000" y="40005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FFFFFF">
                    <a:alpha val="55000"/>
                  </a:srgbClr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125" b="1">
                <a:solidFill>
                  <a:srgbClr val="FFFFFF">
                    <a:alpha val="55000"/>
                  </a:srgbClr>
                </a:solidFill>
                <a:latin typeface="Hiragino Kaku Gothic ProN"/>
                <a:ea typeface="Hiragino Kaku Gothic ProN"/>
                <a:cs typeface="Hiragino Kaku Gothic ProN"/>
              </a:rPr>
              <a:t>OPTION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DF85964-89D3-49F7-8565-DB39209FE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82000" y="4362450"/>
            <a:ext cx="27241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537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55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255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無料顧問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255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255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1回分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0BC8584-F406-4561-9C8A-4A7B345CD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82000" y="5181600"/>
            <a:ext cx="2724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FFFFFF">
                    <a:alpha val="78000"/>
                  </a:srgbClr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350" b="0">
                <a:solidFill>
                  <a:srgbClr val="FFFFFF">
                    <a:alpha val="78000"/>
                  </a:srgbClr>
                </a:solidFill>
                <a:latin typeface="Hiragino Kaku Gothic ProN"/>
                <a:ea typeface="Hiragino Kaku Gothic ProN"/>
                <a:cs typeface="Hiragino Kaku Gothic ProN"/>
              </a:rPr>
              <a:t>自社資料を持ち込み、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FFFFFF">
                    <a:alpha val="78000"/>
                  </a:srgbClr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350" b="0">
                <a:solidFill>
                  <a:srgbClr val="FFFFFF">
                    <a:alpha val="78000"/>
                  </a:srgbClr>
                </a:solidFill>
                <a:latin typeface="Hiragino Kaku Gothic ProN"/>
                <a:ea typeface="Hiragino Kaku Gothic ProN"/>
                <a:cs typeface="Hiragino Kaku Gothic ProN"/>
              </a:rPr>
              <a:t>BriefとGhost Deckを一緒に作る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33988CD-2497-4603-AC0C-123D6C221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277600" y="6457950"/>
            <a:ext cx="304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FFFFFF">
                    <a:alpha val="70000"/>
                  </a:srgbClr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050" b="1">
                <a:solidFill>
                  <a:srgbClr val="FFFFFF">
                    <a:alpha val="70000"/>
                  </a:srgbClr>
                </a:solidFill>
                <a:latin typeface="Hiragino Kaku Gothic ProN"/>
                <a:ea typeface="Hiragino Kaku Gothic ProN"/>
                <a:cs typeface="Hiragino Kaku Gothic ProN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4510330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2026-07-30T11:56:38.9090000Z</dcterms:created>
  <dcterms:modified xsi:type="dcterms:W3CDTF">2026-07-30T11:56:38.9090000Z</dcterms:modified>
</coreProperties>
</file>