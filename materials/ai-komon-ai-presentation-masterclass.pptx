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4d321ea294b5f" /><Relationship Type="http://schemas.openxmlformats.org/officeDocument/2006/relationships/extended-properties" Target="/docProps/app.xml" Id="R2df6c1c8b2f940c5" /><Relationship Type="http://schemas.openxmlformats.org/officeDocument/2006/relationships/officeDocument" Target="/ppt/presentation.xml" Id="Ra76b0ad7074b48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ae9efda7849ba"/>
  </p:sldMasterIdLst>
  <p:notesMasterIdLst>
    <p:notesMasterId xmlns:r="http://schemas.openxmlformats.org/officeDocument/2006/relationships" r:id="R9908db11c7bf41c1"/>
  </p:notesMasterIdLst>
  <p:sldIdLst>
    <p:sldId xmlns:r="http://schemas.openxmlformats.org/officeDocument/2006/relationships" id="256" r:id="R7c8ef55e4d4249e6"/>
    <p:sldId xmlns:r="http://schemas.openxmlformats.org/officeDocument/2006/relationships" id="257" r:id="Rf1356a6120fe458e"/>
    <p:sldId xmlns:r="http://schemas.openxmlformats.org/officeDocument/2006/relationships" id="258" r:id="R6c01d54357564da0"/>
    <p:sldId xmlns:r="http://schemas.openxmlformats.org/officeDocument/2006/relationships" id="259" r:id="Re3497f62469b48e6"/>
    <p:sldId xmlns:r="http://schemas.openxmlformats.org/officeDocument/2006/relationships" id="260" r:id="Ra56c4b85a0634151"/>
    <p:sldId xmlns:r="http://schemas.openxmlformats.org/officeDocument/2006/relationships" id="261" r:id="Rfa2566e6b7ca4f95"/>
    <p:sldId xmlns:r="http://schemas.openxmlformats.org/officeDocument/2006/relationships" id="262" r:id="R15114096172b47d6"/>
    <p:sldId xmlns:r="http://schemas.openxmlformats.org/officeDocument/2006/relationships" id="263" r:id="Rdaecd36d7dd244ec"/>
    <p:sldId xmlns:r="http://schemas.openxmlformats.org/officeDocument/2006/relationships" id="264" r:id="R88b13d3d663d43b4"/>
    <p:sldId xmlns:r="http://schemas.openxmlformats.org/officeDocument/2006/relationships" id="265" r:id="R45d89abef9f34a9e"/>
    <p:sldId xmlns:r="http://schemas.openxmlformats.org/officeDocument/2006/relationships" id="266" r:id="Raf52fa0411f54fd4"/>
    <p:sldId xmlns:r="http://schemas.openxmlformats.org/officeDocument/2006/relationships" id="267" r:id="R0ffc0d0605d34329"/>
    <p:sldId xmlns:r="http://schemas.openxmlformats.org/officeDocument/2006/relationships" id="268" r:id="Ree7e49d46a924910"/>
    <p:sldId xmlns:r="http://schemas.openxmlformats.org/officeDocument/2006/relationships" id="269" r:id="R19a1cf129c204d7a"/>
    <p:sldId xmlns:r="http://schemas.openxmlformats.org/officeDocument/2006/relationships" id="270" r:id="R76c5cc8c2ab94476"/>
    <p:sldId xmlns:r="http://schemas.openxmlformats.org/officeDocument/2006/relationships" id="271" r:id="R51bb7aa56a7c48f7"/>
    <p:sldId xmlns:r="http://schemas.openxmlformats.org/officeDocument/2006/relationships" id="272" r:id="Rf934d44d5bce4d17"/>
    <p:sldId xmlns:r="http://schemas.openxmlformats.org/officeDocument/2006/relationships" id="273" r:id="R830ef77930704925"/>
    <p:sldId xmlns:r="http://schemas.openxmlformats.org/officeDocument/2006/relationships" id="274" r:id="Rea4ea71bfd4342d7"/>
    <p:sldId xmlns:r="http://schemas.openxmlformats.org/officeDocument/2006/relationships" id="275" r:id="R4d561ab987834fc9"/>
    <p:sldId xmlns:r="http://schemas.openxmlformats.org/officeDocument/2006/relationships" id="276" r:id="R91e65cf36faa4e3e"/>
    <p:sldId xmlns:r="http://schemas.openxmlformats.org/officeDocument/2006/relationships" id="277" r:id="R2da88aefe9e64887"/>
    <p:sldId xmlns:r="http://schemas.openxmlformats.org/officeDocument/2006/relationships" id="278" r:id="Rd71f60a4af894dbe"/>
    <p:sldId xmlns:r="http://schemas.openxmlformats.org/officeDocument/2006/relationships" id="279" r:id="R7cb67e65eb164aa7"/>
    <p:sldId xmlns:r="http://schemas.openxmlformats.org/officeDocument/2006/relationships" id="280" r:id="Raaa9830e60d545d4"/>
    <p:sldId xmlns:r="http://schemas.openxmlformats.org/officeDocument/2006/relationships" id="281" r:id="Radf47cb3479d4e8c"/>
    <p:sldId xmlns:r="http://schemas.openxmlformats.org/officeDocument/2006/relationships" id="282" r:id="Ree40c9973ff54a61"/>
    <p:sldId xmlns:r="http://schemas.openxmlformats.org/officeDocument/2006/relationships" id="283" r:id="R2e6114a428a34b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44b101aac4a7e" /><Relationship Type="http://schemas.openxmlformats.org/officeDocument/2006/relationships/slideMaster" Target="/ppt/slideMasters/slideMaster1.xml" Id="Rc4eae9efda7849ba" /><Relationship Type="http://schemas.openxmlformats.org/officeDocument/2006/relationships/notesMaster" Target="/ppt/notesMasters/notesMaster1.xml" Id="R9908db11c7bf41c1" /><Relationship Type="http://schemas.openxmlformats.org/officeDocument/2006/relationships/presProps" Target="/ppt/presProps.xml" Id="Rab3a56a5f8bc4c39" /><Relationship Type="http://schemas.openxmlformats.org/officeDocument/2006/relationships/tableStyles" Target="/ppt/tableStyles.xml" Id="R4fdd2b4c47c443ef" /><Relationship Type="http://schemas.openxmlformats.org/officeDocument/2006/relationships/slide" Target="/ppt/slides/slide1.xml" Id="R7c8ef55e4d4249e6" /><Relationship Type="http://schemas.openxmlformats.org/officeDocument/2006/relationships/slide" Target="/ppt/slides/slide2.xml" Id="Rf1356a6120fe458e" /><Relationship Type="http://schemas.openxmlformats.org/officeDocument/2006/relationships/slide" Target="/ppt/slides/slide3.xml" Id="R6c01d54357564da0" /><Relationship Type="http://schemas.openxmlformats.org/officeDocument/2006/relationships/slide" Target="/ppt/slides/slide4.xml" Id="Re3497f62469b48e6" /><Relationship Type="http://schemas.openxmlformats.org/officeDocument/2006/relationships/slide" Target="/ppt/slides/slide5.xml" Id="Ra56c4b85a0634151" /><Relationship Type="http://schemas.openxmlformats.org/officeDocument/2006/relationships/slide" Target="/ppt/slides/slide6.xml" Id="Rfa2566e6b7ca4f95" /><Relationship Type="http://schemas.openxmlformats.org/officeDocument/2006/relationships/slide" Target="/ppt/slides/slide7.xml" Id="R15114096172b47d6" /><Relationship Type="http://schemas.openxmlformats.org/officeDocument/2006/relationships/slide" Target="/ppt/slides/slide8.xml" Id="Rdaecd36d7dd244ec" /><Relationship Type="http://schemas.openxmlformats.org/officeDocument/2006/relationships/slide" Target="/ppt/slides/slide9.xml" Id="R88b13d3d663d43b4" /><Relationship Type="http://schemas.openxmlformats.org/officeDocument/2006/relationships/slide" Target="/ppt/slides/slide10.xml" Id="R45d89abef9f34a9e" /><Relationship Type="http://schemas.openxmlformats.org/officeDocument/2006/relationships/slide" Target="/ppt/slides/slide11.xml" Id="Raf52fa0411f54fd4" /><Relationship Type="http://schemas.openxmlformats.org/officeDocument/2006/relationships/slide" Target="/ppt/slides/slide12.xml" Id="R0ffc0d0605d34329" /><Relationship Type="http://schemas.openxmlformats.org/officeDocument/2006/relationships/slide" Target="/ppt/slides/slide13.xml" Id="Ree7e49d46a924910" /><Relationship Type="http://schemas.openxmlformats.org/officeDocument/2006/relationships/slide" Target="/ppt/slides/slide14.xml" Id="R19a1cf129c204d7a" /><Relationship Type="http://schemas.openxmlformats.org/officeDocument/2006/relationships/slide" Target="/ppt/slides/slide15.xml" Id="R76c5cc8c2ab94476" /><Relationship Type="http://schemas.openxmlformats.org/officeDocument/2006/relationships/slide" Target="/ppt/slides/slide16.xml" Id="R51bb7aa56a7c48f7" /><Relationship Type="http://schemas.openxmlformats.org/officeDocument/2006/relationships/slide" Target="/ppt/slides/slide17.xml" Id="Rf934d44d5bce4d17" /><Relationship Type="http://schemas.openxmlformats.org/officeDocument/2006/relationships/slide" Target="/ppt/slides/slide18.xml" Id="R830ef77930704925" /><Relationship Type="http://schemas.openxmlformats.org/officeDocument/2006/relationships/slide" Target="/ppt/slides/slide19.xml" Id="Rea4ea71bfd4342d7" /><Relationship Type="http://schemas.openxmlformats.org/officeDocument/2006/relationships/slide" Target="/ppt/slides/slide20.xml" Id="R4d561ab987834fc9" /><Relationship Type="http://schemas.openxmlformats.org/officeDocument/2006/relationships/slide" Target="/ppt/slides/slide21.xml" Id="R91e65cf36faa4e3e" /><Relationship Type="http://schemas.openxmlformats.org/officeDocument/2006/relationships/slide" Target="/ppt/slides/slide22.xml" Id="R2da88aefe9e64887" /><Relationship Type="http://schemas.openxmlformats.org/officeDocument/2006/relationships/slide" Target="/ppt/slides/slide23.xml" Id="Rd71f60a4af894dbe" /><Relationship Type="http://schemas.openxmlformats.org/officeDocument/2006/relationships/slide" Target="/ppt/slides/slide24.xml" Id="R7cb67e65eb164aa7" /><Relationship Type="http://schemas.openxmlformats.org/officeDocument/2006/relationships/slide" Target="/ppt/slides/slide25.xml" Id="Raaa9830e60d545d4" /><Relationship Type="http://schemas.openxmlformats.org/officeDocument/2006/relationships/slide" Target="/ppt/slides/slide26.xml" Id="Radf47cb3479d4e8c" /><Relationship Type="http://schemas.openxmlformats.org/officeDocument/2006/relationships/slide" Target="/ppt/slides/slide27.xml" Id="Ree40c9973ff54a61" /><Relationship Type="http://schemas.openxmlformats.org/officeDocument/2006/relationships/slide" Target="/ppt/slides/slide28.xml" Id="R2e6114a428a3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1905d152e346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8a6ba45ac40ed" /><Relationship Type="http://schemas.openxmlformats.org/officeDocument/2006/relationships/notesMaster" Target="/ppt/notesMasters/notesMaster1.xml" Id="R7b0e95dfbaa943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17239e54b4205" /><Relationship Type="http://schemas.openxmlformats.org/officeDocument/2006/relationships/notesMaster" Target="/ppt/notesMasters/notesMaster1.xml" Id="R42af2bd8b44946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4861dfb3c14836" /><Relationship Type="http://schemas.openxmlformats.org/officeDocument/2006/relationships/notesMaster" Target="/ppt/notesMasters/notesMaster1.xml" Id="Rfa589715003d4f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51317d29254111" /><Relationship Type="http://schemas.openxmlformats.org/officeDocument/2006/relationships/notesMaster" Target="/ppt/notesMasters/notesMaster1.xml" Id="Raf7fba387af241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1ac531ae7d4fe0" /><Relationship Type="http://schemas.openxmlformats.org/officeDocument/2006/relationships/notesMaster" Target="/ppt/notesMasters/notesMaster1.xml" Id="R693c00790bd3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b3cd62270b46ed" /><Relationship Type="http://schemas.openxmlformats.org/officeDocument/2006/relationships/notesMaster" Target="/ppt/notesMasters/notesMaster1.xml" Id="R554ddd8dc6de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239d1f212746ad" /><Relationship Type="http://schemas.openxmlformats.org/officeDocument/2006/relationships/notesMaster" Target="/ppt/notesMasters/notesMaster1.xml" Id="R3f3773e3acf847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846a68a6a849c3" /><Relationship Type="http://schemas.openxmlformats.org/officeDocument/2006/relationships/notesMaster" Target="/ppt/notesMasters/notesMaster1.xml" Id="Reff3319950a748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9adb5ad44455c" /><Relationship Type="http://schemas.openxmlformats.org/officeDocument/2006/relationships/notesMaster" Target="/ppt/notesMasters/notesMaster1.xml" Id="R662a360b876644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d5f995c0714e01" /><Relationship Type="http://schemas.openxmlformats.org/officeDocument/2006/relationships/notesMaster" Target="/ppt/notesMasters/notesMaster1.xml" Id="R0d6a56bedc744c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fd1d519a7f4557" /><Relationship Type="http://schemas.openxmlformats.org/officeDocument/2006/relationships/notesMaster" Target="/ppt/notesMasters/notesMaster1.xml" Id="Re48e630aa64e4b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c9a0a38b574aac" /><Relationship Type="http://schemas.openxmlformats.org/officeDocument/2006/relationships/notesMaster" Target="/ppt/notesMasters/notesMaster1.xml" Id="R4e6bb8f7acfc40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099bd86dfc4f9d" /><Relationship Type="http://schemas.openxmlformats.org/officeDocument/2006/relationships/notesMaster" Target="/ppt/notesMasters/notesMaster1.xml" Id="Ref116c962b6647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298517a33042ec" /><Relationship Type="http://schemas.openxmlformats.org/officeDocument/2006/relationships/notesMaster" Target="/ppt/notesMasters/notesMaster1.xml" Id="R83e9d17b2c9c40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6a4ddaa2c74475" /><Relationship Type="http://schemas.openxmlformats.org/officeDocument/2006/relationships/notesMaster" Target="/ppt/notesMasters/notesMaster1.xml" Id="Re57984003f6a4d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cc5d86a63b4d0c" /><Relationship Type="http://schemas.openxmlformats.org/officeDocument/2006/relationships/notesMaster" Target="/ppt/notesMasters/notesMaster1.xml" Id="R1ba7a2c60f3646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6544082d6b4228" /><Relationship Type="http://schemas.openxmlformats.org/officeDocument/2006/relationships/notesMaster" Target="/ppt/notesMasters/notesMaster1.xml" Id="R87436f5dfca845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a0aa2c9d6442e0" /><Relationship Type="http://schemas.openxmlformats.org/officeDocument/2006/relationships/notesMaster" Target="/ppt/notesMasters/notesMaster1.xml" Id="Re77f316814234a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42f847e9114650" /><Relationship Type="http://schemas.openxmlformats.org/officeDocument/2006/relationships/notesMaster" Target="/ppt/notesMasters/notesMaster1.xml" Id="R7b264fa3731149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b44982a8424231" /><Relationship Type="http://schemas.openxmlformats.org/officeDocument/2006/relationships/notesMaster" Target="/ppt/notesMasters/notesMaster1.xml" Id="R83f0fbadb1bc46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d5272a0ae94ffc" /><Relationship Type="http://schemas.openxmlformats.org/officeDocument/2006/relationships/notesMaster" Target="/ppt/notesMasters/notesMaster1.xml" Id="R9d14d8244a5f45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b3900f77d0349b1" /><Relationship Type="http://schemas.openxmlformats.org/officeDocument/2006/relationships/notesMaster" Target="/ppt/notesMasters/notesMaster1.xml" Id="Ra58ae108c3904e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0008471f3b4f99" /><Relationship Type="http://schemas.openxmlformats.org/officeDocument/2006/relationships/notesMaster" Target="/ppt/notesMasters/notesMaster1.xml" Id="Rbacefa3ef12b49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ee596761e0407b" /><Relationship Type="http://schemas.openxmlformats.org/officeDocument/2006/relationships/notesMaster" Target="/ppt/notesMasters/notesMaster1.xml" Id="R534d4298acb74e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18924a87383433c" /><Relationship Type="http://schemas.openxmlformats.org/officeDocument/2006/relationships/notesMaster" Target="/ppt/notesMasters/notesMaster1.xml" Id="R73660f493c224f7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7592114bec4956" /><Relationship Type="http://schemas.openxmlformats.org/officeDocument/2006/relationships/notesMaster" Target="/ppt/notesMasters/notesMaster1.xml" Id="R9e1c7d3ad5b243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c5f6301f3b4cec" /><Relationship Type="http://schemas.openxmlformats.org/officeDocument/2006/relationships/notesMaster" Target="/ppt/notesMasters/notesMaster1.xml" Id="Re2cf38251ce24c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3115f3c5a747de" /><Relationship Type="http://schemas.openxmlformats.org/officeDocument/2006/relationships/notesMaster" Target="/ppt/notesMasters/notesMaster1.xml" Id="Rd8f9b2979e26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この教材はデザイン集ではなく、AIと人の作業を分ける実務工程であると宣言する。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visual: cover-background.png（AI顧問室制作）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AIの価値を否定せず、評価軸を作成時間から意思決定へ移す。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AI顧問室による実務工程の整理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読者自身の会議を想起させる。成果数値は断定しない。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visual: stalled-meeting.png（AI顧問室制作）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意思決定設計を、会議後の行動が変わる選択として定義する。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AI顧問室による実務工程の整理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明確・具体的な指示と反復改善を、資料制作の工程分解へ翻訳する。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組織の実測値ではなく、起こりうる典型的なリスクモデルとして説明する。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AI顧問室による実務工程の整理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決定を成果物として見せる。例は架空であることを明示する。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AI顧問室による実務工程の整理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現状と可能性の差を使う考えを、実務の決定順序へ翻訳する。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https://www.duarte.com/resources/communication-skills/business-storytelling/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学術モデルとしてではなく、本教材で使う実務上の順序として説明する。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https://www.duarte.com/resources/communication-skills/business-storytelling/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明確なコンテキストを先に渡す原則を、質問型のBrief作成にする。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具体的の意味を、形容詞追加ではなく読者・決定・場面の固定として説明する。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 title先行の考えを、日本語のGhost Deckとして手順化する。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https://info.think-cell.com/rs/287-QVC-366/images/EB-PPTBP23-EN-PowerPoint-Best-Practices.pdf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 titles全体で一貫した物語になるという考えを、実務チェックへ落とす。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https://info.think-cell.com/rs/287-QVC-366/images/EB-PPTBP23-EN-PowerPoint-Best-Practices.pdf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現状と可能性の対比を、初心者向けの5段階に噛み砕く。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https://www.duarte.com/resources/communication-skills/business-storytelling/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 titleは話題名ではなく、ページの主要メッセージを表すという原則を説明する。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https://info.think-cell.com/rs/287-QVC-366/images/EB-PPTBP23-EN-PowerPoint-Best-Practices.pdf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1スライド1アイデア、短い文章、折り返し回避の原則を結びつける。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https://info.think-cell.com/rs/287-QVC-366/images/EB-PPTBP23-EN-PowerPoint-Best-Practices.pdf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根拠を陳列せず、意思決定への含意まで書く。例は架空である。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https://info.think-cell.com/rs/287-QVC-366/images/EB-PPTBP23-EN-PowerPoint-Best-Practices.pdf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計画・実装・QAの分離を参考に、初心者が使える事前仕様へ整理した。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5型はAI顧問室による制作上の分類であり、状況に応じて複合してよい。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https://info.think-cell.com/rs/287-QVC-366/images/EB-PPTBP23-EN-PowerPoint-Best-Practices.pdf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画像は話を伝えるために使い、多すぎないようにする原則を採用基準へ翻訳する。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Generated visual: generic-ai-background.png（AI顧問室制作）</a:t>
            </a:r>
          </a:p>
          <a:p xmlns:a="http://schemas.openxmlformats.org/drawingml/2006/main">
            <a:r>
              <a:t>- Generated visual: meaningful-workshop.png（AI顧問室制作）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十分なコントラストを担保し、画像と文字の役割を分ける。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- Generated visual: busy-project-room.png（AI顧問室制作）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レイアウトを変え、全スライドを画像で確認する考えをリズム検査に使う。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AIを自動完成装置ではなく、選択肢を速く出す協働者として位置づける。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本教材自身がこのワークフローで作られている。反復改善を工程承認で制御する。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反復改善と全ページ検査を、初稿の定義として説明する。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検査を分けることで見落としを減らす実務手順。効果量は断定しない。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互換性、フォント置換、PDF書き出し、投影解像度の注意を実務チェックへまとめる。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https://support.microsoft.com/en-us/powerpoint/export-a-presentation</a:t>
            </a:r>
          </a:p>
          <a:p xmlns:a="http://schemas.openxmlformats.org/drawingml/2006/main">
            <a:r>
              <a:t>- https://support.microsoft.com/en-US/Office/fonts/download-and-install-custom-fonts-to-use-with-office</a:t>
            </a:r>
          </a:p>
          <a:p xmlns:a="http://schemas.openxmlformats.org/drawingml/2006/main">
            <a:r>
              <a:t>- https://support.microsoft.com/en-US/PowerPoint/compatibility-checker-in-powerpoint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第1幕の会議が止まる問題を、自社資料1本の行動で回収する。CTAは支援の選択肢としてのみ提示する。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visual: closing-work-session.png（AI顧問室制作）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4eeb51f0b4e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a7c9dc5824c60" /><Relationship Type="http://schemas.openxmlformats.org/officeDocument/2006/relationships/slideLayout" Target="/ppt/slideLayouts/slideLayout1.xml" Id="R3107d67723314b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7d67723314b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238a8cad34459" /><Relationship Type="http://schemas.openxmlformats.org/officeDocument/2006/relationships/image" Target="/ppt/media/image.png" Id="R6d274fe30baf466d" /><Relationship Type="http://schemas.openxmlformats.org/officeDocument/2006/relationships/notesSlide" Target="/ppt/notesSlides/notesSlide1.xml" Id="R439f64cfeebe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4a4b94ff94150" /><Relationship Type="http://schemas.openxmlformats.org/officeDocument/2006/relationships/notesSlide" Target="/ppt/notesSlides/notesSlide2.xml" Id="R5939d4d788ea40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71353f8c249f2" /><Relationship Type="http://schemas.openxmlformats.org/officeDocument/2006/relationships/image" Target="/ppt/media/image2.png" Id="R51edb5f0b5064daa" /><Relationship Type="http://schemas.openxmlformats.org/officeDocument/2006/relationships/notesSlide" Target="/ppt/notesSlides/notesSlide3.xml" Id="Rc3ce40ac3c4b4f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e8f823b0b4d46" /><Relationship Type="http://schemas.openxmlformats.org/officeDocument/2006/relationships/notesSlide" Target="/ppt/notesSlides/notesSlide4.xml" Id="R3900238beb4740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be76ec1124315" /><Relationship Type="http://schemas.openxmlformats.org/officeDocument/2006/relationships/notesSlide" Target="/ppt/notesSlides/notesSlide5.xml" Id="Ree30f4534a8048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07733bf8d4c38" /><Relationship Type="http://schemas.openxmlformats.org/officeDocument/2006/relationships/notesSlide" Target="/ppt/notesSlides/notesSlide6.xml" Id="R04e561d10ae148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f9aaccffd4f97" /><Relationship Type="http://schemas.openxmlformats.org/officeDocument/2006/relationships/notesSlide" Target="/ppt/notesSlides/notesSlide7.xml" Id="R1634d5ab06d547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0bc8315df4faa" /><Relationship Type="http://schemas.openxmlformats.org/officeDocument/2006/relationships/notesSlide" Target="/ppt/notesSlides/notesSlide8.xml" Id="Rddbbc0fce64049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aed2823394417" /><Relationship Type="http://schemas.openxmlformats.org/officeDocument/2006/relationships/notesSlide" Target="/ppt/notesSlides/notesSlide9.xml" Id="Rba74dc1fa29143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2f7592c1a455c" /><Relationship Type="http://schemas.openxmlformats.org/officeDocument/2006/relationships/notesSlide" Target="/ppt/notesSlides/notesSlide10.xml" Id="R2c1c7fc1106949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7efb305ed4d5e" /><Relationship Type="http://schemas.openxmlformats.org/officeDocument/2006/relationships/notesSlide" Target="/ppt/notesSlides/notesSlide11.xml" Id="Ref48fbf1ebcf40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2962537ee4ab9" /><Relationship Type="http://schemas.openxmlformats.org/officeDocument/2006/relationships/notesSlide" Target="/ppt/notesSlides/notesSlide12.xml" Id="R1e9594bdf5bd4b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ea40b37654db9" /><Relationship Type="http://schemas.openxmlformats.org/officeDocument/2006/relationships/notesSlide" Target="/ppt/notesSlides/notesSlide13.xml" Id="R6e978e0fdef24d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793d34f1f490f" /><Relationship Type="http://schemas.openxmlformats.org/officeDocument/2006/relationships/notesSlide" Target="/ppt/notesSlides/notesSlide14.xml" Id="R2d36b251e8374d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efbb90c3a463c" /><Relationship Type="http://schemas.openxmlformats.org/officeDocument/2006/relationships/notesSlide" Target="/ppt/notesSlides/notesSlide15.xml" Id="R620551541d1c41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f35eb611f4d2e" /><Relationship Type="http://schemas.openxmlformats.org/officeDocument/2006/relationships/notesSlide" Target="/ppt/notesSlides/notesSlide16.xml" Id="R06e9f2a77edd47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ee85762e84072" /><Relationship Type="http://schemas.openxmlformats.org/officeDocument/2006/relationships/notesSlide" Target="/ppt/notesSlides/notesSlide17.xml" Id="R7d64a10dd01045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69fe84c934eb2" /><Relationship Type="http://schemas.openxmlformats.org/officeDocument/2006/relationships/notesSlide" Target="/ppt/notesSlides/notesSlide18.xml" Id="Red2d3379877248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33b012b9444df" /><Relationship Type="http://schemas.openxmlformats.org/officeDocument/2006/relationships/notesSlide" Target="/ppt/notesSlides/notesSlide19.xml" Id="Ra97bc33a256c42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ad9d7ddd14857" /><Relationship Type="http://schemas.openxmlformats.org/officeDocument/2006/relationships/image" Target="/ppt/media/image3.png" Id="R6bc466c81a514ed9" /><Relationship Type="http://schemas.openxmlformats.org/officeDocument/2006/relationships/image" Target="/ppt/media/image4.png" Id="R79b8dc6fa7c74a05" /><Relationship Type="http://schemas.openxmlformats.org/officeDocument/2006/relationships/notesSlide" Target="/ppt/notesSlides/notesSlide20.xml" Id="Ra0c97222e11a4e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22621b25849d3" /><Relationship Type="http://schemas.openxmlformats.org/officeDocument/2006/relationships/image" Target="/ppt/media/image5.png" Id="R48f9e00e31664e6b" /><Relationship Type="http://schemas.openxmlformats.org/officeDocument/2006/relationships/notesSlide" Target="/ppt/notesSlides/notesSlide21.xml" Id="R2a75c3ab92a04b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beb32e74f43e4" /><Relationship Type="http://schemas.openxmlformats.org/officeDocument/2006/relationships/notesSlide" Target="/ppt/notesSlides/notesSlide22.xml" Id="R44185258b56649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6c220c0649d3" /><Relationship Type="http://schemas.openxmlformats.org/officeDocument/2006/relationships/notesSlide" Target="/ppt/notesSlides/notesSlide23.xml" Id="R09b4dd9264044c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a36dec89242a4" /><Relationship Type="http://schemas.openxmlformats.org/officeDocument/2006/relationships/notesSlide" Target="/ppt/notesSlides/notesSlide24.xml" Id="Rcb64a6bdd11746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9a542d7394c57" /><Relationship Type="http://schemas.openxmlformats.org/officeDocument/2006/relationships/notesSlide" Target="/ppt/notesSlides/notesSlide25.xml" Id="Rbbe2c906fa4149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b06638bea48a7" /><Relationship Type="http://schemas.openxmlformats.org/officeDocument/2006/relationships/notesSlide" Target="/ppt/notesSlides/notesSlide26.xml" Id="Rd15f2a0a85a249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201c041a14859" /><Relationship Type="http://schemas.openxmlformats.org/officeDocument/2006/relationships/notesSlide" Target="/ppt/notesSlides/notesSlide27.xml" Id="Rdffe041cbd9045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8ada55e9a4e55" /><Relationship Type="http://schemas.openxmlformats.org/officeDocument/2006/relationships/image" Target="/ppt/media/image6.png" Id="R9406bc2cc18d4a41" /><Relationship Type="http://schemas.openxmlformats.org/officeDocument/2006/relationships/notesSlide" Target="/ppt/notesSlides/notesSlide28.xml" Id="Rd274db87eaed4b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74fe30baf46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0434E-9003-48EC-830C-1EB79BDF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4669C-70AA-43A3-A2B6-3F8B0E7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066800"/>
            <a:ext cx="5905500" cy="4476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8E96B-D85B-42EB-9067-E8F4FDB7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142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実務プレイブック</a:t>
            </a:r>
          </a:p>
        </p:txBody>
      </p:sp>
      <p:sp>
        <p:nvSpPr>
          <p:cNvPr id="5" name="slide-title-01">
            <a:extLst xmlns:a="http://schemas.openxmlformats.org/drawingml/2006/main">
              <a:ext uri="{FF2B5EF4-FFF2-40B4-BE49-F238E27FC236}">
                <a16:creationId xmlns:a16="http://schemas.microsoft.com/office/drawing/2014/main" id="{C362A68C-FDEB-48F9-AC40-BC3E3226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18669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AIで、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良質なプレゼンを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4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つくる。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92357-9EF6-4A78-A9BE-5BD66776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8481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AIに丸投げせず、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判断が進む資料を設計する5段階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E492A-22BA-4A0A-A4B5-EA55829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067300"/>
            <a:ext cx="14668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957D2-7201-4B04-800D-50832E59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1529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51DB88-29B8-421B-8423-5EFBADD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PROBLEM / SPEED ≠ DECISION</a:t>
            </a:r>
          </a:p>
        </p:txBody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50CE3519-421C-4845-9385-D4FB2B97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AIは資料を速く作れる。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でも、意思決定までは速くならない。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5702A-5EBE-4AB0-A94F-05D3A1C8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057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生成速度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7F628-6FF8-49DB-9D9E-AD02B95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057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判断速度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DB5FA-374C-41FA-AE01-2681170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819150" y="29146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2BFBE-E567-43E0-865C-0510D21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067050"/>
            <a:ext cx="12268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A088F-6B25-4E1A-AC5B-9ECFABDC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333750"/>
            <a:ext cx="15773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CF2A6-41B2-4741-B9B1-B8509E5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257300" y="31242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373A5-56EF-4368-8945-3105251D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333750"/>
            <a:ext cx="89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6ABDD-D327-4B1B-B650-D673EA0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33750"/>
            <a:ext cx="89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C4315-8DB2-46AE-A38E-C38A51B3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695450" y="33337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0A186-24A5-4F6A-87A1-C9C2ED66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3486150"/>
            <a:ext cx="12268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7BA70-9184-4C2D-9267-38E9655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3752850"/>
            <a:ext cx="15773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592DF-CF76-4E52-90CE-51838A8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2133600" y="35433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451CE-B334-4878-B961-493DDE5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752850"/>
            <a:ext cx="89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1199D-7CDE-4C8B-BC96-B4E24CD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3752850"/>
            <a:ext cx="89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B392F-E201-4964-A818-86B6FD54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2571750" y="37528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4608F-DCED-4FE9-B759-FBE779C7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905250"/>
            <a:ext cx="12268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B184A-DB8A-4154-9ACF-0FDC459D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171950"/>
            <a:ext cx="15773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CE41B-8A68-4760-905E-7030EAAA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3009900" y="39624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3E859-04E8-49BE-A66F-C7CA5618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171950"/>
            <a:ext cx="89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1AACB-833A-40E3-966D-C7755E98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4171950"/>
            <a:ext cx="89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973F1-B1EF-433A-A2A7-7AC0D43A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27813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8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87841-E03C-426B-986F-A32CA392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971800"/>
            <a:ext cx="30099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7EAE0-14D9-494A-AA97-B722C4E6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257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会議後の決定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FE236-8CAF-4082-A2D7-F00450CD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695700"/>
            <a:ext cx="2400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D2CA9-8D49-447B-B9AF-3865A488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36957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未記入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BC134-FE21-4094-A0FB-160EA320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5581650"/>
            <a:ext cx="853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速く作ることと、相手が決められることは別の設計課題。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AABBB-59EB-4EAA-9B7D-A5B8C5A7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334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7C430-5C46-422D-AAD7-B307F85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45561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db5f0b5064d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C4D8D-551F-4FF4-AE81-8B48FC06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4439A-475E-4007-8AC3-29E925DE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14350"/>
            <a:ext cx="11010900" cy="5734050"/>
          </a:xfrm>
          <a:prstGeom xmlns:a="http://schemas.openxmlformats.org/drawingml/2006/main" prst="roundRect">
            <a:avLst>
              <a:gd name="adj" fmla="val 3322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0F30698C-3C92-4B77-8046-4C864FBD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78105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資料は完成しているのに、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会議の判断が進まない。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1E0AF-297B-48CB-8FAB-E50FD4A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会議後に残る3つ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D7415-7794-4C71-BEB0-497B0823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667000"/>
            <a:ext cx="6572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901DE-437C-4BBC-8A82-D38CB56A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667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「もう少し情報がほしい」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4B510-44C1-4DA2-A123-21756A61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448050"/>
            <a:ext cx="6019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14473-BCA5-425F-A98E-A6D3B79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3448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「社内で確認します」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C3120-C9C3-4A0D-BB98-380096DC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229100"/>
            <a:ext cx="54673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21F85-21DD-44C7-A011-92EAA7AC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42291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「次回また検討します」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68EC2-9562-4A62-AE14-122F783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914650"/>
            <a:ext cx="2686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ページは完成。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決定は未完成。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43828-1E5B-42FB-AE52-A1DA372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9405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0B186-4AF0-4192-92CA-875176FE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CAUSE / DEFINE THE DECISION</a:t>
            </a:r>
          </a:p>
        </p:txBody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42C0293-E3E0-4FDD-B43D-ADE986D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止まる理由は、ページ不足ではなく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「何を決めるか」が曖昧だから。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F5978-E028-4B6C-827A-DA84DCBE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81050" y="247650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5C149-F836-4B0E-86B0-38568838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914400" y="238125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D0E3D-7A55-40E1-BBD9-9B9506E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047750" y="228600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191F8-0C8F-42ED-9C24-1B1F829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181100" y="219075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9AE97-8F78-4371-8C85-8EDA3CD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1314450" y="209550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99DD0-2978-4657-9F7B-E5F581A3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200025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6EAB9-0138-4D05-A7B5-CBA885E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1581150" y="190500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BCEE2-DF68-429E-A273-0F509D55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714500" y="180975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7EA0E-B895-46EB-B92D-EE9596C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1847850" y="1714500"/>
            <a:ext cx="3714750" cy="2266950"/>
          </a:xfrm>
          <a:prstGeom xmlns:a="http://schemas.openxmlformats.org/drawingml/2006/main" prst="roundRect">
            <a:avLst>
              <a:gd name="adj" fmla="val 4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2A405-1B47-4982-A990-965872FA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6385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ページを増やす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14729-54E2-48C7-BD51-34B2DCB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3390900"/>
            <a:ext cx="10096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C00D5-D310-423A-9212-75312602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114550"/>
            <a:ext cx="46863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F7D22-E78A-4C23-ACF9-D89AD947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457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決めること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3AF13-1946-4DF1-B3D4-C5B68BF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933700"/>
            <a:ext cx="3810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83EB1-279B-4C74-A9C4-2250EC9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3105150"/>
            <a:ext cx="335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次回、担当部署で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2週間の検証を始めるか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3045F-3058-4895-AC3C-E604C408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4305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「決定」とは、会議後に誰が何をするかが変わる選択。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55763-722D-4B6B-AAEC-D257C84B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905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FD2BA-87ED-4C69-8998-65D5B006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FAILURE MODE / ONE-SHOT GENERATION</a:t>
            </a:r>
          </a:p>
        </p:txBody>
      </p:sp>
      <p:sp>
        <p:nvSpPr>
          <p:cNvPr id="2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887CD333-0BCC-40DB-927B-1DA586F2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0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一発生成は、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平均的なページを大量につくる。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CB80B-C327-4BB2-9428-F25F6AE6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171700"/>
            <a:ext cx="4495800" cy="2838450"/>
          </a:xfrm>
          <a:prstGeom xmlns:a="http://schemas.openxmlformats.org/drawingml/2006/main" prst="roundRect">
            <a:avLst>
              <a:gd name="adj" fmla="val 604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EE894-EC31-4921-922B-762D9BD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247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926E6-5F10-4038-8312-BB57109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2990850"/>
            <a:ext cx="3638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「このテーマで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30枚の資料を作って」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A97C5-1C51-4A79-B1F1-92FFC46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400550"/>
            <a:ext cx="20383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3E3BA-8EAC-4D2B-824E-B30C09AC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4005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一度で完成させる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33253-ACB4-412D-BEEF-8434FD8A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6343650" y="17335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7510D-76AF-445D-A23B-5EF2678F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1885950"/>
            <a:ext cx="1002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C597D-84D7-4A4A-9ECD-CFF4160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2152650"/>
            <a:ext cx="128930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2E96E-3F3B-41D4-9CFC-2090688B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810500" y="17335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52AA2-69A9-46E4-BF2D-2EA22D7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943100"/>
            <a:ext cx="695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2B712-6402-4969-B7AF-4109F8BD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1943100"/>
            <a:ext cx="695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AAF99-872B-4195-BA86-DBEFC14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9277350" y="17335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7712C-A8DF-4B4E-993D-2DE5E6F5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1885950"/>
            <a:ext cx="1002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75A9C-C778-4CFD-8321-C5F1BA8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152650"/>
            <a:ext cx="128930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2A9B2-6256-451F-8315-4AC8B3C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30289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72BBE-D522-4891-8A79-E9604801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238500"/>
            <a:ext cx="695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C07D0-C4A4-47E9-B97F-01758DD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3238500"/>
            <a:ext cx="695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F55EE-B100-4DE1-8386-37B81398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7810500" y="30289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A4B4E-D198-494C-9511-ED3D8F5B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3181350"/>
            <a:ext cx="1002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2E980-7075-43F9-B90D-6F0C9942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3448050"/>
            <a:ext cx="128930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9B141-1596-4E8E-86B7-46B45485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277350" y="30289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DF454-9F41-4BE1-A895-7D08BAC6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238500"/>
            <a:ext cx="695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3315C5-6BBB-4140-9186-CEE0D6D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3238500"/>
            <a:ext cx="6953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94F2B-956F-408C-817A-E930056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6343650" y="4324350"/>
            <a:ext cx="17907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DEAC5-FB9C-4D14-B482-7CF1382D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476750"/>
            <a:ext cx="1002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3A083-EE3B-41A7-81BC-49D38AC8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743450"/>
            <a:ext cx="128930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A00D3-36B2-4BD7-8139-93915D2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55816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似た構図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10BFC-56EF-45C3-873F-C8E197E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55816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長い本文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27E2D3-B5E3-4A83-9EE8-3766D921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55816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根拠の混在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E4DE5-231A-4240-8345-C19DBB4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0350" y="55816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4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弱い結論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877922-8A00-4612-B07D-84D5F5B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334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7BE2F-1A60-44FD-A289-9E42625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3959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CDE1C-FF1A-45E0-B3B0-42C8F244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WORST FUTURE / FAILURE LOOP</a:t>
            </a:r>
          </a:p>
        </p:txBody>
      </p:sp>
      <p:sp>
        <p:nvSpPr>
          <p:cNvPr id="2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3BD9E47C-A7B5-4760-8735-DB43C0D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このままでは修正と不信が増え、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AI導入そのものが止まる。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EAFC-BA8E-4DFF-965C-C2972B73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0">
            <a:off x="2895600" y="2571750"/>
            <a:ext cx="1428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9F37C-AF3B-4D03-BDDA-C1D1A4E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0">
            <a:off x="6858000" y="2571750"/>
            <a:ext cx="1428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BA101-30DD-42F1-BA1A-6CF58B1A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7372350" y="4000500"/>
            <a:ext cx="1428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D0373-FE9E-4C13-87E8-8945C4AD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0">
            <a:off x="2895600" y="4000500"/>
            <a:ext cx="1428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D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D311F-4AD4-419B-810C-9917048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24193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8C4E7-1031-4576-9744-07FAD67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18859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956B9-6256-42A5-81FD-449F43E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4193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根拠確認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5454-C57A-4716-92AD-39F35A33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19100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作り直し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72181-2DEC-44B4-982D-F60B746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143250"/>
            <a:ext cx="24384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B9B8C-645A-4DE0-96F1-6AB4CC4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143250"/>
            <a:ext cx="2438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8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導入停止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A111E-2863-4EBF-8741-81007843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9626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起こりうる失敗ループ：生成を完成と扱い、人の確認工程を持たない。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DC4EA-B7B2-49D5-A3E1-7209C74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8569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1677C-1B0D-4339-AE0C-C24D4BB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BEST FUTURE / DECISION LOG</a:t>
            </a:r>
          </a:p>
        </p:txBody>
      </p:sp>
      <p:sp>
        <p:nvSpPr>
          <p:cNvPr id="2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56104D05-982F-482B-AF01-865001D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反対に、判断が設計された資料は、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会議後の次の一手を生む。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6061F-643C-4105-A48E-E6A4F5F5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1981200"/>
            <a:ext cx="96774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FBB7D-54B8-4140-8A08-2EE7FFA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324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会議後の決定ログ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DA37C-431C-4595-A53E-78CF33CB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5450" y="272415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4CEC8-E4B0-4ECA-B113-D5ECE4C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決定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5A4F-2AF2-4E6C-A599-1825CDC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2971800"/>
            <a:ext cx="6553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CC361-0620-4961-B2DD-541A4559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9718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2週間の検証を開始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812D-F0CD-4C3F-8DCC-13BB7DDD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619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06C6A-AF4E-44F0-86E9-4F0429DF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543300"/>
            <a:ext cx="6553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DF610-9590-42BD-B2D8-B506B95A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5433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営業責任者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3F963-529D-4B47-808B-42D03CFB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19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Deadline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15A41-F8F0-46BF-8CB5-DA86B446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114800"/>
            <a:ext cx="6553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4F14F-2B4A-4637-BF30-2D5D330A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41148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次回会議まで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496DD-09C9-421B-A703-55F4B520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Next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9A22E-ACC8-45BA-897F-3ED73FC3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686300"/>
            <a:ext cx="6553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7B96C-9BEB-4242-AD6D-5BF89ECA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46863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対象業務を3つ選ぶ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22954-3FDC-41D6-9A93-F414D873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972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630E9-AFF3-440D-A999-7F76DF3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54673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架空例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30273-E241-47EB-BB3D-7DCA98F8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6019800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良い資料は「分かった」で終わらず、次の行動が残る。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76586-FB3D-4A13-8D63-8E856F72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1119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80C54-3E67-4585-A041-20C2DEC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REFRAME / DECISION DESIGN</a:t>
            </a:r>
          </a:p>
        </p:txBody>
      </p:sp>
      <p:sp>
        <p:nvSpPr>
          <p:cNvPr id="2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AE83971C-39F9-46B4-B246-75444544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プレゼンは、ページ制作ではなく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意思決定の設計である。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9D3A1-992D-43AE-96C8-F3AD2E1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85800" y="291465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DB3E4-35D3-4639-86DA-A3397B4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067050"/>
            <a:ext cx="118414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717BF-62EE-4378-994C-9E3DBC57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333750"/>
            <a:ext cx="152247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A889D-1AB9-45DC-B30B-2C95036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143000" y="321945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36F5F-BF4B-4C6A-9AF9-38AB840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429000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140DA-A14C-451B-9E8A-9EC3D59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429000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76DC9-728B-464F-89FC-655401B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600200" y="352425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1FF51-7998-4FEB-9152-AF366256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676650"/>
            <a:ext cx="118414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D7E41-033C-4487-964B-0C2F059F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943350"/>
            <a:ext cx="152247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4FDA9-3BFC-4EA1-9E02-73B55C5A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2057400" y="382905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D3587-C5A5-47F3-9A76-E4F0BF4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4038600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1B9CB-7C12-4E77-8E4D-A2804540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038600"/>
            <a:ext cx="85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A777E-85E9-4F97-8C18-4227323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2514600" y="413385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685B9-1179-49DC-97F9-269A7522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4286250"/>
            <a:ext cx="118414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C37FB-8CBA-43CC-AB02-0375FFA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4552950"/>
            <a:ext cx="152247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CF83F-9E28-4340-9516-9E0CF0C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3714750"/>
            <a:ext cx="16002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E4B9C-47DD-48A9-AD57-25AB3D04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31051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F3225-1F67-42B6-A661-1C198BD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6762750" y="352425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2CAF7-BA77-4BF5-A9C6-FE702A44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762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6D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比較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2ABF0-0DAF-4DBC-8B37-ECF1153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8058150" y="318135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3102A-70C2-4B53-85C7-14A40FC5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4003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納得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2F10F-4B97-416A-ADFD-B32300EB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9353550" y="281940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3E2F2-C747-42AD-B299-0A0E1842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20002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行動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2D5BC-4E4C-4F46-B74D-9BB6A7C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715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意思決定設計 = 相手が理解し、比べ、納得し、行動できる順に材料を置くこと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50C59-CFA6-46FA-BFA8-58545DEF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334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0B2F4-C140-4BCF-AB8B-1DEB3E88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1754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CA7E2-A2D4-4198-A543-40DD8130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MAP / HOW PEOPLE MOVE</a:t>
            </a:r>
          </a:p>
        </p:txBody>
      </p:sp>
      <p:sp>
        <p:nvSpPr>
          <p:cNvPr id="2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D2D77FC5-0FD0-4DE9-8352-D471C96D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相手は「理解・比較・納得・行動」の順に動く。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A7ACF-539C-4A63-9D4F-8F6A7416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2552700" y="3562350"/>
            <a:ext cx="1162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B4B67-53B4-427F-B5ED-560A3F17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990850"/>
            <a:ext cx="20002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2ED49-1DE1-4619-BDF9-B5D48086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162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49FB1-95A3-48B9-8A2D-9A43BBF7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4480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76E5E-8FA9-4BB7-833A-2D567F2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9052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>
                    <a:alpha val="86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FFFFFF">
                    <a:alpha val="86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何の話か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8A0D8-BA92-4A09-B540-065D94EE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5295900" y="3143250"/>
            <a:ext cx="1162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A3163-54DB-498D-BAF6-47739BB0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571750"/>
            <a:ext cx="20002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5276D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C05B2-0DAF-469A-AB2A-40C41B92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2743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7E0E0-0FF6-462D-B2D0-4C726888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0289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比較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7040E-9B87-4555-B5DE-DFEB648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4861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>
                    <a:alpha val="86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FFFFFF">
                    <a:alpha val="86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何が違うか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C0177-29CB-4883-8A39-9BF386E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8039100" y="2705100"/>
            <a:ext cx="1162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DD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3C5DE-9B93-4A23-9A8C-BC9CAA4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2133600"/>
            <a:ext cx="20002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9D034-1EFC-4356-90A1-4D221F5C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2305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CA7E2-AAEC-49CF-B83F-54E0E2B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25908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納得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66451-3CA7-44C6-85FF-6FFDCA30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0480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なぜ信じられるか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32B55-EA9F-4D73-9B07-E23CA3D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1676400"/>
            <a:ext cx="20002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4A205-DE5C-4939-BD20-F7691235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1847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BD6FC-E425-4734-8681-FD4607B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1336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3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行動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F2980-68B6-4C82-9081-5F33FBB9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590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>
                    <a:alpha val="86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FFFFFF">
                    <a:alpha val="86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次に何をするか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F2EB8-9AEA-4DB9-AA29-82A4FAB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5810250"/>
            <a:ext cx="849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AI導入提案なら：対象業務 → 現状との差 → 根拠 → 小さな検証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CEB25-C06D-4816-86DB-7967E237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2558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8C208-3F8E-4CC8-BFAA-74A1E52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STEP 1 / BRIEF</a:t>
            </a:r>
          </a:p>
        </p:txBody>
      </p:sp>
      <p:sp>
        <p:nvSpPr>
          <p:cNvPr id="2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B5630B68-64F0-447F-8FA8-B4FA9574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AIに頼む前に、読者・決定・根拠・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次の行動を固定する。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B282F-B524-4661-BF6D-4EAAB4C5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19300"/>
            <a:ext cx="6381750" cy="38290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2797C-10AF-468D-ACBA-F220A9B2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305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BRIEF / 4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C5574-2F83-41C5-8EF7-47915E8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8384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読者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0791C-D1E3-4CDA-B557-7D3C60BF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743200"/>
            <a:ext cx="4171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FCFC7-03A9-4CA9-96D2-C9336F8F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7432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誰が読むか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E1387-CE35-4210-B69A-E9586BFA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486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3F1FF-F82A-4EC0-B8A9-64177CD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390900"/>
            <a:ext cx="4171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2FF6D-2EB3-4B5C-B173-1C4B625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33909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何を決めてもらうか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8C3AF-200E-47CA-9DBB-34E39410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133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根拠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F5CCD-06A5-4430-A131-6C306AA7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038600"/>
            <a:ext cx="4171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E3CB6-2910-4FC4-92C6-3A210AFE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40386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何が信頼材料か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30C94-98E3-48AD-B82E-D4DA5C62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7815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次の行動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EA2FE-627F-486A-AC9F-0730D6B7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686300"/>
            <a:ext cx="4171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7E68B-A91A-4382-BE71-5AC4B6C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4686300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会議後に何をしてほしいか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0620F-3908-464D-B677-7D28F641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2514600"/>
            <a:ext cx="40005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85FFE-BAB2-4036-983C-5F167D05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00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COPY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8E8B2-EA47-43AC-A815-9ED0D6F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200400"/>
            <a:ext cx="3295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9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あなたはプレゼン編集者です。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次の4項目を質問し、曖昧な点を埋めてください。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読者／決定／根拠／次の行動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本文やスライドは、まだ作らないでください。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79415-7DC6-4690-89F5-B4A2669F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6201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E4AD2-6D5D-4325-84C2-D173A49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BRIEF / VAGUE VS SPECIFIC</a:t>
            </a:r>
          </a:p>
        </p:txBody>
      </p:sp>
      <p:sp>
        <p:nvSpPr>
          <p:cNvPr id="2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CC87C163-BB64-4A91-9DE5-442DA5C3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Briefが曖昧なら、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どれだけ良いプロンプトでも資料はぶれる。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C1A45-C21B-4988-AA2D-78AA631C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VAGUE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30625-6D2C-432F-8438-4E906B0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0"/>
            <a:ext cx="42481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B2DCF-C76B-4FA7-9805-B5A6FD5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143250"/>
            <a:ext cx="3486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8B8E9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8B8E94"/>
                </a:solidFill>
                <a:latin typeface="Hiragino Kaku Gothic ProN"/>
                <a:ea typeface="Hiragino Kaku Gothic ProN"/>
                <a:cs typeface="Hiragino Kaku Gothic ProN"/>
              </a:rPr>
              <a:t>経営者向けに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8B8E9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8B8E94"/>
                </a:solidFill>
                <a:latin typeface="Hiragino Kaku Gothic ProN"/>
                <a:ea typeface="Hiragino Kaku Gothic ProN"/>
                <a:cs typeface="Hiragino Kaku Gothic ProN"/>
              </a:rPr>
              <a:t>AIの提案資料を作る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F4302-60CB-4660-AAA2-F6950BA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381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読者も、決定も、場面も曖昧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B5CD3-9E48-44F1-A8EF-6195EC4E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3505200"/>
            <a:ext cx="11049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11171-0124-45A3-85EB-D980572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505A3-A101-4A51-8761-91158FF1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419350"/>
            <a:ext cx="443865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1F6F5-85A7-4959-963A-72990CC7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990850"/>
            <a:ext cx="36004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従業員30〜100名の経営者が、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問い合わせ対応で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2週間の試験導入を承認する提案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7C8E2-5CE7-47B0-94DF-B3B6ABE9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476750"/>
            <a:ext cx="2705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59715-D2C6-4991-9E10-7A82CA3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4767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判断条件が具体的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E762A-6D7B-4B0E-9F06-85C26D6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5810250"/>
            <a:ext cx="605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具体化するのは文章量ではなく、判断条件。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C562D-ED71-46E2-BABD-93F4F781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0142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33746-19F3-40A3-8382-D1AA867F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STEP 2 / GHOST DECK</a:t>
            </a:r>
          </a:p>
        </p:txBody>
      </p:sp>
      <p:sp>
        <p:nvSpPr>
          <p:cNvPr id="2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5096C78B-36BA-4233-80FD-767983A6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最初に作るのは本文ではなく、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タイトルだけのGhost Deckである。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84326-9A73-4125-80B0-89392661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6572250" y="1504950"/>
            <a:ext cx="3714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9FBAE-AB1C-4D8D-B49F-5E1417E9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1676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81948-A0C8-4AC9-9E3E-F7CDCB3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7145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問題を特定する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DAFE8-F40C-44B0-B607-B9C78E6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000875" y="2247900"/>
            <a:ext cx="3714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5FFFF-D130-49C4-A9D1-10FC1C5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2419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CF944-ECC6-4007-A2F4-FB67FF9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4574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原因を絞る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C4739-5EC8-47C7-A3F6-58318B1A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429500" y="2990850"/>
            <a:ext cx="3714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0AAE2-A5BC-4CCC-9C9E-52138E4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3162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C046-5618-4303-8383-01E106B2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32004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見方を変える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E0E0D-B036-43EB-8B42-604E1D9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3733800"/>
            <a:ext cx="3714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9DC8A-5E9E-4498-9429-0E7A4EC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3905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1C977-919D-42BC-936F-314B39A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6325" y="39433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根拠を示す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15305-9A33-44E1-9A1C-CC70703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286750" y="4476750"/>
            <a:ext cx="3714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0BD66-B397-4993-B557-04ACBE0A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4648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FA5E5-B618-45A8-854A-08DF0326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6863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今日の行動を決める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C3B3-F737-4232-9993-5E1CF4C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00350"/>
            <a:ext cx="48387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3C3C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C4C3D-2A00-4E0B-B219-4D44201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105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COPY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913B2-EC8E-466D-8452-A3B57A39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524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Briefを基に、結論タイトルだけで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12〜20枚の流れを作ってください。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本文・画像・レイアウトは、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まだ作らないでください。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F88D3-2818-48A9-9BB3-E213C157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334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A8682-61EA-45B3-8348-27CBA084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13658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28C6D-DC49-4BCF-9B56-F36D6C5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GHOST DECK / PASS-FAIL TEST</a:t>
            </a:r>
          </a:p>
        </p:txBody>
      </p:sp>
      <p:sp>
        <p:nvSpPr>
          <p:cNvPr id="2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A906708D-677D-471A-B3CF-527AC8A4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タイトルだけで話が通れば、本文は短くできる。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64D84-38BB-4DD9-ABC9-03A5ED86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7400" y="2133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5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97991-F29A-431D-9A72-18F48BF2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1FFB8-0D20-4C61-AE4C-4ECB0DD2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2038350"/>
            <a:ext cx="7239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3E388-E457-4113-9314-8965DAB6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038350"/>
            <a:ext cx="674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問い合わせ対応に時間がかかっている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CC58E-E0A1-44E7-BF44-51F2B4A0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838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451B-2340-470D-86E1-48DC2A6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2724150"/>
            <a:ext cx="7239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62A45-0164-41A3-A232-514066D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724150"/>
            <a:ext cx="674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原因は定型質問の繰り返しにある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6B0EB-6433-46AD-A9D9-1C5C13F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F7D0C-EBA0-4A8B-81A8-4C4AC171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409950"/>
            <a:ext cx="7239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855C9-E651-4D67-BBD8-273FD096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409950"/>
            <a:ext cx="674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AIは一次回答だけを担当できる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1FC8E-D09F-4B4E-B481-DB3518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4210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FC330-6DE7-4DEF-8535-2F16C8CC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4095750"/>
            <a:ext cx="7239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FFF46-5101-41FD-9908-CBDA8C22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4095750"/>
            <a:ext cx="674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まず2週間、FAQ上位10件で検証する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CCBC6-D402-4A0D-B7BE-7F501F0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4895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A8896-392C-4273-B472-4230264C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4781550"/>
            <a:ext cx="7239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A21A8-DD19-4E80-A8E9-21A6C3EA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4781550"/>
            <a:ext cx="674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本日決めるのは担当者と開始日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63D56-47D8-4EC1-AF35-D51B854E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2038350"/>
            <a:ext cx="1390650" cy="327660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BABC6-A0C4-49C6-8ED3-8D1010A1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2762250"/>
            <a:ext cx="1009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0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縦に読んで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因果が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つながるか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6647E-168C-4518-B230-5A03BEC0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4838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6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架空例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1A23E-E8A5-4CA8-8791-14751DAB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09206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928D3-5B3A-45B2-96C2-08E57072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STORY / BUILD PRESSURE</a:t>
            </a:r>
          </a:p>
        </p:txBody>
      </p:sp>
      <p:sp>
        <p:nvSpPr>
          <p:cNvPr id="2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8E42995E-9EE8-43C0-92ED-ED34CE63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物語は「現状・問題・転換・根拠・行動」の順に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圧力をつくる。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6EB0F-9A59-4515-8902-1347FEC2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4950" y="4152900"/>
            <a:ext cx="16954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FC3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A97EE-6234-487B-9C62-98B3822E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657600" y="3486150"/>
            <a:ext cx="169545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57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1002A-5D02-47C9-9C80-1FB32B2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5810250" y="2800350"/>
            <a:ext cx="169545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FC3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70DFB-8057-499A-B211-23A18BEA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7962900" y="2114550"/>
            <a:ext cx="169545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FC3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0DB8D-DAE3-4BF1-9B8B-62D9D94B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957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666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BF2BE-3928-4A4E-B869-F254593A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8768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共有できる事実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46C56-98B8-417F-B931-5C07F030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41148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6CCEB-EBB3-4817-8007-FA32F23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52959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放置する損失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1715C-77DE-4225-8E4B-80411E0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0289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転換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DB2FB-1D57-4F26-BB00-21781220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42100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見方を変える一文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6D6E4-EDE2-47D9-88D9-D6B50BD4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23431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6D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根拠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840A9-5D6A-430D-BC56-CFEDC486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3524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信じる材料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877B5-9309-4B8E-8D88-6C778822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6573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70F90-0E7C-4A66-83E9-CFA27822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28384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今日決めること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9B74C-CEDB-4468-980A-436EF1B5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5810250"/>
            <a:ext cx="63246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6542D-9D47-48C9-B807-E17C9A78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5810250"/>
            <a:ext cx="594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「圧力」は不安を煽ることではなく、次を知る必要を作ること。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0F582-F658-4FC3-9362-7952A39B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19253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2B895-4C2A-4F7F-8B43-D7AE0C82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COPY / TAKEAWAY TITLES</a:t>
            </a:r>
          </a:p>
        </p:txBody>
      </p:sp>
      <p:sp>
        <p:nvSpPr>
          <p:cNvPr id="2" name="slide-title-15">
            <a:extLst xmlns:a="http://schemas.openxmlformats.org/drawingml/2006/main">
              <a:ext uri="{FF2B5EF4-FFF2-40B4-BE49-F238E27FC236}">
                <a16:creationId xmlns:a16="http://schemas.microsoft.com/office/drawing/2014/main" id="{FB2E6CF4-A3A6-49C4-A414-851166C1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タイトルには話題ではなく、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読み手が持ち帰る結論を書く。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5F0C6-92CE-4F3F-9A95-7980D323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86000"/>
            <a:ext cx="10439400" cy="2990850"/>
          </a:xfrm>
          <a:prstGeom xmlns:a="http://schemas.openxmlformats.org/drawingml/2006/main" prst="roundRect">
            <a:avLst>
              <a:gd name="adj" fmla="val 5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92CB1-ED21-48AE-ACC7-11ED977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667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TOPIC TITLE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CCDF3-B6E0-47D6-ACC3-A34C5B2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086100"/>
            <a:ext cx="3581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7A29F-A165-4FAB-B57B-8241BA06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086100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AI導入の現状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0C12C-D12F-482C-A10D-FA420F7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352800"/>
            <a:ext cx="1295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2C506-16FD-4C6E-B8D5-C51E73E6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TAKEAWAY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5F5E4-DCB4-4F8E-AFDD-FD25920E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02895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B7100-0955-4850-A7F6-6E69BA0B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219450"/>
            <a:ext cx="346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問い合わせ対応から始めると、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小さく検証できる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BD362-540D-4E9E-858C-58F4B50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455295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主語 + 変化 / 判断 + 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5AB91-7313-4D15-A66E-26D0BD7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5772150"/>
            <a:ext cx="586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タイトルだけで「だから何？」に答えているか。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9D5A1-96E4-4C7E-B3A2-36DE9CAF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38194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39A4C-BEC5-4A0C-B99C-1AA5288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FOCUS / ONE SLIDE, ONE CLAIM</a:t>
            </a:r>
          </a:p>
        </p:txBody>
      </p:sp>
      <p:sp>
        <p:nvSpPr>
          <p:cNvPr id="2" name="slide-title-16">
            <a:extLst xmlns:a="http://schemas.openxmlformats.org/drawingml/2006/main">
              <a:ext uri="{FF2B5EF4-FFF2-40B4-BE49-F238E27FC236}">
                <a16:creationId xmlns:a16="http://schemas.microsoft.com/office/drawing/2014/main" id="{1945795E-EA40-4804-AF77-D5CAD59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1枚に1つの主張を守ると、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視線の行き先が1つになる。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822B0-E6FB-437C-A146-F0E237D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171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01973-684D-4474-A199-75F3D40D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552700"/>
            <a:ext cx="4476750" cy="2628900"/>
          </a:xfrm>
          <a:prstGeom xmlns:a="http://schemas.openxmlformats.org/drawingml/2006/main" prst="roundRect">
            <a:avLst>
              <a:gd name="adj" fmla="val 5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47EC9-5724-48F2-96C1-334DCE3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876550"/>
            <a:ext cx="152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56F3E-DE32-4914-A3F7-70D86F01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8765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結論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37DC5-0E23-455F-82D7-C33A10AC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838450"/>
            <a:ext cx="16573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F679-684D-44D5-9ABB-4C180A0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8384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例外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F4F58-FD82-4985-938D-167B8944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" y="3924300"/>
            <a:ext cx="2114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875B7-28EF-446D-B57A-2C07A4E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" y="392430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次の行動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16E64-B2F7-4E25-8265-8C972D90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4000500"/>
            <a:ext cx="1066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D1165-473F-4B33-A700-AA6F8796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40005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補足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593A1-F6C9-4B5D-B890-DB8E922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1981200" y="3219450"/>
            <a:ext cx="118110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947E2-75C3-43F1-9CD3-2EE932F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162300" y="3200400"/>
            <a:ext cx="104775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9A0AA-6C5E-4912-8375-03FCE076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476500" y="3714750"/>
            <a:ext cx="6858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07DAD-A986-4EE2-8DCD-7BCF633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3714750"/>
            <a:ext cx="12573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3B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84F28-A064-4434-B1F5-00B97658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2171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A285D-9343-4DF1-856E-60555B9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2552700"/>
            <a:ext cx="4514850" cy="2628900"/>
          </a:xfrm>
          <a:prstGeom xmlns:a="http://schemas.openxmlformats.org/drawingml/2006/main" prst="roundRect">
            <a:avLst>
              <a:gd name="adj" fmla="val 5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09D98-3010-4A0F-A085-0017744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990850"/>
            <a:ext cx="3486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BC412-C567-4B21-A4DF-71AABF54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990850"/>
            <a:ext cx="3486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7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結論は1つ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9EF43-108C-4C5D-8182-C6081EE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2862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支える情報は、結論に従属させる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0BFD3-553A-4D70-B759-85636174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5791200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2つの「だから何？」があるなら、2枚に分ける。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5B6F9-BAAD-4501-888D-34E34F2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06893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58956-A6B6-4459-855A-3CFB41B3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EVIDENCE / SO WHAT?</a:t>
            </a:r>
          </a:p>
        </p:txBody>
      </p:sp>
      <p:sp>
        <p:nvSpPr>
          <p:cNvPr id="2" name="slide-title-17">
            <a:extLst xmlns:a="http://schemas.openxmlformats.org/drawingml/2006/main">
              <a:ext uri="{FF2B5EF4-FFF2-40B4-BE49-F238E27FC236}">
                <a16:creationId xmlns:a16="http://schemas.microsoft.com/office/drawing/2014/main" id="{560F3107-08B3-4856-8F12-DB8D7C22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根拠は数字を置くだけでなく、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「だから何か」まで示す。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7D577-D80D-46A6-8EEE-895806D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4861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B45D8-CA53-42C3-954E-1CC0B24D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4775" y="34861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95E3B-29A1-4CE3-A89B-5368E4F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343150"/>
            <a:ext cx="3124200" cy="2838450"/>
          </a:xfrm>
          <a:prstGeom xmlns:a="http://schemas.openxmlformats.org/drawingml/2006/main" prst="roundRect">
            <a:avLst>
              <a:gd name="adj" fmla="val 604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5290-F59E-4B12-883C-CC98244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26479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912A9-6243-4DCC-A2D1-F1F70F4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3718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次回は価格説明より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セキュリティ確認を優先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43CD1-DFDD-4873-8FDF-293CDA5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343150"/>
            <a:ext cx="3124200" cy="2838450"/>
          </a:xfrm>
          <a:prstGeom xmlns:a="http://schemas.openxmlformats.org/drawingml/2006/main" prst="roundRect">
            <a:avLst>
              <a:gd name="adj" fmla="val 6040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C973-48C7-4916-9A45-8DDE6001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6479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E0841-03C6-4EA2-A26C-95B8D21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3718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稟議コメントの未確認事項が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セキュリティ欄に集中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40B4C-403E-4635-B9B6-54F2781F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343150"/>
            <a:ext cx="3124200" cy="2838450"/>
          </a:xfrm>
          <a:prstGeom xmlns:a="http://schemas.openxmlformats.org/drawingml/2006/main" prst="roundRect">
            <a:avLst>
              <a:gd name="adj" fmla="val 6040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2FCF7-14A6-410B-95B8-79A8FFB3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6479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3C0C8-98AE-48E6-8CFF-7C5935C1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3718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決裁停止の原因に合わせて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会議の議題を変える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1177B-90F3-4607-9A55-DD92902F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5334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架空例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13F5D-EDA2-4265-BA63-D659FD1F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334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76B93-F8E6-4D9B-A5FE-65066CB8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851727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B74CB-0B3B-4948-B5C2-BD6FEC85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STEP 3 / SLIDE SPEC</a:t>
            </a:r>
          </a:p>
        </p:txBody>
      </p:sp>
      <p:sp>
        <p:nvSpPr>
          <p:cNvPr id="2" name="slide-title-18">
            <a:extLst xmlns:a="http://schemas.openxmlformats.org/drawingml/2006/main">
              <a:ext uri="{FF2B5EF4-FFF2-40B4-BE49-F238E27FC236}">
                <a16:creationId xmlns:a16="http://schemas.microsoft.com/office/drawing/2014/main" id="{74F42335-EE51-4394-800F-3A6D2FF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Slide Specが、各ページの主張・根拠・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見せ方・出典を固定する。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1646A-8098-47AF-BF42-473AD5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981200"/>
            <a:ext cx="8477250" cy="40195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6473-EABA-45CA-B9C0-5D9C4ABD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247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SLIDE SPEC /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7CA93-D19E-42C1-88DB-9D9A8C6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67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Title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F4BD4-FF5D-40C1-B742-F832C6BA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609850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14720-2558-433B-86E1-674B4C3F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60985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読み手が持ち帰る結論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815DF-9F58-4EC1-B1A8-52A7A526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38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Narrative job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856DA-D0E5-4038-ACA4-4E0DBF5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981325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B9FD3-7B3F-41A5-9A26-D7BB3CD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981325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このページが物語で担う役割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CA3C5-AD0E-4C05-882A-F4BCFDD0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409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Visible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9D607-8F99-41D6-BE45-F1A73BF7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3352800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27905-30B9-4899-94BA-DDD72648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335280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画面に残す情報だけ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BB56D-CC80-4849-92E6-B246A85F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781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1C728-F092-4D56-ACB6-B2E85AD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3724275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3E64A-72A8-4CF8-B2AB-065351AE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3724275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主張を信じる材料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1D71D-8E03-4027-976F-AC1D3B3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152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Visual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1E7BC-C465-4570-A697-D848DCB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095750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59C14-FFF2-4EDA-9873-EFDE586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09575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HERO / CONTRAST / PROCESS / EVIDENCE /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C38D0-32B9-463A-AE52-DB5EEB9C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524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35678-7E4F-4C52-8EE2-F41EBB4D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467225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48E05-1E8F-436E-8ECC-454380F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467225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情報の重心と視線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61AE9-9F47-4CEE-BABE-6BA89E55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895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12F75-D308-4062-96BC-C554EB6C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838700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B6418-6B0D-4B9F-92D3-45D432DA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838700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出典URL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B544D-BFF4-4F42-84F5-C0E37C2E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267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QA 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F89FC-7006-430A-BB4D-C4D6FF83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5210175"/>
            <a:ext cx="5981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226FD-3986-457A-BD93-6EE86736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5210175"/>
            <a:ext cx="567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切れ・重なり・誤認の危険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45F62-8FCC-47D8-83BB-7A7E8539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525000" y="266700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DC759-D561-494A-9943-E982E6B3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2857500"/>
            <a:ext cx="88011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590A6-69B2-4176-B4BA-B794570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4660" y="28956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B5638-B696-40AE-B983-A8CA010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4660" y="31813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55E8F-5A46-4527-B67A-D2F15AE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32385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06E0C9-24A7-446A-8632-8E5CAED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421005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作り始める前に、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完成条件を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言語化する。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354939-D398-467A-97CC-8E9F6479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945912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3EE8F3-BFEA-4DD3-B4C1-55AC7F2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VISUAL / FIVE TYPES</a:t>
            </a:r>
          </a:p>
        </p:txBody>
      </p:sp>
      <p:sp>
        <p:nvSpPr>
          <p:cNvPr id="2" name="slide-title-19">
            <a:extLst xmlns:a="http://schemas.openxmlformats.org/drawingml/2006/main">
              <a:ext uri="{FF2B5EF4-FFF2-40B4-BE49-F238E27FC236}">
                <a16:creationId xmlns:a16="http://schemas.microsoft.com/office/drawing/2014/main" id="{00EA3DED-62EB-489B-B340-A24BC884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見せ方は、主張に合わせて5つの型から選べる。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FDC3B-B375-4CF8-A73B-54511732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381250"/>
            <a:ext cx="24193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5499F-3D58-41FC-8BCA-79D2842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533650"/>
            <a:ext cx="135483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944F8-112E-4006-9470-F4C1F1C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800350"/>
            <a:ext cx="174193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3A1F7-82D0-4B76-9594-47E2543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5910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1CA72-332A-4740-A7B0-C7959AB9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48768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結論を記憶させる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EEB8A-A74D-48C4-9363-85A529CA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2800350"/>
            <a:ext cx="19812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95D76-A664-4566-BEFF-7941161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3009900"/>
            <a:ext cx="790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FB3AA-2EC9-4CAB-A082-CF239FA6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3009900"/>
            <a:ext cx="7905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4B6E-83D5-42DC-803E-F09BEEA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4648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01086-AA4C-45AA-A8EC-46FB07BC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49339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違いを判断させる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B6A43-421A-47FF-B040-A2B5A88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2381250"/>
            <a:ext cx="1981200" cy="2000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2CDBB-8913-4C3D-A893-C6EF209A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CBB60-4A03-40BE-A238-C618D63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324225"/>
            <a:ext cx="581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C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F0A0D-5DF4-4260-A143-9BBE8CFB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ACE4C-659F-4BA8-A44F-914507AD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3324225"/>
            <a:ext cx="581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C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10D0F-DB9E-4575-9690-B0B7F082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3267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C5995-B3A8-4C7E-9C06-1CDC47A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45910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AEDDC-DBAC-4638-8A97-68E27525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48768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順序を理解させる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879E8-48C6-45E5-8136-628B0B5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857500"/>
            <a:ext cx="19812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14EAD-761C-4795-BD2A-099B2BB7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048000"/>
            <a:ext cx="83210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702AA-5870-4158-BB5D-D5B46309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3074" y="3086100"/>
            <a:ext cx="6339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88D83-1175-42B1-83A7-2739C66B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3074" y="3371850"/>
            <a:ext cx="7924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27768-A950-4598-97F4-ED811185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4648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76D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5276DF"/>
                </a:solidFill>
                <a:latin typeface="Hiragino Kaku Gothic ProN"/>
                <a:ea typeface="Hiragino Kaku Gothic ProN"/>
                <a:cs typeface="Hiragino Kaku Gothic ProN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8F7B6-5E47-41E7-AF37-A95879A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49339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根拠を信じてもらう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51C69-7184-46AA-91F0-05372B76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190750"/>
            <a:ext cx="1828800" cy="21907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A0013-B3B8-47D5-942D-BE76292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381250"/>
            <a:ext cx="1447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8CB7B-2ABB-4955-80AD-678A752B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0390" y="4095750"/>
            <a:ext cx="5486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56193-828C-4AAC-8A64-866E9AB7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45910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1A667-9C51-4FEC-86FE-702C44CB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48768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その場で使わせる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931641-F894-439C-9584-B8685EA6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59626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先に型を選び、あとから内容を詰める。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7A5B4-BCE2-4136-B7E5-A189A36D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262458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466c81a514e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8D24F-F7F3-4002-BCD0-D68BC1BA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EA3D1-7468-46F5-8FF4-15561A4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00050"/>
            <a:ext cx="11277600" cy="5924550"/>
          </a:xfrm>
          <a:prstGeom xmlns:a="http://schemas.openxmlformats.org/drawingml/2006/main" prst="roundRect">
            <a:avLst>
              <a:gd name="adj" fmla="val 3215"/>
            </a:avLst>
          </a:prstGeom>
          <a:solidFill xmlns:a="http://schemas.openxmlformats.org/drawingml/2006/main">
            <a:srgbClr val="FFFFFF">
              <a:alpha val="92000"/>
            </a:srgbClr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" name="slide-title-20">
            <a:extLst xmlns:a="http://schemas.openxmlformats.org/drawingml/2006/main">
              <a:ext uri="{FF2B5EF4-FFF2-40B4-BE49-F238E27FC236}">
                <a16:creationId xmlns:a16="http://schemas.microsoft.com/office/drawing/2014/main" id="{09C085D8-14B0-49D3-AE8D-405F20E8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6858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背景画像は、雰囲気ではなく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理解を助ける舞台として使う。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8dc6fa7c74a05"/>
          <a:srcRect xmlns:a="http://schemas.openxmlformats.org/drawingml/2006/main" l="10551" t="0" r="105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343150"/>
            <a:ext cx="2857500" cy="2038350"/>
          </a:xfrm>
          <a:prstGeom xmlns:a="http://schemas.openxmlformats.org/drawingml/2006/main" prst="roundRect">
            <a:avLst>
              <a:gd name="adj" fmla="val 654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611CA-E656-46AC-8C8B-E611619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343150"/>
            <a:ext cx="28575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000000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F5827-718F-488E-958C-906F79DB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995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1597D-F12B-4B53-99A8-D2D9FF3B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3143250"/>
            <a:ext cx="2019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ただ未来的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ただ綺麗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ただAIらしい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D812E-AD38-448D-B981-2A87C5C9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2343150"/>
            <a:ext cx="66675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59740-7483-4F0B-944C-00AD931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995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748F8-8F79-4639-9D60-69383B2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590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会議の緊張を見せる背景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EA18E-3F6C-4865-9395-9F25E3CE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200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69611-E826-4092-9576-0D3DB30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657600"/>
            <a:ext cx="4953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EE7AE-873A-4DD0-B0C3-E5DBD8FE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6576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判断シートを前景に置く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AA0BA-0173-47D2-A94D-509ED5B5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5619750"/>
            <a:ext cx="678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場所・人物・状況が、主張の理解に必要なときだけ使う。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DB1D8-865D-4AE6-A718-CE64844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5314678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9e00e31664e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54779-D889-4DD0-A066-414B019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EC6B9-D3F1-4D3C-89FE-4384AC4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00050"/>
            <a:ext cx="111252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" name="slide-title-21">
            <a:extLst xmlns:a="http://schemas.openxmlformats.org/drawingml/2006/main">
              <a:ext uri="{FF2B5EF4-FFF2-40B4-BE49-F238E27FC236}">
                <a16:creationId xmlns:a16="http://schemas.microsoft.com/office/drawing/2014/main" id="{751CCDEE-F8BC-45BF-AD33-53C303E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143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背景画像の上には前景モックを置き、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3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文字の居場所をつくる。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52E6F-0556-46A0-A717-EA091C08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81050" y="2152650"/>
            <a:ext cx="3600450" cy="3162300"/>
          </a:xfrm>
          <a:prstGeom xmlns:a="http://schemas.openxmlformats.org/drawingml/2006/main" prst="roundRect">
            <a:avLst>
              <a:gd name="adj" fmla="val 54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1EEF4-2DC6-4FBB-B1EB-666D8E3B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PAPER MOCK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6845B-869E-4932-BCD6-646E7655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9908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説明・結論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8569-5697-4288-AA9F-8A43F0CE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7528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写真は舞台。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文字は情報面。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2DF19-3260-435F-9EB2-8F0149C2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591050" y="2343150"/>
            <a:ext cx="417195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83C88-21A1-4207-A457-AD4CF3D8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343150"/>
            <a:ext cx="41719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0C81A-A194-4485-A05A-4EA09ED0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476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FA69C-DF70-4FB4-900B-564CDCAC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476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AC0D2-B1CE-44F8-89F7-5ADC0507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476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A15ED-9C90-4F7F-A7CE-21632E7E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028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BROWSER MOCK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AFED1-D3BD-42EA-824D-896E18F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352425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2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プロンプト・操作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69253-C04D-4A0A-BA63-72FEB77C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4210050"/>
            <a:ext cx="3219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04413-0070-492D-AB7F-03D5ED09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42100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編集可能な入力欄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1F48F-FA3C-453B-AF73-D9A62CB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182100" y="2381250"/>
            <a:ext cx="1981200" cy="31242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551EF-1EF7-404A-B21D-540886A7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2609850"/>
            <a:ext cx="1676400" cy="264795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31598-A554-4E5A-BA1F-B05F3DA2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2914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5181F-B7A7-48E9-B2BB-827CBC8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348615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閲覧体験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75BAF-D98A-4051-A99B-99834BDE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437104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21D88F-7D9F-4E5D-985A-7203B49B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RHYTHM / VARY THE SILHOUETTE</a:t>
            </a:r>
          </a:p>
        </p:txBody>
      </p:sp>
      <p:sp>
        <p:nvSpPr>
          <p:cNvPr id="2" name="slide-title-22">
            <a:extLst xmlns:a="http://schemas.openxmlformats.org/drawingml/2006/main">
              <a:ext uri="{FF2B5EF4-FFF2-40B4-BE49-F238E27FC236}">
                <a16:creationId xmlns:a16="http://schemas.microsoft.com/office/drawing/2014/main" id="{DDAE7F17-CBFB-4EB1-B844-1E03C3A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同じレイアウトを繰り返さず、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主張に合わせて画面の形を変える。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BD946-CC38-47AD-8A4F-BFF08831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666750" y="2990850"/>
            <a:ext cx="1790700" cy="2000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DD822-13E3-4839-8DFC-78767345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143250"/>
            <a:ext cx="1002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8B313-7CF6-482E-89B9-C6651A15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409950"/>
            <a:ext cx="128930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1389F-90F0-4766-AAC3-268B63FE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2381250" y="3105150"/>
            <a:ext cx="1905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A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EF8B7-E828-4EB3-94B7-B87C6B21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476500" y="2381250"/>
            <a:ext cx="1714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F3F43-DF99-4CDA-B56C-9C515A90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590800"/>
            <a:ext cx="657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C7AA9-3D1D-4FB2-906D-5900414B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590800"/>
            <a:ext cx="6572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C638B-0520-49C5-BF6E-71C8D294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4800" y="3105150"/>
            <a:ext cx="24765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A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F2E8E-887A-4DB7-B039-52D7072B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4267200" y="2914650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21699-CC8F-440B-8CA5-7A00BBF6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C4B50-DFDA-4F5F-A7F9-7DC89AE2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790950"/>
            <a:ext cx="523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C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7DAF6-9CFA-4E9D-8388-82AEFA3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07E7B-2699-42DB-B75D-D61AF376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790950"/>
            <a:ext cx="5238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C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C33A2-A42C-4E66-8264-65899C11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1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58F2C-D598-4946-9466-E9E53E4D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6057900" y="3009900"/>
            <a:ext cx="22860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A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CB64E-A39E-4D12-845F-9CC3ED18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6191250" y="2209800"/>
            <a:ext cx="17526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575AA-7B4C-4E67-A9DB-DD382BB9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2400300"/>
            <a:ext cx="736092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071B5-0924-4A2A-9A15-8896D30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2602" y="2438400"/>
            <a:ext cx="5608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A5152-F314-4AF4-BEB2-F2D7E517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2602" y="2724150"/>
            <a:ext cx="70104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89406-1E43-4780-ADB8-F566A380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7650" y="3009900"/>
            <a:ext cx="24765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A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1EE95-5465-400B-AA9E-7B6677C6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8020050" y="2857500"/>
            <a:ext cx="1676400" cy="20764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AE179-1220-44C4-A7B1-77D37BF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048000"/>
            <a:ext cx="12954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9C9C2-58B5-4B8E-8512-E549ED1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070" y="4648200"/>
            <a:ext cx="5029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FFBB5-7264-4B68-B4CE-99B26D15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9620250" y="2924175"/>
            <a:ext cx="247650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BA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3EA12-719C-4B98-B633-D87149C5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772650" y="20764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E7EFB-A3B9-410B-B74A-C7A8D6F1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228850"/>
            <a:ext cx="100279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2A591-E318-4E04-AF80-0A075C5F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495550"/>
            <a:ext cx="128930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549C20-1589-42BB-909B-EBF5A7E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5753100"/>
            <a:ext cx="598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色を変えるのではなく、情報の形を変える。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B072C3-8A34-41E5-8CAC-9298884A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262976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A9DD4-0FE0-439A-981B-C24AEF6B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COLLABORATION / AI × HUMAN</a:t>
            </a:r>
          </a:p>
        </p:txBody>
      </p:sp>
      <p:sp>
        <p:nvSpPr>
          <p:cNvPr id="2" name="slide-title-23">
            <a:extLst xmlns:a="http://schemas.openxmlformats.org/drawingml/2006/main">
              <a:ext uri="{FF2B5EF4-FFF2-40B4-BE49-F238E27FC236}">
                <a16:creationId xmlns:a16="http://schemas.microsoft.com/office/drawing/2014/main" id="{4E07F1EC-866C-4BA4-B4B6-7F6D298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AIには候補と速度を任せ、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人は目的・事実・優先順位を持つ。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A3D19-C6CF-444A-9FEF-6C8E07E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247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F8CE7-930F-4349-92D5-BCA4A979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HUMAN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311A9-0504-434D-8BD8-F082576B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9750" y="247650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28CAD-1A56-47A8-B08D-AF8059A1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9750" y="4533900"/>
            <a:ext cx="941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7C6D7-864E-43A0-8DA6-F639BF5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27241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D1C40-D5BE-4F46-AAED-3DB3536E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27241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タイトル候補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0B522-DC5F-4B6E-891E-54D6E4E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29432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B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0E1BC-F2FC-430B-AFAD-8A7B60A4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47434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1F837-75C0-4273-8F34-9E26072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47434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目的を決める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84A9A-D160-4984-B6AE-A824443E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73380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33326-C238-4976-A446-C62A14F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4248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承認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CA50B-0508-440C-B2AA-D142B977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7241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A55F8-F449-459B-ACB6-D36D5DA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7241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構成案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78DB5-2048-4466-A185-90B04B0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29432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B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E9F75-9AD9-48B7-AD91-29E11D9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7434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5B8EE-BC23-493C-9C5B-FBA16EDE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47434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事実を確認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BACCD-70EC-4CFB-BDCC-1235F249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373380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FF55F-24DE-4E9E-903E-318D8083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248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承認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6ED34-ED53-4685-8A8F-015D1060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7241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C543B-5205-4698-805B-9A39725B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7241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表現の短縮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214AC-82C3-405A-B99F-A3509A0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94322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B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8A171-D999-4465-9633-9623969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7434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8446A-8EA0-444D-B324-CFA64A91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7434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何を削るか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F3DAE-A414-461E-B414-9FB2D5D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73380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1B8614-C016-4C18-A7D8-115F5D71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4248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承認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43933B-A150-44FA-999F-51A2CEC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27241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418EB-B780-4642-86CC-C6872A6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27241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ビジュアル案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3A73C-F31E-430D-B040-AB06409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7434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DF893-60D9-4F03-A0A5-42C51542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7434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最終承認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0D028-0F27-4DA2-86B8-582CD56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60198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生成は委任できる。責任は委任しない。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38C7F-DC78-4F93-85D3-A09253AA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792626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A50726-802D-4AAD-A0D7-EA75DA97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WORKFLOW / FIVE STAGES</a:t>
            </a:r>
          </a:p>
        </p:txBody>
      </p:sp>
      <p:sp>
        <p:nvSpPr>
          <p:cNvPr id="2" name="slide-title-24">
            <a:extLst xmlns:a="http://schemas.openxmlformats.org/drawingml/2006/main">
              <a:ext uri="{FF2B5EF4-FFF2-40B4-BE49-F238E27FC236}">
                <a16:creationId xmlns:a16="http://schemas.microsoft.com/office/drawing/2014/main" id="{19C94C36-02C3-4BA7-86FF-AE94856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制作はBrief、Ghost Deck、Slide Spec、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Visual、QAの順に進める。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DD3A9-70C2-4698-A937-F7831B76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47950"/>
            <a:ext cx="19431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9F832-4B11-46BA-9F90-661A4430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800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72174-E617-4EC5-8044-4AA1469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1623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137E7-C9C8-49FD-A912-DF1C5DD7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19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読者と決定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BFBFB-6A75-4B85-8409-F1A52ABE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31242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610D5-E312-486E-85E4-FD2105F1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4248150"/>
            <a:ext cx="45720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8E6E1-D704-47DE-B21A-ADAF84A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7815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4C54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F4C542"/>
                </a:solidFill>
                <a:latin typeface="Hiragino Kaku Gothic ProN"/>
                <a:ea typeface="Hiragino Kaku Gothic ProN"/>
                <a:cs typeface="Hiragino Kaku Gothic ProN"/>
              </a:rPr>
              <a:t>人が承認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66128-BF6A-4044-A2EF-FFDFEA3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647950"/>
            <a:ext cx="19431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60F9D-F5EC-4289-A577-917331F4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800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0A202-F337-4FC2-A344-50543E66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1623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Ghost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00C22-985F-495E-85D4-A6DAD0D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619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タイトルで物語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9FBDC-42AE-438E-9DA5-8B4A2D55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1242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8CEBE-24A2-4A22-BD88-E15C403B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4248150"/>
            <a:ext cx="45720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78EA9-3680-42C7-A8DB-05911D3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47815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4C54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F4C542"/>
                </a:solidFill>
                <a:latin typeface="Hiragino Kaku Gothic ProN"/>
                <a:ea typeface="Hiragino Kaku Gothic ProN"/>
                <a:cs typeface="Hiragino Kaku Gothic ProN"/>
              </a:rPr>
              <a:t>人が承認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B8048-99BC-4E31-B0BC-0D9F6595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647950"/>
            <a:ext cx="19431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24DEB-7EB2-46BE-80EC-1108B9E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800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D61E6-B102-49EB-BCF0-49618C06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1623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Slide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E66E2-EFF1-4F55-A501-06F35F01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619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根拠と見せ方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C16F0-0184-47C5-A0E3-79DD369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1242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BE56E-2CB8-4162-AADF-3F5A4F00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4248150"/>
            <a:ext cx="457200" cy="457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DEF75-1B1A-4A02-A398-5B42988C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47815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4C542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F4C542"/>
                </a:solidFill>
                <a:latin typeface="Hiragino Kaku Gothic ProN"/>
                <a:ea typeface="Hiragino Kaku Gothic ProN"/>
                <a:cs typeface="Hiragino Kaku Gothic ProN"/>
              </a:rPr>
              <a:t>人が承認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21BAB-E162-470F-8C23-EA8A61A9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647950"/>
            <a:ext cx="19431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CB913-5047-4AE8-A6B1-081DA2D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800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CBF77-0F42-4C5A-A85A-9021BA9D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31623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Visual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1F8E6-7EE2-4E1E-85B5-E9FAA619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3619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FFFFFF">
                    <a:alpha val="72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制作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A87FB-D349-4A8A-A0CF-9237CDE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242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3500AA-0BBC-4D84-BDBD-C0AB593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647950"/>
            <a:ext cx="19431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4C5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8E2B6-0A8D-4DB6-907F-F618176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2800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B19C9-92C7-494C-B2E5-4B3B7C87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31623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QA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9A27E-1D8C-42FD-BA9A-FB402699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36195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全ページ検査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A80E4-81ED-4918-8233-238085F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5276850"/>
            <a:ext cx="8420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1010DF-BC16-4C76-A3BE-DEF19EF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5429250"/>
            <a:ext cx="792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「各工程の承認が出るまで次へ進まないでください。最初はBriefだけを作成してください。」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6F106-AE46-479B-AFB2-633A2129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334125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4787E-02A9-45A3-893D-E5B921F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992305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1319C-2115-44F6-98D2-6374BDB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QA / DRAFT AS HYPOTHESIS</a:t>
            </a:r>
          </a:p>
        </p:txBody>
      </p:sp>
      <p:sp>
        <p:nvSpPr>
          <p:cNvPr id="2" name="slide-title-25">
            <a:extLst xmlns:a="http://schemas.openxmlformats.org/drawingml/2006/main">
              <a:ext uri="{FF2B5EF4-FFF2-40B4-BE49-F238E27FC236}">
                <a16:creationId xmlns:a16="http://schemas.microsoft.com/office/drawing/2014/main" id="{69A2A685-8E97-4C22-9F18-6F32DEAB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AIの初稿は、完成品ではなく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検査するための仮説である。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C882A-7014-4D5C-AB5A-7867CCD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466850" y="2171700"/>
            <a:ext cx="67246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C455A-A557-4274-A0F3-D4E8561A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2362200"/>
            <a:ext cx="2824353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41CA-73D0-4422-B588-2DBFBAD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3668" y="2400300"/>
            <a:ext cx="21518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44042-EB20-40E1-AB5F-DB20588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3668" y="2686050"/>
            <a:ext cx="26898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E6ABD-6CE7-47D1-B56D-3376FB3A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6191250" y="2381250"/>
            <a:ext cx="1752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46A36-D304-40D8-9363-6E7FDBFC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6191250" y="23812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DRAFT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8BA51-7302-415F-A339-86F1EF13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2362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D7A52-A511-4921-B5D0-245F6471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何が伝わるか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08A6E-52DD-4F62-908E-28D63C58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24765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5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50853-B8AC-43E5-91E7-37EA36F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1C0BB-4F56-4875-BA21-FDB53F89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238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何が余計か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5D470-F7AE-43AA-8D2B-4B5D5AE0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0" y="33909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3B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FC7EB-0C37-417E-9847-D60ADDB1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4171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F27EE-7E50-4EF2-BB4B-15B8502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133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何が足りないか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CCE80-BC16-4190-AD2D-E9E1716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7700" y="42862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B52D7-D0A6-45DA-A68D-93156AB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105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1AAD0-FD2B-4A65-8110-CC85E982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5067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何が未確認か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27699-5B6C-4C6F-AFE2-FD60585C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5700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DD8DB-F112-4D6D-A1A6-0F4122C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5962650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9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直す前に、問題の種類を言葉にする。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D807D-E00B-4D2D-A782-6409E22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65519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C0E0F-88FE-4C7C-BDAA-AACF5A6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QA / FIVE PASSES</a:t>
            </a:r>
          </a:p>
        </p:txBody>
      </p:sp>
      <p:sp>
        <p:nvSpPr>
          <p:cNvPr id="2" name="slide-title-26">
            <a:extLst xmlns:a="http://schemas.openxmlformats.org/drawingml/2006/main">
              <a:ext uri="{FF2B5EF4-FFF2-40B4-BE49-F238E27FC236}">
                <a16:creationId xmlns:a16="http://schemas.microsoft.com/office/drawing/2014/main" id="{975002F2-367C-49D0-89B6-99B63CAF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品質は、物語・焦点・収まり・根拠・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読みやすさの5回に分けて確認する。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5D6AA-3F6A-4ACC-B057-4CA95CE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819150" y="27241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413FA-EEE5-47B9-989E-DC4304F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876550"/>
            <a:ext cx="1920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79502-30EB-456A-B5EC-44F669FE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143250"/>
            <a:ext cx="246888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7A83A-7596-4FE9-A49B-EB76C03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038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B1ABC-042D-47D5-ACA4-F541DB4E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0002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物語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FB9C4-3D1F-4EBD-B282-D11E91D8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20193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タイトルだけで因果が通るか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76F0A-B857-4B02-985D-AF5531C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4955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E9AC7-2AF7-4434-BB1F-1DD2E5F1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6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FCD5B-A093-43C1-91BA-860DE1D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432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焦点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29C44-528A-4BD3-8E02-EFCA92E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27622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1枚1主張か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272D4-18C8-4991-931E-71454FDD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2385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413E2-224D-4710-A009-F0FACD3C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3524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7A35D-4BD8-4E4B-B0A1-B6CEE73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4861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収まり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B8034-FD13-484D-B97F-682478A4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35052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重なり・切れ・折返し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AACB8-3994-4544-A8C1-63E1EB1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9814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6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562F7-ED4F-4181-8F2F-93B3C74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0C44E-8D05-4838-90D9-FED35FC2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42291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根拠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A235F-E589-4662-B2DD-4B8A36B9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42481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出典・仮定・架空例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55FC7-DA50-4153-9C65-E996E22C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47244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6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AEC98-00D5-4C24-A7EF-8082E714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5010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21FD9-978F-42AC-8F75-76FF183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49720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読みやすさ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610D9-0179-41B7-90CD-F9051E93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49911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距離・コントラスト・読み順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6F84F-BA98-4679-942E-DD67AB04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219700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54C7A-05F2-405A-A48D-CBEC1F10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2197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1回 1目的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9F23B-6ACE-4717-B4E5-F51542E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26807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2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02FA6-20CD-4DB3-8C13-71EB29FF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QA / FOUR OUTPUTS</a:t>
            </a:r>
          </a:p>
        </p:txBody>
      </p:sp>
      <p:sp>
        <p:nvSpPr>
          <p:cNvPr id="2" name="slide-title-27">
            <a:extLst xmlns:a="http://schemas.openxmlformats.org/drawingml/2006/main">
              <a:ext uri="{FF2B5EF4-FFF2-40B4-BE49-F238E27FC236}">
                <a16:creationId xmlns:a16="http://schemas.microsoft.com/office/drawing/2014/main" id="{50D165FC-8C6E-4D80-9BC8-F10AD56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81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PPTX、PDF、投影、スマホでは、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同じ資料でも崩れ方が違う。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B186E-CB7E-48B5-B84F-B75A22CA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38400"/>
            <a:ext cx="2724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2BBA1-378F-48FF-A11C-94F6D86C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590800"/>
            <a:ext cx="152552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67767-95BA-41E8-814E-FD4669E9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57500"/>
            <a:ext cx="19613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AE6D5-701F-45F3-A505-758E700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4386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PPTX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D2C03-40B8-4C79-A386-627E5F1C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7053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編集・フォント・互換性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AA39F-3FEF-4C8F-87E9-6C6E73F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133600"/>
            <a:ext cx="2095500" cy="27432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B2433-35C8-49F1-A017-17ED5DA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2324100"/>
            <a:ext cx="88011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0C19F-A324-4111-89EC-61665D86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4410" y="2362200"/>
            <a:ext cx="6705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B3DCD-28C4-494F-B050-D0A86737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4410" y="26479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5D601-B92E-4AAD-A25E-DB883F6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086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E33B36"/>
                </a:solidFill>
                <a:latin typeface="Hiragino Kaku Gothic ProN"/>
                <a:ea typeface="Hiragino Kaku Gothic ProN"/>
                <a:cs typeface="Hiragino Kaku Gothic ProN"/>
              </a:rPr>
              <a:t>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AB046-C1C7-4312-BACD-F7DF42C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353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固定レイアウト・リンク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EEE71-FB24-4432-9465-C44B0B52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381250"/>
            <a:ext cx="30099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A7D49-0EC6-4C08-BB16-A0E1B6B0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2590800"/>
            <a:ext cx="13049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C9790-667E-4494-92FB-1E3BC37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2590800"/>
            <a:ext cx="130492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85259-A522-4633-9986-F6D1E8BF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5339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投影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2125F-F3E6-4CF8-81F1-3CB885F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8006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距離・端の切れ・色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821F3-E341-46EB-B9E3-518632AE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076450"/>
            <a:ext cx="1562100" cy="28575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74360-4101-476C-B140-F674A28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2305050"/>
            <a:ext cx="1333500" cy="24003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87C77-6204-4FC4-976F-744384D8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590800"/>
            <a:ext cx="1104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116BA-2009-4D95-B575-E40477E5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27813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D7B50-8643-4263-80AF-D570A7F3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6545" y="3181350"/>
            <a:ext cx="33147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021FD-5CF8-4A6C-9AFC-9D567029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1435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スマホ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77AE9-EBE1-4332-A9F1-1CF7BE8D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41020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縮小時の文字量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7F41A-1C4C-4AED-84EB-AC201C14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5924550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7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開く → PDF化 → 全画面投影 → スマホ確認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03639-B905-4DC2-A5B0-F61457A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8220414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6bc2cc18d4a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1F2A6-0E4E-4B96-8154-BB870607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74AFD-6F06-47AF-9482-58E2B86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38150"/>
            <a:ext cx="7067550" cy="59436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8DA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" name="slide-title-28">
            <a:extLst xmlns:a="http://schemas.openxmlformats.org/drawingml/2006/main">
              <a:ext uri="{FF2B5EF4-FFF2-40B4-BE49-F238E27FC236}">
                <a16:creationId xmlns:a16="http://schemas.microsoft.com/office/drawing/2014/main" id="{9DF4B5E4-1E6C-4969-B6C3-CC2394F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647700"/>
            <a:ext cx="617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まず自社資料1本で試し、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迷う工程だけ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無料顧問を使う。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D21BF-5002-48BF-B098-4743240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09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2357D9"/>
                </a:solidFill>
                <a:latin typeface="Hiragino Kaku Gothic ProN"/>
                <a:ea typeface="Hiragino Kaku Gothic ProN"/>
                <a:cs typeface="Hiragino Kaku Gothic ProN"/>
              </a:rPr>
              <a:t>今日やること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ED30E-5302-408B-96CE-EFA917C4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BD11E-1477-43F3-A7AF-F5595C5E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2609850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1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自社資料を1本選ぶ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1880A-9975-404B-9F43-94EE0F61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21853-3CD9-4C92-8371-1DFC81E0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219450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Briefの4項目を書く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AF96F-393B-4690-8624-71CC35CE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C4C79-D141-44E7-AC25-88D1E63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829050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タイトルだけでGhost Deckを作る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578C4-5382-4739-92CF-46780B58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457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D92FD-CF9D-4DFF-BF0A-34B57047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438650"/>
            <a:ext cx="558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725" b="0">
                <a:solidFill>
                  <a:srgbClr val="111111"/>
                </a:solidFill>
                <a:latin typeface="Hiragino Kaku Gothic ProN"/>
                <a:ea typeface="Hiragino Kaku Gothic ProN"/>
                <a:cs typeface="Hiragino Kaku Gothic ProN"/>
              </a:rPr>
              <a:t>1枚だけSlide Specを書いて作り直す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0B0ED-12A2-4D22-A1A3-703D1EB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600700"/>
            <a:ext cx="596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62666D"/>
                </a:solidFill>
                <a:latin typeface="Hiragino Kaku Gothic ProN"/>
                <a:ea typeface="Hiragino Kaku Gothic ProN"/>
                <a:cs typeface="Hiragino Kaku Gothic ProN"/>
              </a:rPr>
              <a:t>教材だけで進められる方は、そのまま実践してください。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5991D-F394-4C4A-8B14-65319B79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714750"/>
            <a:ext cx="34671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A8B02-458F-4F09-B83E-8C24644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1">
                <a:solidFill>
                  <a:srgbClr val="FFFFFF">
                    <a:alpha val="55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A9CB6-13AF-4343-82CC-9FF7C26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3624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無料顧問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1回分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1E46F-4779-4C77-B4F8-14F683E9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1816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>
                    <a:alpha val="78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FFFFFF">
                    <a:alpha val="78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自社資料を持ち込み、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FFFFF">
                    <a:alpha val="78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FFFFFF">
                    <a:alpha val="78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BriefとGhost Deckを一緒に作る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E8198-B283-4EE1-B252-082B0FE7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6457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Hiragino Kaku Gothic ProN"/>
                <a:ea typeface="Hiragino Kaku Gothic ProN"/>
                <a:cs typeface="Hiragino Kaku Gothic Pro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7541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2026-07-29T01:50:16.0480000Z</dcterms:created>
  <dcterms:modified xsi:type="dcterms:W3CDTF">2026-07-29T01:50:16.0480000Z</dcterms:modified>
</coreProperties>
</file>