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fc9091aa464984" /><Relationship Type="http://schemas.openxmlformats.org/officeDocument/2006/relationships/extended-properties" Target="/docProps/app.xml" Id="R1509752e757c4105" /><Relationship Type="http://schemas.openxmlformats.org/officeDocument/2006/relationships/officeDocument" Target="/ppt/presentation.xml" Id="Rcb79de835f5742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c0bbc710674bd2"/>
  </p:sldMasterIdLst>
  <p:notesMasterIdLst>
    <p:notesMasterId xmlns:r="http://schemas.openxmlformats.org/officeDocument/2006/relationships" r:id="R0b64a94ac3a74db9"/>
  </p:notesMasterIdLst>
  <p:sldIdLst>
    <p:sldId xmlns:r="http://schemas.openxmlformats.org/officeDocument/2006/relationships" id="256" r:id="Rf6ffd35289784fe5"/>
    <p:sldId xmlns:r="http://schemas.openxmlformats.org/officeDocument/2006/relationships" id="257" r:id="Rde56799b1fbf40bc"/>
    <p:sldId xmlns:r="http://schemas.openxmlformats.org/officeDocument/2006/relationships" id="258" r:id="Rf21a6367635f4927"/>
    <p:sldId xmlns:r="http://schemas.openxmlformats.org/officeDocument/2006/relationships" id="259" r:id="R64b2a22f2da3472d"/>
    <p:sldId xmlns:r="http://schemas.openxmlformats.org/officeDocument/2006/relationships" id="260" r:id="R7b8db1478d484b20"/>
    <p:sldId xmlns:r="http://schemas.openxmlformats.org/officeDocument/2006/relationships" id="261" r:id="Rb2f1a6c2930841b3"/>
    <p:sldId xmlns:r="http://schemas.openxmlformats.org/officeDocument/2006/relationships" id="262" r:id="Rdb33d2b5685444d8"/>
    <p:sldId xmlns:r="http://schemas.openxmlformats.org/officeDocument/2006/relationships" id="263" r:id="Ra034c43ce8e246c3"/>
    <p:sldId xmlns:r="http://schemas.openxmlformats.org/officeDocument/2006/relationships" id="264" r:id="R99b212cd1a3b4f59"/>
    <p:sldId xmlns:r="http://schemas.openxmlformats.org/officeDocument/2006/relationships" id="265" r:id="R3077e24aa5bf4ac6"/>
    <p:sldId xmlns:r="http://schemas.openxmlformats.org/officeDocument/2006/relationships" id="266" r:id="R2fe52bded0664709"/>
    <p:sldId xmlns:r="http://schemas.openxmlformats.org/officeDocument/2006/relationships" id="267" r:id="Rd6a06ce01896436b"/>
    <p:sldId xmlns:r="http://schemas.openxmlformats.org/officeDocument/2006/relationships" id="268" r:id="R17e201b35b9541c9"/>
    <p:sldId xmlns:r="http://schemas.openxmlformats.org/officeDocument/2006/relationships" id="269" r:id="R616663b2f65347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49a45eb4f24bd5" /><Relationship Type="http://schemas.openxmlformats.org/officeDocument/2006/relationships/slideMaster" Target="/ppt/slideMasters/slideMaster1.xml" Id="R0ec0bbc710674bd2" /><Relationship Type="http://schemas.openxmlformats.org/officeDocument/2006/relationships/notesMaster" Target="/ppt/notesMasters/notesMaster1.xml" Id="R0b64a94ac3a74db9" /><Relationship Type="http://schemas.openxmlformats.org/officeDocument/2006/relationships/presProps" Target="/ppt/presProps.xml" Id="Rc6a1b80129f54d3a" /><Relationship Type="http://schemas.openxmlformats.org/officeDocument/2006/relationships/tableStyles" Target="/ppt/tableStyles.xml" Id="R7391aa1e61464b51" /><Relationship Type="http://schemas.openxmlformats.org/officeDocument/2006/relationships/slide" Target="/ppt/slides/slide1.xml" Id="Rf6ffd35289784fe5" /><Relationship Type="http://schemas.openxmlformats.org/officeDocument/2006/relationships/slide" Target="/ppt/slides/slide2.xml" Id="Rde56799b1fbf40bc" /><Relationship Type="http://schemas.openxmlformats.org/officeDocument/2006/relationships/slide" Target="/ppt/slides/slide3.xml" Id="Rf21a6367635f4927" /><Relationship Type="http://schemas.openxmlformats.org/officeDocument/2006/relationships/slide" Target="/ppt/slides/slide4.xml" Id="R64b2a22f2da3472d" /><Relationship Type="http://schemas.openxmlformats.org/officeDocument/2006/relationships/slide" Target="/ppt/slides/slide5.xml" Id="R7b8db1478d484b20" /><Relationship Type="http://schemas.openxmlformats.org/officeDocument/2006/relationships/slide" Target="/ppt/slides/slide6.xml" Id="Rb2f1a6c2930841b3" /><Relationship Type="http://schemas.openxmlformats.org/officeDocument/2006/relationships/slide" Target="/ppt/slides/slide7.xml" Id="Rdb33d2b5685444d8" /><Relationship Type="http://schemas.openxmlformats.org/officeDocument/2006/relationships/slide" Target="/ppt/slides/slide8.xml" Id="Ra034c43ce8e246c3" /><Relationship Type="http://schemas.openxmlformats.org/officeDocument/2006/relationships/slide" Target="/ppt/slides/slide9.xml" Id="R99b212cd1a3b4f59" /><Relationship Type="http://schemas.openxmlformats.org/officeDocument/2006/relationships/slide" Target="/ppt/slides/slide10.xml" Id="R3077e24aa5bf4ac6" /><Relationship Type="http://schemas.openxmlformats.org/officeDocument/2006/relationships/slide" Target="/ppt/slides/slide11.xml" Id="R2fe52bded0664709" /><Relationship Type="http://schemas.openxmlformats.org/officeDocument/2006/relationships/slide" Target="/ppt/slides/slide12.xml" Id="Rd6a06ce01896436b" /><Relationship Type="http://schemas.openxmlformats.org/officeDocument/2006/relationships/slide" Target="/ppt/slides/slide13.xml" Id="R17e201b35b9541c9" /><Relationship Type="http://schemas.openxmlformats.org/officeDocument/2006/relationships/slide" Target="/ppt/slides/slide14.xml" Id="R616663b2f65347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cb417128ae44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c7f5935c1b4467" /><Relationship Type="http://schemas.openxmlformats.org/officeDocument/2006/relationships/notesMaster" Target="/ppt/notesMasters/notesMaster1.xml" Id="R652adf63f8e743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80d0732a0d4e85" /><Relationship Type="http://schemas.openxmlformats.org/officeDocument/2006/relationships/notesMaster" Target="/ppt/notesMasters/notesMaster1.xml" Id="Rb3401ae311564c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5188c174264565" /><Relationship Type="http://schemas.openxmlformats.org/officeDocument/2006/relationships/notesMaster" Target="/ppt/notesMasters/notesMaster1.xml" Id="R7e391da9323a4c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b115d28e344a42" /><Relationship Type="http://schemas.openxmlformats.org/officeDocument/2006/relationships/notesMaster" Target="/ppt/notesMasters/notesMaster1.xml" Id="Rcd6fa789369e44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708a9229584784" /><Relationship Type="http://schemas.openxmlformats.org/officeDocument/2006/relationships/notesMaster" Target="/ppt/notesMasters/notesMaster1.xml" Id="R4793e14a833a44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c518808c884748" /><Relationship Type="http://schemas.openxmlformats.org/officeDocument/2006/relationships/notesMaster" Target="/ppt/notesMasters/notesMaster1.xml" Id="Rf350c9fc0f5f41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e61df18fa1471c" /><Relationship Type="http://schemas.openxmlformats.org/officeDocument/2006/relationships/notesMaster" Target="/ppt/notesMasters/notesMaster1.xml" Id="R91bdd2e1a6ed40c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8541dc5c4b497d" /><Relationship Type="http://schemas.openxmlformats.org/officeDocument/2006/relationships/notesMaster" Target="/ppt/notesMasters/notesMaster1.xml" Id="R098f8353e01a47a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fb192fbdd54284" /><Relationship Type="http://schemas.openxmlformats.org/officeDocument/2006/relationships/notesMaster" Target="/ppt/notesMasters/notesMaster1.xml" Id="Rfef7aa0309bb4ef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abfdc7e99ce424c" /><Relationship Type="http://schemas.openxmlformats.org/officeDocument/2006/relationships/notesMaster" Target="/ppt/notesMasters/notesMaster1.xml" Id="R96fe0eed046b4d6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7beeacdba4f4f98" /><Relationship Type="http://schemas.openxmlformats.org/officeDocument/2006/relationships/notesMaster" Target="/ppt/notesMasters/notesMaster1.xml" Id="Rcfb1ce2e19ef418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d153aa4d1494c19" /><Relationship Type="http://schemas.openxmlformats.org/officeDocument/2006/relationships/notesMaster" Target="/ppt/notesMasters/notesMaster1.xml" Id="R1b776d6ec010485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315416ff6b844e4" /><Relationship Type="http://schemas.openxmlformats.org/officeDocument/2006/relationships/notesMaster" Target="/ppt/notesMasters/notesMaster1.xml" Id="Raa28187e8e2848e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d77a6eee60a4d60" /><Relationship Type="http://schemas.openxmlformats.org/officeDocument/2006/relationships/notesMaster" Target="/ppt/notesMasters/notesMaster1.xml" Id="R8e0853e12a0649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このデッキは、AIにスライドを作らせる前に、目的・構造・判断基準を揃えるための実務ガイドです。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https://github.com/tristan-mcinnis/pptx-from-layouts-skill</a:t>
            </a:r>
          </a:p>
          <a:p xmlns:a="http://schemas.openxmlformats.org/drawingml/2006/main">
            <a:r>
              <a:t>- https://github.com/ningzimu/codex-ppt-skill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ここではAI導入の失敗を、生成品質ではなく、目的・情報量・検証順序の設計問題として整理しています。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https://github.com/tristan-mcinnis/pptx-from-layouts-skill</a:t>
            </a:r>
          </a:p>
          <a:p xmlns:a="http://schemas.openxmlformats.org/drawingml/2006/main">
            <a:r>
              <a:t>- https://github.com/ningzimu/codex-ppt-skill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最悪の未来を、作成速度ではなく意思決定までの総時間で捉えています。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https://github.com/ningzimu/codex-ppt-skill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AIを人の代替ではなく、判断前の作業を圧縮する補助役として置くことで、実務に導入しやすい分業になります。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https://github.com/ningzimu/codex-ppt-skill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この3段階は、Duarteのストーリーテリングにある現在地・ギャップ・望ましい未来という考え方を、業務資料向けに簡略化したものです。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https://www.duarte.com/training/visual-storytelling-training/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action title（結論型タイトル）は、スライドの内容を見出しだけで先に伝えるための考え方です。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https://www.duarte.com/training/visual-storytelling-training/</a:t>
            </a:r>
          </a:p>
          <a:p xmlns:a="http://schemas.openxmlformats.org/drawingml/2006/main">
            <a:r>
              <a:t>- https://github.com/tristan-mcinnis/pptx-from-layouts-skill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`pptx-from-layouts`のプロファイル→作成→レンダーという工程と、`codex-ppt`の大綱→スタイル→サンプル→全体生成→QAというゲート設計を、編集可能PPTX向けに統合したフローです。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https://github.com/tristan-mcinnis/pptx-from-layouts-skill</a:t>
            </a:r>
          </a:p>
          <a:p xmlns:a="http://schemas.openxmlformats.org/drawingml/2006/main">
            <a:r>
              <a:t>- https://github.com/ningzimu/codex-ppt-skill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プロンプトの構造は、OpenAIの公式ガイドにある明確な指示、文脈、制約、出力形式の考え方を、スライド制作向けのブリーフに落とし込んだものです。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良い依頼では、聴衆・目的・出力形式・制約・不確実性の扱いを明示します。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スライドごとの情報構造に合わせて、hero・comparison・process・evidence・CTAのシルエットを使い分けています。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https://github.com/tristan-mcinnis/pptx-from-layouts-skill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数字・引用・出典を、生成の後ではなく依頼と構成の段階から扱う設計です。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https://support.microsoft.com/en-us/accessibility/powerpoint/make-your-powerpoint-presentations-accessible-to-people-with-disabilities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取得したスキルとCodex標準ルートが共通して重視する、レンダー後の視覚検査・テキスト切れ・出典・出力確認をまとめています。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https://github.com/tristan-mcinnis/pptx-from-layouts-skill</a:t>
            </a:r>
          </a:p>
          <a:p xmlns:a="http://schemas.openxmlformats.org/drawingml/2006/main">
            <a:r>
              <a:t>- https://github.com/ningzimu/codex-ppt-skill</a:t>
            </a:r>
          </a:p>
          <a:p xmlns:a="http://schemas.openxmlformats.org/drawingml/2006/main">
            <a:r>
              <a:t>- https://support.microsoft.com/en-us/accessibility/powerpoint/make-your-powerpoint-presentations-accessible-to-people-with-disabilities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読者が自分の業務に置き換えやすいよう、汎用のスライド設計ブリーフを提示しています。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面談後に、相談内容に合わせた資料や次のアクションを案内する想定です。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https://github.com/ningzimu/codex-ppt-skill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85bd336cf347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c88f6f6d7b4b9d" /><Relationship Type="http://schemas.openxmlformats.org/officeDocument/2006/relationships/slideLayout" Target="/ppt/slideLayouts/slideLayout1.xml" Id="R100b00be133147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0b00be133147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97d514931a4cd4" /><Relationship Type="http://schemas.openxmlformats.org/officeDocument/2006/relationships/image" Target="/ppt/media/image.png" Id="Rfd1d977874f74302" /><Relationship Type="http://schemas.openxmlformats.org/officeDocument/2006/relationships/notesSlide" Target="/ppt/notesSlides/notesSlide1.xml" Id="R11bd5a8689334b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26a906efe84997" /><Relationship Type="http://schemas.openxmlformats.org/officeDocument/2006/relationships/notesSlide" Target="/ppt/notesSlides/notesSlide2.xml" Id="R76d888ca792743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f38b48ba9f41b3" /><Relationship Type="http://schemas.openxmlformats.org/officeDocument/2006/relationships/notesSlide" Target="/ppt/notesSlides/notesSlide3.xml" Id="Ra8f65353904443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f46441c62a436f" /><Relationship Type="http://schemas.openxmlformats.org/officeDocument/2006/relationships/notesSlide" Target="/ppt/notesSlides/notesSlide4.xml" Id="Rf68020859e504b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e1fceabd1c437c" /><Relationship Type="http://schemas.openxmlformats.org/officeDocument/2006/relationships/notesSlide" Target="/ppt/notesSlides/notesSlide5.xml" Id="R54f8c0056fd943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6938e33bfb45e8" /><Relationship Type="http://schemas.openxmlformats.org/officeDocument/2006/relationships/notesSlide" Target="/ppt/notesSlides/notesSlide6.xml" Id="R26536458ec2546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7b4d05c9ea493a" /><Relationship Type="http://schemas.openxmlformats.org/officeDocument/2006/relationships/notesSlide" Target="/ppt/notesSlides/notesSlide7.xml" Id="R62b7aef1d8ca48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2f01f000514b5c" /><Relationship Type="http://schemas.openxmlformats.org/officeDocument/2006/relationships/notesSlide" Target="/ppt/notesSlides/notesSlide8.xml" Id="Rf1788a26931a47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b506e95a64a42" /><Relationship Type="http://schemas.openxmlformats.org/officeDocument/2006/relationships/notesSlide" Target="/ppt/notesSlides/notesSlide9.xml" Id="R925ac3c7f3344c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900f31ec0b45a9" /><Relationship Type="http://schemas.openxmlformats.org/officeDocument/2006/relationships/notesSlide" Target="/ppt/notesSlides/notesSlide10.xml" Id="Rdd1edb09279c413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ddcd74e5b64ef3" /><Relationship Type="http://schemas.openxmlformats.org/officeDocument/2006/relationships/notesSlide" Target="/ppt/notesSlides/notesSlide11.xml" Id="R8517c84b0405460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5b2635f0543e1" /><Relationship Type="http://schemas.openxmlformats.org/officeDocument/2006/relationships/notesSlide" Target="/ppt/notesSlides/notesSlide12.xml" Id="R12a2cd56e48b467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4959f93dce4cd5" /><Relationship Type="http://schemas.openxmlformats.org/officeDocument/2006/relationships/notesSlide" Target="/ppt/notesSlides/notesSlide13.xml" Id="R3d8c234f5d8d4e2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3c6d02c32a43f4" /><Relationship Type="http://schemas.openxmlformats.org/officeDocument/2006/relationships/notesSlide" Target="/ppt/notesSlides/notesSlide14.xml" Id="R8017021949e5408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548E7E-AF26-4627-A5A6-A2696F6A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21AA7C-EAB3-4CE0-8126-594BCED5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33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5B8B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5B8B8"/>
                </a:solidFill>
                <a:latin typeface="Arial"/>
                <a:ea typeface="Arial"/>
                <a:cs typeface="Arial"/>
              </a:rPr>
              <a:t>AI SLIDE PLAYBOOK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AE045F-FF75-4E20-9B9E-EAB1009C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5B8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5B8B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79AE5D-0AE5-4C44-A1BB-9883E58A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90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AIに、</a:t>
            </a:r>
          </a:p>
          <a:p xmlns:a="http://schemas.openxmlformats.org/drawingml/2006/main">
            <a:pPr>
              <a:lnSpc>
                <a:spcPct val="95000"/>
              </a:lnSpc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作らせる前に。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9D9A61-5D73-4ACD-ABBB-981B343D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00">
                <a:solidFill>
                  <a:srgbClr val="D6D8D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D6D8D8"/>
                </a:solidFill>
                <a:latin typeface="Arial"/>
                <a:ea typeface="Arial"/>
                <a:cs typeface="Arial"/>
              </a:rPr>
              <a:t>伝わるPowerPointを設計する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800">
                <a:solidFill>
                  <a:srgbClr val="D6D8D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D6D8D8"/>
                </a:solidFill>
                <a:latin typeface="Arial"/>
                <a:ea typeface="Arial"/>
                <a:cs typeface="Arial"/>
              </a:rPr>
              <a:t>実務の型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E10E11-423D-4815-BAE4-E9F6114E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123950"/>
            <a:ext cx="447675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1d977874f74302"/>
          <a:srcRect xmlns:a="http://schemas.openxmlformats.org/drawingml/2006/main" l="21860" t="0" r="218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91350" y="1257300"/>
            <a:ext cx="4210050" cy="4210050"/>
          </a:xfrm>
          <a:prstGeom xmlns:a="http://schemas.openxmlformats.org/drawingml/2006/main" prst="roundRect">
            <a:avLst>
              <a:gd name="adj" fmla="val 362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800750-DD85-447C-BC7F-80D5E207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790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31A055-46EC-4A0D-ABE1-86734237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4D84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D84D"/>
                </a:solidFill>
                <a:latin typeface="Arial"/>
                <a:ea typeface="Arial"/>
                <a:cs typeface="Arial"/>
              </a:rPr>
              <a:t>AI顧問室 / LEAD MAGNET</a:t>
            </a:r>
          </a:p>
        </p:txBody>
      </p:sp>
    </p:spTree>
    <p:extLst>
      <p:ext uri="{BB962C8B-B14F-4D97-AF65-F5344CB8AC3E}">
        <p14:creationId xmlns:p14="http://schemas.microsoft.com/office/powerpoint/2010/main" val="8435404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FD0706-252A-4F3C-804A-CEED585A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11E3AA-2CED-4674-900E-A9C27CFA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33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6168"/>
                </a:solidFill>
                <a:latin typeface="Arial"/>
                <a:ea typeface="Arial"/>
                <a:cs typeface="Arial"/>
              </a:rPr>
              <a:t>PROBLEM / WHY NOW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223E30-A5EB-4A57-964C-B3C264A4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16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2781D4-E401-474C-A2BC-1082CDC6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784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AIで速く作れるのに、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なぜ資料は伝わらないのか？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72FF7A-559C-45D9-B2A0-8880C58D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D6168"/>
                </a:solidFill>
                <a:latin typeface="Arial"/>
                <a:ea typeface="Arial"/>
                <a:cs typeface="Arial"/>
              </a:rPr>
              <a:t>問題は、生成速度ではなく設計の順番にあります。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6EFD63-CC34-4FEC-B9F0-7235235F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86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6D76BC-A986-45CD-99E8-EE5F33D7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よくある3つの詰まり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751F1E-9CAF-48BA-BD7A-F7C8F7B8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8A83BA-1433-4EE1-BA5C-9D04E67A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52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目的が曖昧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DD3A59-0794-4E0A-826F-C53D8E2C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718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168"/>
                </a:solidFill>
                <a:latin typeface="Arial"/>
                <a:ea typeface="Arial"/>
                <a:cs typeface="Arial"/>
              </a:rPr>
              <a:t>「いい感じの資料」では、AIは判断できない。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17A1ED-67A3-4E61-AB3D-3B69A94E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05200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530554-C58B-4B23-B34A-6BF26756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862370-4ABC-4336-8089-D69A9F31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19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情報が多すぎる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4018F6-38BE-4347-960F-03E7A36E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386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168"/>
                </a:solidFill>
                <a:latin typeface="Arial"/>
                <a:ea typeface="Arial"/>
                <a:cs typeface="Arial"/>
              </a:rPr>
              <a:t>1枚に複数の結論を詰め込み、読む人が迷う。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99CCC9-33B2-4A9B-B14F-BA54C0A3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72000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B61F30-024D-4A68-9356-AFCAF01F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B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25E87B-6851-43E3-AF83-209C7501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86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検証が最後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395FCF-B8EC-4AEB-8C8B-B451A57C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054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D6168"/>
                </a:solidFill>
                <a:latin typeface="Arial"/>
                <a:ea typeface="Arial"/>
                <a:cs typeface="Arial"/>
              </a:rPr>
              <a:t>数字・出典・PDF化の崩れを、提出直前に発見する。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03EE66-5971-4B27-9708-928FB4E8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38800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D11AAB-AA6F-4650-96DE-37F079D5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670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出力はある。でも、</a:t>
            </a:r>
          </a:p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意思決定につながらない。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574DD2-9DCE-4F67-87AD-F2508126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33800"/>
            <a:ext cx="2667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C823F9-ED65-4C7E-8C75-370A4E69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33800"/>
            <a:ext cx="2667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C52E60-6C3F-4AB0-8775-EA7DFCF6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05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市場データまとめ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7D4568-B1D0-4FE1-8C19-20338A7C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86250"/>
            <a:ext cx="144018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8317D8-9120-4CC7-B4E2-1F1A95E4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76750"/>
            <a:ext cx="20802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A757EC-15E5-4D0D-B179-A3ED4230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29150"/>
            <a:ext cx="17335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F09E17-65B8-4DB4-BEAD-0D972A86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670" y="4267200"/>
            <a:ext cx="58674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0A3523-6CA2-4813-A349-50B79775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171950"/>
            <a:ext cx="2667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1B3D8B-60E1-4BCC-BAA3-3D57151B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171950"/>
            <a:ext cx="2667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D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52701C-DA5E-42E5-A516-493B7B7F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434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施策の方向性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860358-06A3-4884-A3AA-101E36D7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24400"/>
            <a:ext cx="2362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6F4A49-FB12-4E8A-BCDD-CE03FFB9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8768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D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4E2098-50F8-430C-8355-D4851FF5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076825"/>
            <a:ext cx="154686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503430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266963-DA0A-471A-9AF8-E591EDB0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D40EC1-8EC9-4F41-8C68-D5C51743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33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5B8B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5B8B8"/>
                </a:solidFill>
                <a:latin typeface="Arial"/>
                <a:ea typeface="Arial"/>
                <a:cs typeface="Arial"/>
              </a:rPr>
              <a:t>STAKE / WORST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7A9E3B-561A-4635-B9FD-F7A38A22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5B8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5B8B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450EC0-7365-4943-B691-6404EF79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784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自力で急いだ先にあるのは、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“速いけれど使えない”資料です。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B13A3F-F01D-4791-961A-8AE59201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6D8D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D6D8D8"/>
                </a:solidFill>
                <a:latin typeface="Arial"/>
                <a:ea typeface="Arial"/>
                <a:cs typeface="Arial"/>
              </a:rPr>
              <a:t>作成時間が短くなっても、判断時間が伸びれば、全体では遅くなります。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FD10A0-025E-47E4-BAB2-414FCC3A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2857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D1D"/>
          </a:solidFill>
          <a:ln xmlns:a="http://schemas.openxmlformats.org/drawingml/2006/main" w="9525">
            <a:solidFill>
              <a:srgbClr val="3E414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E6533C-5222-42D7-A472-602FFEC3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052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922F28-474A-4C54-8331-321ADF37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67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D84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D84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2E03A4-48C8-4F37-9502-E65B3997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生成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0356A2-ED58-4807-9D7E-2B6E9B30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4340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7C9C9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C7C9C9"/>
                </a:solidFill>
                <a:latin typeface="Arial"/>
                <a:ea typeface="Arial"/>
                <a:cs typeface="Arial"/>
              </a:rPr>
              <a:t>数分で見た目は整う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1C0D49-85E9-4E34-BEA9-41DE6765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8100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4D8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D84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AACA88-381E-46F8-A5C6-2C8E7060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38500"/>
            <a:ext cx="2857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D1D"/>
          </a:solidFill>
          <a:ln xmlns:a="http://schemas.openxmlformats.org/drawingml/2006/main" w="9525">
            <a:solidFill>
              <a:srgbClr val="3E414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FFCF2F-60EF-4025-844C-6F509258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052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8625AE-637B-46B0-825D-4A9CFB0F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467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ED7F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ED7F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80B9CA-544F-4D6B-91B3-D6DC531A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243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迷走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9F0F7E-E38C-47A9-A10A-9BB2112A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4340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7C9C9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C7C9C9"/>
                </a:solidFill>
                <a:latin typeface="Arial"/>
                <a:ea typeface="Arial"/>
                <a:cs typeface="Arial"/>
              </a:rPr>
              <a:t>主張・数字・出典が混ざる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F6A202-4E06-40E3-932B-C63F703B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100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4D8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D84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0623A5-F217-4080-B3E6-2208E665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38500"/>
            <a:ext cx="2857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D1D"/>
          </a:solidFill>
          <a:ln xmlns:a="http://schemas.openxmlformats.org/drawingml/2006/main" w="9525">
            <a:solidFill>
              <a:srgbClr val="3E414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4C4EE8-015E-4B59-BEAA-11AF0638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052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B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18AEF6-DD3F-424A-B097-BF4387BE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671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B7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8B7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67AA29-2367-45FB-8108-A4928B98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手戻り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D40B06-5673-423A-A872-F3C9CEAF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4340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7C9C9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C7C9C9"/>
                </a:solidFill>
                <a:latin typeface="Arial"/>
                <a:ea typeface="Arial"/>
                <a:cs typeface="Arial"/>
              </a:rPr>
              <a:t>会議で説明し直し、作り直す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82EFB2-A265-42D7-8EA4-881B65EF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24500"/>
            <a:ext cx="628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D8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D84D"/>
                </a:solidFill>
                <a:latin typeface="Arial"/>
                <a:ea typeface="Arial"/>
                <a:cs typeface="Arial"/>
              </a:rPr>
              <a:t>速さだけを最適化すると、</a:t>
            </a:r>
          </a:p>
          <a:p xmlns:a="http://schemas.openxmlformats.org/drawingml/2006/main">
            <a:pPr>
              <a:defRPr sz="1800" b="1">
                <a:solidFill>
                  <a:srgbClr val="F4D8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D84D"/>
                </a:solidFill>
                <a:latin typeface="Arial"/>
                <a:ea typeface="Arial"/>
                <a:cs typeface="Arial"/>
              </a:rPr>
              <a:t>手戻りが利益を食います。</a:t>
            </a:r>
          </a:p>
        </p:txBody>
      </p:sp>
    </p:spTree>
    <p:extLst>
      <p:ext uri="{BB962C8B-B14F-4D97-AF65-F5344CB8AC3E}">
        <p14:creationId xmlns:p14="http://schemas.microsoft.com/office/powerpoint/2010/main" val="2714009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09321A-F93D-409F-9363-81377D5A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0C95BC-9C93-4C34-A916-916BBDBA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33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6168"/>
                </a:solidFill>
                <a:latin typeface="Arial"/>
                <a:ea typeface="Arial"/>
                <a:cs typeface="Arial"/>
              </a:rPr>
              <a:t>OUTCOME / BEST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9344F1-7032-4D62-ADA1-755597DB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1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08EF18-71CB-4DC3-BBE0-61105C67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784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先に“判断の型”を置けば、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AIは作業を加速できます。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254DA9-345A-49FF-8980-DE343191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D6168"/>
                </a:solidFill>
                <a:latin typeface="Arial"/>
                <a:ea typeface="Arial"/>
                <a:cs typeface="Arial"/>
              </a:rPr>
              <a:t>人が決めるところと、AIに任せるところを分けます。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784A9F-B17B-4EC0-B438-D4C5542C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62250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79FBD1-D79D-4A4D-ACE0-A8743AB2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956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B8DBF4-431D-4D88-B1A0-7899CC078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48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人が決める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486A54-3899-4A84-9B43-5710267E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480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111"/>
                </a:solidFill>
                <a:latin typeface="Arial"/>
                <a:ea typeface="Arial"/>
                <a:cs typeface="Arial"/>
              </a:rPr>
              <a:t>誰に / 何を / どの判断を促すか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571176-2491-4D43-AD3C-1E72B85E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670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D6168"/>
                </a:solidFill>
                <a:latin typeface="Arial"/>
                <a:ea typeface="Arial"/>
                <a:cs typeface="Arial"/>
              </a:rPr>
              <a:t>目的・結論・制約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473C83-3F82-4B65-8ED9-95E20E91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19500"/>
            <a:ext cx="986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70DEBA-E354-4C43-87B4-3C77DB3A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48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EB5413-39F4-4E55-AF68-55912793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AIに任せる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C26760-8D5A-4A58-B4E7-123DFFF6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005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111"/>
                </a:solidFill>
                <a:latin typeface="Arial"/>
                <a:ea typeface="Arial"/>
                <a:cs typeface="Arial"/>
              </a:rPr>
              <a:t>候補出し / 要約 / 変換 / 比較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EFE0C2-912B-4B89-8866-768E0ABB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195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D6168"/>
                </a:solidFill>
                <a:latin typeface="Arial"/>
                <a:ea typeface="Arial"/>
                <a:cs typeface="Arial"/>
              </a:rPr>
              <a:t>量を出す・抜けを探す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09DF1C-C178-45DF-ACD2-C384E163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72000"/>
            <a:ext cx="986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B7E520-14B1-4685-B293-D20B9612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006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B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D64F22-5BB0-4A6C-91CC-886443D4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53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人が確認する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26237B-BC6D-4664-A1E1-FCCB503B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530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111"/>
                </a:solidFill>
                <a:latin typeface="Arial"/>
                <a:ea typeface="Arial"/>
                <a:cs typeface="Arial"/>
              </a:rPr>
              <a:t>根拠 / 文脈 / 読みやすさ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2D84AC-B250-43C3-903C-E0367EDF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720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D6168"/>
                </a:solidFill>
                <a:latin typeface="Arial"/>
                <a:ea typeface="Arial"/>
                <a:cs typeface="Arial"/>
              </a:rPr>
              <a:t>提出できる品質にする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95F97E-1055-46A2-AA33-82E2B6E2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24500"/>
            <a:ext cx="986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18CE37-CAA7-4B0D-88B9-C22D4026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4360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AIは“考える人”の代わりではなく、</a:t>
            </a:r>
          </a:p>
          <a:p xmlns:a="http://schemas.openxmlformats.org/drawingml/2006/main">
            <a:pPr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考える人の手数を減らす道具。</a:t>
            </a:r>
          </a:p>
        </p:txBody>
      </p:sp>
    </p:spTree>
    <p:extLst>
      <p:ext uri="{BB962C8B-B14F-4D97-AF65-F5344CB8AC3E}">
        <p14:creationId xmlns:p14="http://schemas.microsoft.com/office/powerpoint/2010/main" val="12466022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BC4C18-AA0E-4F5D-AA53-66B032BD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3D8BD1-6A8E-491A-B152-5D15CA3D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33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6168"/>
                </a:solidFill>
                <a:latin typeface="Arial"/>
                <a:ea typeface="Arial"/>
                <a:cs typeface="Arial"/>
              </a:rPr>
              <a:t>PRINCIPLE 01 / STORY FIRST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53583A-E5E9-40ED-8B68-8E104F81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1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EEAE3D-27C7-4D43-87CB-54516F30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784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スライドより先に、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“相手の頭の中の変化”を設計する。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E56872-35B0-4BC0-A849-41CDB078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D6168"/>
                </a:solidFill>
                <a:latin typeface="Arial"/>
                <a:ea typeface="Arial"/>
                <a:cs typeface="Arial"/>
              </a:rPr>
              <a:t>ストーリーとは、出来事の順番ではなく、理解が変わる順番です。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8D6BAD-40B8-4AAB-BCC2-39C74F50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29908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6B6C8F-88CB-44F2-A853-47841592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2990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D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09E8C2-032A-4389-931F-B974437A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19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16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F33BAC-40E6-4370-AE63-6D69F5AB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現在地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3E86C1-84EC-4B1B-858D-089C593C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3860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いま何が起きている？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4A25FE-33C6-42F7-82B2-17248054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00550"/>
            <a:ext cx="2457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D6168"/>
                </a:solidFill>
                <a:latin typeface="Arial"/>
                <a:ea typeface="Arial"/>
                <a:cs typeface="Arial"/>
              </a:rPr>
              <a:t>見えている課題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A0373A-11D2-471D-8ADA-843F8F3F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67665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5F17E7-98B5-4C70-9997-7259AD49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95600"/>
            <a:ext cx="29908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9097F1-EDAA-4571-A0B6-10F8C319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95600"/>
            <a:ext cx="2990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B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F8B07B-8B4B-4A76-9E52-E14DB0B8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19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16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1EDEF5-5985-4014-8C5D-4B939FB7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004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ギャップ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31EC58-A50F-4BA1-882B-9D06914A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3860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なぜ、このままでは困る？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A1D914-A3B0-4505-8B81-138B3182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00550"/>
            <a:ext cx="2457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D6168"/>
                </a:solidFill>
                <a:latin typeface="Arial"/>
                <a:ea typeface="Arial"/>
                <a:cs typeface="Arial"/>
              </a:rPr>
              <a:t>放置したコスト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C33C49-76B4-42ED-90CC-91CD8728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67665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235DA1-3AAC-4FB1-9F55-1E886B0C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95600"/>
            <a:ext cx="29908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B5155E-CDED-45B6-94E2-EC97BE52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95600"/>
            <a:ext cx="2990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88B5C6-2DC1-434A-AFAA-C6FDCBDA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19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1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38B175-866A-439D-B122-7A6AD394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004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未来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659F29-EE6F-4F8A-8961-95D2D290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3860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何が変われば前に進める？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E1E932-8F74-49F3-BB1E-69DE93DC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00550"/>
            <a:ext cx="2457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D6168"/>
                </a:solidFill>
                <a:latin typeface="Arial"/>
                <a:ea typeface="Arial"/>
                <a:cs typeface="Arial"/>
              </a:rPr>
              <a:t>選ぶべき一手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513312-7272-4BF6-A4D7-CFB4A20A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91150"/>
            <a:ext cx="685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資料の構成は、情報の棚卸しではなく、</a:t>
            </a:r>
          </a:p>
          <a:p xmlns:a="http://schemas.openxmlformats.org/drawingml/2006/main">
            <a:pPr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相手を一歩動かすための道筋です。</a:t>
            </a:r>
          </a:p>
        </p:txBody>
      </p:sp>
    </p:spTree>
    <p:extLst>
      <p:ext uri="{BB962C8B-B14F-4D97-AF65-F5344CB8AC3E}">
        <p14:creationId xmlns:p14="http://schemas.microsoft.com/office/powerpoint/2010/main" val="8190169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BB16BE-49C1-403D-A217-6FF51245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A55DA1-DD57-4942-9C5E-DD35CB5C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33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6168"/>
                </a:solidFill>
                <a:latin typeface="Arial"/>
                <a:ea typeface="Arial"/>
                <a:cs typeface="Arial"/>
              </a:rPr>
              <a:t>PRINCIPLE 02 / ONE MESSAGE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34171A-980B-43E3-852E-E6F5977E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1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51F2B8-B689-41E1-93D7-FDD4BD14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784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1枚に1つの結論。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見出しだけで、言いたいことが伝わる状態へ。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D9B02C-9C92-494C-B1C2-BD188EFD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D6168"/>
                </a:solidFill>
                <a:latin typeface="Arial"/>
                <a:ea typeface="Arial"/>
                <a:cs typeface="Arial"/>
              </a:rPr>
              <a:t>タイトルを“話題”ではなく“結論”にすると、読む負担が下がります。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AA8AFF-1D3F-4006-9CCC-A82B144A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3048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DB3C79-D531-42A0-9636-BC063886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304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76255A-6C58-44C6-BC9E-7BDA2C7D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24200"/>
            <a:ext cx="274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市場について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AE3329-DE9F-4C91-ADFC-3DE69A7D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05200"/>
            <a:ext cx="164592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BD7118-E375-4394-9497-BC65384F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23774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CF715D-55C3-4135-8BE6-097B4700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48100"/>
            <a:ext cx="1981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FE1D09-B9E5-47E7-8CA7-965C5A5B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830" y="3486150"/>
            <a:ext cx="6705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AE68B0-117C-4185-97B2-0B08FA3B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D6168"/>
                </a:solidFill>
                <a:latin typeface="Arial"/>
                <a:ea typeface="Arial"/>
                <a:cs typeface="Arial"/>
              </a:rPr>
              <a:t>話題は分かる。</a:t>
            </a:r>
          </a:p>
          <a:p xmlns:a="http://schemas.openxmlformats.org/drawingml/2006/main">
            <a:pPr>
              <a:defRPr sz="1350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D6168"/>
                </a:solidFill>
                <a:latin typeface="Arial"/>
                <a:ea typeface="Arial"/>
                <a:cs typeface="Arial"/>
              </a:rPr>
              <a:t>でも、何を判断すればいい？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73E6AA-0C61-4F83-BCDB-55D2535C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29000"/>
            <a:ext cx="85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4D8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D84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9B39EB-F753-475D-8B20-E5372274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52750"/>
            <a:ext cx="4667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F0E4D2-60E6-47CB-85DC-24B8B134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52750"/>
            <a:ext cx="4667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E01E64-53D5-45BA-B4A1-F4E11079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124200"/>
            <a:ext cx="436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今期は、既存顧客向けの提案を先に強化する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9C1F24-CEFC-47D1-98C1-6E46979E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505200"/>
            <a:ext cx="4362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CC7166-24B6-4DBA-AD10-59DECE37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57600"/>
            <a:ext cx="1866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235A72-B6FD-44F3-90C3-CEF99347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57625"/>
            <a:ext cx="270700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710E21-A1C1-482A-9F88-A7E6DA15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7815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D6168"/>
                </a:solidFill>
                <a:latin typeface="Arial"/>
                <a:ea typeface="Arial"/>
                <a:cs typeface="Arial"/>
              </a:rPr>
              <a:t>結論が見える。</a:t>
            </a:r>
          </a:p>
          <a:p xmlns:a="http://schemas.openxmlformats.org/drawingml/2006/main">
            <a:pPr>
              <a:defRPr sz="1350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D6168"/>
                </a:solidFill>
                <a:latin typeface="Arial"/>
                <a:ea typeface="Arial"/>
                <a:cs typeface="Arial"/>
              </a:rPr>
              <a:t>本文は、その理由を支える役に変わる。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2EE9B7-6321-491B-B0E2-0F77B113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952750"/>
            <a:ext cx="8763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7F0B77-7DBD-4953-88FD-5612A308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333750"/>
            <a:ext cx="533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D8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D84D"/>
                </a:solidFill>
                <a:latin typeface="Arial"/>
                <a:ea typeface="Arial"/>
                <a:cs typeface="Arial"/>
              </a:rPr>
              <a:t>1</a:t>
            </a:r>
          </a:p>
          <a:p xmlns:a="http://schemas.openxmlformats.org/drawingml/2006/main">
            <a:pPr algn="ctr">
              <a:defRPr sz="1350" b="1">
                <a:solidFill>
                  <a:srgbClr val="F4D8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D84D"/>
                </a:solidFill>
                <a:latin typeface="Arial"/>
                <a:ea typeface="Arial"/>
                <a:cs typeface="Arial"/>
              </a:rPr>
              <a:t>IDEA</a:t>
            </a:r>
          </a:p>
        </p:txBody>
      </p:sp>
    </p:spTree>
    <p:extLst>
      <p:ext uri="{BB962C8B-B14F-4D97-AF65-F5344CB8AC3E}">
        <p14:creationId xmlns:p14="http://schemas.microsoft.com/office/powerpoint/2010/main" val="13601106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9A514C-8E38-4DB1-B492-59CC4F7D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1D5873-31D6-4C04-B8F9-56911291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33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6168"/>
                </a:solidFill>
                <a:latin typeface="Arial"/>
                <a:ea typeface="Arial"/>
                <a:cs typeface="Arial"/>
              </a:rPr>
              <a:t>METHOD / FIVE-PHASE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D0E44D-6A9C-4B8E-AA60-AE426B6B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1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FE3EF4-B78A-439C-ABA3-462F6E49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AIに任せる前に、5つのゲートを通す。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53FE8D-2814-44CC-BA97-6DE18F46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D6168"/>
                </a:solidFill>
                <a:latin typeface="Arial"/>
                <a:ea typeface="Arial"/>
                <a:cs typeface="Arial"/>
              </a:rPr>
              <a:t>各ゲートで“次へ進む条件”を決めると、手戻りが小さくなります。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3B6F9C-A220-4B14-8F69-FA3F0CD5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14750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1AF528-AFE1-4135-AD0D-C4AEC253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4668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40DC57-809B-4681-B211-CC52F9D0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ACA9B9-FBF2-48EA-BE72-FB0E1DCA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385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16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7B7648-1BE2-46F4-9426-4C3B0E03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766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Brief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F9516A-0D69-4B34-A4E7-56607F5E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7670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168"/>
                </a:solidFill>
                <a:latin typeface="Arial"/>
                <a:ea typeface="Arial"/>
                <a:cs typeface="Arial"/>
              </a:rPr>
              <a:t>目的・相手・判断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33A600-933C-453E-BD4A-96807851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14750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6839A7-CCD6-41D7-8216-BF70114B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28950"/>
            <a:ext cx="14668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57B878-CD5A-482F-8506-0F8C13D9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238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F682D5-CADB-4072-A2DF-AC3158B4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385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16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33B5FF-BF99-414B-9A48-2A9D69B8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6766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Outline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114594-1457-4D25-95C3-54934396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07670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168"/>
                </a:solidFill>
                <a:latin typeface="Arial"/>
                <a:ea typeface="Arial"/>
                <a:cs typeface="Arial"/>
              </a:rPr>
              <a:t>結論の順番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45A214-82F2-43AA-B07B-AE2E86C4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14750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4B2EF5-3A4D-4216-A976-8E47433A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28950"/>
            <a:ext cx="14668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EBEFC6-9A5A-4D47-ADCB-38B3A430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38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B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C5EF34-41A9-4335-B38C-2DE4B088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385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1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51AF90-0257-4E75-B2A5-D6AE7A12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766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E6A155-889F-4787-8328-9644557B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07670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168"/>
                </a:solidFill>
                <a:latin typeface="Arial"/>
                <a:ea typeface="Arial"/>
                <a:cs typeface="Arial"/>
              </a:rPr>
              <a:t>図解・レイアウト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7FF2B5-D093-4366-9633-61E4365C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14750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DA4225-7CD1-40A3-A5F1-002D5F7E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28950"/>
            <a:ext cx="14668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292573-38D8-496D-B65B-456D15C3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38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98C906-BB37-4F6E-8F77-F427E997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385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1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C79820-1192-47A6-AE6E-33DB534B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766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6D6ED5-F863-4AD3-B4FD-29A6CBBD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7670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168"/>
                </a:solidFill>
                <a:latin typeface="Arial"/>
                <a:ea typeface="Arial"/>
                <a:cs typeface="Arial"/>
              </a:rPr>
              <a:t>AIで初稿化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48675D-C2B1-4114-B540-E9A18B8A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28950"/>
            <a:ext cx="14668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5236F0-42B1-49C9-8C6C-CD16F128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38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9F9FE3-0D08-4E3B-BABF-D7B561C0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385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1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3DC3E0-37CD-4B7D-AAA1-0E6C9697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766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QA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3223D2-BD1E-4D88-B32A-1B085195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7670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168"/>
                </a:solidFill>
                <a:latin typeface="Arial"/>
                <a:ea typeface="Arial"/>
                <a:cs typeface="Arial"/>
              </a:rPr>
              <a:t>根拠・表示・出力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604DFB-ACB1-4F2F-9A92-3B55C285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ゲートの目的は、AIを遅くすることではなく、</a:t>
            </a:r>
          </a:p>
          <a:p xmlns:a="http://schemas.openxmlformats.org/drawingml/2006/main">
            <a:pPr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間違った方向への大量生成を止めること。</a:t>
            </a:r>
          </a:p>
        </p:txBody>
      </p:sp>
    </p:spTree>
    <p:extLst>
      <p:ext uri="{BB962C8B-B14F-4D97-AF65-F5344CB8AC3E}">
        <p14:creationId xmlns:p14="http://schemas.microsoft.com/office/powerpoint/2010/main" val="12635743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33FB16-1F59-4981-8EDE-E724F937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2AD234-C3AD-41DA-9973-2912F367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33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5B8B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5B8B8"/>
                </a:solidFill>
                <a:latin typeface="Arial"/>
                <a:ea typeface="Arial"/>
                <a:cs typeface="Arial"/>
              </a:rPr>
              <a:t>METHOD / PROMPT ANATOMY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747616-3A8E-4704-9A8A-403E2E3B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5B8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5B8B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948C55-E37A-40BA-9A75-8529252E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784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プロンプトは“お願い文”ではなく、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制作ブリーフです。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CC8039-4BF6-4CCD-B259-750B8FE5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6D8D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D6D8D8"/>
                </a:solidFill>
                <a:latin typeface="Arial"/>
                <a:ea typeface="Arial"/>
                <a:cs typeface="Arial"/>
              </a:rPr>
              <a:t>AIが迷わないように、判断材料を先に並べます。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196A7E-72D4-4343-9282-B47A1D16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1485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7CBAA4-85BC-477C-947C-27FF71B1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765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ROLE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147C3E-83FB-410A-BB3C-F85A30D4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479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あなたは、経営会議向け資料を作る編集者です。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08B39B-0889-49E3-98E3-81A2D068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1813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3E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9E300B-A19D-410C-9861-DB8CBDC1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1485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D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EAA9B3-5DDE-4E3F-B1D9-AEBC88B8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AUDIENCE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991E69-B318-42E3-B54F-BCA12C3C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40042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中小企業の経営者。専門用語は初出で説明する。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8BD563-3A7F-4331-9D51-1F637EB5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338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3E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0F6581-4054-477C-AD02-A7BF3708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86200"/>
            <a:ext cx="1485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B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1ABB9E-6651-4F05-B82C-BB039093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814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4500F5-673B-4751-B2D7-11DFDF13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9528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今月、営業のどの施策を優先するか決めてもらう。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D3AD70-1172-4F11-8C40-07B1464F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2862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3E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9466EA-0078-4B6E-99FC-7F129F7C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1485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E1A37E-998C-4766-85C7-3BDC3CF9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339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CONSTRAINT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08B0BB-02E4-4502-B092-64BEC410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50532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12枚 / 1枚1メッセージ / 未確認の数字は作らない。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9B3E78-BFA1-4E8F-A986-D0AFE07F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8387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3E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CE07A8-D15F-4C49-B8D6-5BF096D4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91100"/>
            <a:ext cx="1485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D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1FD96D-5ECB-4A42-8D25-5D6DA1C1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863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BB73E2-606C-4492-99A2-FDA6A7AA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0577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各ページに結論・根拠・図解案・確認事項を付ける。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62BCCA-9D74-4A14-84EC-147DD628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3911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3E3E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866087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0DB7D3-0491-444D-A348-72BD7A5F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3985A3-7E31-407C-B47D-D3831E17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33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6168"/>
                </a:solidFill>
                <a:latin typeface="Arial"/>
                <a:ea typeface="Arial"/>
                <a:cs typeface="Arial"/>
              </a:rPr>
              <a:t>METHOD / BEFORE &amp; AFTER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6AF228-FCF9-47D2-9D6D-109E59D5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1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6B13DD-ED2B-4C35-A1DF-9B105AF4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784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“いい感じに作って”をやめると、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初稿の方向が揃います。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970CC6-BE2E-47F9-9209-6D85CBE5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D6168"/>
                </a:solidFill>
                <a:latin typeface="Arial"/>
                <a:ea typeface="Arial"/>
                <a:cs typeface="Arial"/>
              </a:rPr>
              <a:t>依頼の良し悪しは、長さではなく判断材料の有無で決まります。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5EBFB5-8CA9-4E76-83EC-66A0566C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4762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730705-3C11-4EEB-8D4D-B0480DF7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242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8B7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8B7B"/>
                </a:solidFill>
                <a:latin typeface="Arial"/>
                <a:ea typeface="Arial"/>
                <a:cs typeface="Arial"/>
              </a:rPr>
              <a:t>NG / ふわっとした依頼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50DA77-4790-421C-86EC-356927AF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76650"/>
            <a:ext cx="39052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737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営業資料を、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いい感じのデザインで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10枚くらいにして。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36E58C-D2E8-49AB-AB8E-8B65271F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57500"/>
            <a:ext cx="54102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426327-B101-4AAA-87D9-53CD017A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242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D84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D84D"/>
                </a:solidFill>
                <a:latin typeface="Arial"/>
                <a:ea typeface="Arial"/>
                <a:cs typeface="Arial"/>
              </a:rPr>
              <a:t>OK / 判断を埋めた依頼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903F42-B6B0-4473-9FA0-071CDE32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0045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経営者が今月の営業施策を</a:t>
            </a:r>
          </a:p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1つ選べる、12枚の資料にする。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F129FC-1603-48D5-B64D-9D627051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81500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6D8D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D6D8D8"/>
                </a:solidFill>
                <a:latin typeface="Arial"/>
                <a:ea typeface="Arial"/>
                <a:cs typeface="Arial"/>
              </a:rPr>
              <a:t>対象：既存顧客 / 結論先行 / 数字は出典付き /</a:t>
            </a:r>
          </a:p>
          <a:p xmlns:a="http://schemas.openxmlformats.org/drawingml/2006/main">
            <a:pPr>
              <a:defRPr sz="1200">
                <a:solidFill>
                  <a:srgbClr val="D6D8D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D6D8D8"/>
                </a:solidFill>
                <a:latin typeface="Arial"/>
                <a:ea typeface="Arial"/>
                <a:cs typeface="Arial"/>
              </a:rPr>
              <a:t>未確認は「要確認」と表示 / 各ページに図解案</a:t>
            </a:r>
          </a:p>
        </p:txBody>
      </p:sp>
    </p:spTree>
    <p:extLst>
      <p:ext uri="{BB962C8B-B14F-4D97-AF65-F5344CB8AC3E}">
        <p14:creationId xmlns:p14="http://schemas.microsoft.com/office/powerpoint/2010/main" val="4432151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9EA0BB-AC40-432A-BF80-045DAD72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845576-68DE-4761-8E82-9D1041AA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33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6168"/>
                </a:solidFill>
                <a:latin typeface="Arial"/>
                <a:ea typeface="Arial"/>
                <a:cs typeface="Arial"/>
              </a:rPr>
              <a:t>METHOD / VISUAL GRAMMAR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E68BCF-DD38-40F7-8584-48C163B1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1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FE87D7-DC6E-467E-83FB-D0CDE294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784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情報の種類に合わせて、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レイアウトを選びます。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3100DA-CD3D-4213-912F-8C9F207A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D6168"/>
                </a:solidFill>
                <a:latin typeface="Arial"/>
                <a:ea typeface="Arial"/>
                <a:cs typeface="Arial"/>
              </a:rPr>
              <a:t>レイアウトは飾りではなく、情報の関係を見せる道具です。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5D53F6-0BDC-4EED-99FE-47D496CB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18859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D3B514-5E84-4FFE-83C3-F47EAC61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168"/>
                </a:solidFill>
                <a:latin typeface="Arial"/>
                <a:ea typeface="Arial"/>
                <a:cs typeface="Arial"/>
              </a:rPr>
              <a:t>結論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0DBBB2-A0C6-42C9-A14D-BC500ED3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Hero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2C6A34-5A7D-4ACB-BFD7-4EC17B7E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1504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2AA171-3088-422A-9736-58178E23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D30CD3-B1A9-4787-9B66-2D4D7269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168"/>
                </a:solidFill>
                <a:latin typeface="Arial"/>
                <a:ea typeface="Arial"/>
                <a:cs typeface="Arial"/>
              </a:rPr>
              <a:t>一つの主張を大きく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E36067-5CF1-4855-886D-D0434A56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048000"/>
            <a:ext cx="18859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BAF5B2-FB4E-41E9-B2D7-363E2D29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2385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168"/>
                </a:solidFill>
                <a:latin typeface="Arial"/>
                <a:ea typeface="Arial"/>
                <a:cs typeface="Arial"/>
              </a:rPr>
              <a:t>比較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532713-1341-4D3A-BAA8-D5C3ECA6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5433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Contrast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6E8BBF-DECA-45A5-80AF-B334A48D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000500"/>
            <a:ext cx="685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D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162B02-6D94-4E5B-BB05-4C84C6F2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000500"/>
            <a:ext cx="704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16A012-DCE0-4383-877B-B22FC6C8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000500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27756B-ED05-49FB-87D4-7FECA3FA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7053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168"/>
                </a:solidFill>
                <a:latin typeface="Arial"/>
                <a:ea typeface="Arial"/>
                <a:cs typeface="Arial"/>
              </a:rPr>
              <a:t>違いを左右で見せる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6A66F8-8686-475F-B8F5-5237D152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048000"/>
            <a:ext cx="18859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90D6C9-8224-4044-8C19-55A2EEFE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2385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168"/>
                </a:solidFill>
                <a:latin typeface="Arial"/>
                <a:ea typeface="Arial"/>
                <a:cs typeface="Arial"/>
              </a:rPr>
              <a:t>手順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B9C559-D5C2-4C69-A8B9-1C88500D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5433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Process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7A00BC-FC49-43D9-AE6B-B6FA49AE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267200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27D383-BBFA-4F0D-8216-CB2DD688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152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3B5846-712D-40E3-9202-FCF941DB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152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B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2ED5E4-18F1-4D59-A5BD-D56F3680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52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997631-F529-4B91-BB52-93533374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7053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168"/>
                </a:solidFill>
                <a:latin typeface="Arial"/>
                <a:ea typeface="Arial"/>
                <a:cs typeface="Arial"/>
              </a:rPr>
              <a:t>順番を左から右へ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457725-2EA2-4952-825A-0A342738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048000"/>
            <a:ext cx="18859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1C7711-FF53-4830-89E0-FF5487EE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2385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168"/>
                </a:solidFill>
                <a:latin typeface="Arial"/>
                <a:ea typeface="Arial"/>
                <a:cs typeface="Arial"/>
              </a:rPr>
              <a:t>根拠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C8D782-2E59-4326-9097-7809493B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5433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E24C84-A558-4D41-B6ED-DCE9ECE6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000500"/>
            <a:ext cx="685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4ACD33-BA84-42AC-8E49-1DFD4D1A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000500"/>
            <a:ext cx="704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11D72D-1C02-4108-BCEC-CFAD59DA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000500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C03A2C-0823-4147-8C11-5DF4497A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7053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168"/>
                </a:solidFill>
                <a:latin typeface="Arial"/>
                <a:ea typeface="Arial"/>
                <a:cs typeface="Arial"/>
              </a:rPr>
              <a:t>数字を主役にする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DCB541-69F4-43C0-8FB2-2CAA78BA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48000"/>
            <a:ext cx="18859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DD5182-C1D6-4BC5-89B6-CBF734C0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2385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168"/>
                </a:solidFill>
                <a:latin typeface="Arial"/>
                <a:ea typeface="Arial"/>
                <a:cs typeface="Arial"/>
              </a:rPr>
              <a:t>行動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D4FDDC-4B6A-4EEC-9D0F-8750EAE4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5433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CTA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971A3D-51CB-42B2-9BE6-56954893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038600"/>
            <a:ext cx="1504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A429B9-8D97-46D5-B947-56B7D6D8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26720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335321-13EB-4871-A050-163DCEA0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7053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168"/>
                </a:solidFill>
                <a:latin typeface="Arial"/>
                <a:ea typeface="Arial"/>
                <a:cs typeface="Arial"/>
              </a:rPr>
              <a:t>次の一歩を絞る</a:t>
            </a:r>
          </a:p>
        </p:txBody>
      </p:sp>
    </p:spTree>
    <p:extLst>
      <p:ext uri="{BB962C8B-B14F-4D97-AF65-F5344CB8AC3E}">
        <p14:creationId xmlns:p14="http://schemas.microsoft.com/office/powerpoint/2010/main" val="15419292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F422E6-3EAE-457C-A5BE-F94F216A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D2B1C5-34C5-4FCD-BD77-98C31D75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33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6168"/>
                </a:solidFill>
                <a:latin typeface="Arial"/>
                <a:ea typeface="Arial"/>
                <a:cs typeface="Arial"/>
              </a:rPr>
              <a:t>METHOD /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FF02F0-6D27-4D14-9DDD-20BB0FAF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1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41AFD4-2FD7-49DE-A58B-A530D4F7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784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数字は、強い言葉より先に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“根拠の置き場所”を決めます。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7D718-0A84-41B1-9679-CFEBE04D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D6168"/>
                </a:solidFill>
                <a:latin typeface="Arial"/>
                <a:ea typeface="Arial"/>
                <a:cs typeface="Arial"/>
              </a:rPr>
              <a:t>AIに数字を作らせない。数字を使うなら、出典・基準日・定義を添えます。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6204DE-3948-4023-971D-E38297E7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48558A-C6A7-45E7-BB22-5BE94720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718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主張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4388C6-26B9-4F33-BC23-42DC8820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718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111"/>
                </a:solidFill>
                <a:latin typeface="Arial"/>
                <a:ea typeface="Arial"/>
                <a:cs typeface="Arial"/>
              </a:rPr>
              <a:t>営業の初回返信を早める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2657D2-A6EE-4305-8413-8E7CE801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908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D6168"/>
                </a:solidFill>
                <a:latin typeface="Arial"/>
                <a:ea typeface="Arial"/>
                <a:cs typeface="Arial"/>
              </a:rPr>
              <a:t>何を変える？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4E2CFC-5EE8-4AED-B4AF-BEBD0EFC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86150"/>
            <a:ext cx="9315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5D1DAA-D4F6-451B-8C34-F18A94BE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8132C5-BCEF-4488-BA82-EE740A83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90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根拠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2F3EB5-1F48-4ED9-8CBC-353CC246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909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111"/>
                </a:solidFill>
                <a:latin typeface="Arial"/>
                <a:ea typeface="Arial"/>
                <a:cs typeface="Arial"/>
              </a:rPr>
              <a:t>自社の問い合わせログ / 直近90日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DA7075-7C1E-49D7-B45C-2F8E8658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100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D6168"/>
                </a:solidFill>
                <a:latin typeface="Arial"/>
                <a:ea typeface="Arial"/>
                <a:cs typeface="Arial"/>
              </a:rPr>
              <a:t>どこから来た？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D5BE61-DFBB-45F5-AABC-1410E245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05300"/>
            <a:ext cx="9315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6109A6-3800-4839-AB29-218404AB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B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569BDD-C70A-4282-ACDC-3807EE6B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10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注意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FD05B2-AF9A-4A2F-8EE0-06C32D95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101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111"/>
                </a:solidFill>
                <a:latin typeface="Arial"/>
                <a:ea typeface="Arial"/>
                <a:cs typeface="Arial"/>
              </a:rPr>
              <a:t>対象期間と母数を脚注に置く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DC1D70-A548-447B-A1DA-4C8FD2EC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291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D6168"/>
                </a:solidFill>
                <a:latin typeface="Arial"/>
                <a:ea typeface="Arial"/>
                <a:cs typeface="Arial"/>
              </a:rPr>
              <a:t>どこまで言える？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DC9BC6-1075-4880-926D-B712E092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24450"/>
            <a:ext cx="9315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676489-466B-4345-9ABC-CDB7DCA3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7850"/>
            <a:ext cx="971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46D1D8-7F77-43FA-8177-159BF341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9120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要確認のまま残すことは、弱さではなく、信頼性を守る編集判断です。</a:t>
            </a:r>
          </a:p>
        </p:txBody>
      </p:sp>
    </p:spTree>
    <p:extLst>
      <p:ext uri="{BB962C8B-B14F-4D97-AF65-F5344CB8AC3E}">
        <p14:creationId xmlns:p14="http://schemas.microsoft.com/office/powerpoint/2010/main" val="19625726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72AF48-27F2-4689-BCE3-3691B1E3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91C30F-787A-4A44-AB1B-2712A2A6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33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6168"/>
                </a:solidFill>
                <a:latin typeface="Arial"/>
                <a:ea typeface="Arial"/>
                <a:cs typeface="Arial"/>
              </a:rPr>
              <a:t>METHOD / QA BEFORE DELIVERY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FC0136-36C4-4BE8-97F2-CD36B939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1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829AF8-31DF-478F-ADB7-8E5B91F7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784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完成とは、生成できたことではなく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“提出しても崩れない”こと。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E46922-FB51-4E0A-A42C-346348E7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D6168"/>
                </a:solidFill>
                <a:latin typeface="Arial"/>
                <a:ea typeface="Arial"/>
                <a:cs typeface="Arial"/>
              </a:rPr>
              <a:t>AIスライドは、内容・見た目・書き出しの3方向から確認します。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F46800-F252-4D85-A316-AB0BAEB6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29146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DFCE21-657D-4A88-A183-F2B16944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2914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A8AE3D-8F83-4132-A31F-C0B25AC1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33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6168"/>
                </a:solidFill>
                <a:latin typeface="Arial"/>
                <a:ea typeface="Arial"/>
                <a:cs typeface="Arial"/>
              </a:rPr>
              <a:t>CONTENT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1260A5-8C86-46D3-BC6C-4EF76482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290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4D8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4D84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186A13-CC27-46EA-AE58-0ACE54E8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857625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結論は1枚1つか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9C2346-7EA7-4A3F-A640-5F93759A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005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4D8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4D84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A7FFCE-702C-45A4-83EB-90F2FB38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2912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数字と出典は追えるか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94561D-9D20-414B-AA3F-8F4895F4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52750"/>
            <a:ext cx="29146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11D318-5C50-4617-B0E4-FF1AFB48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52750"/>
            <a:ext cx="2914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D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E3B43C-AE9A-40E7-B7F9-C733273E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33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6168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DC89B0-6A22-4E86-8DBD-2ED77936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290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8ED7F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8ED7F0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747FF5-FCF7-4FB0-A895-2536F311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57625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721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タイトルだけで意味が伝わるか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910E6D-C0C2-40B6-8B22-0ADADD90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005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8ED7F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8ED7F0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237F96-82DE-4504-96B4-B51D4B29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2912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63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図解が主張を補助しているか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F17026-1E0B-4C29-97EB-48B6EEB9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52750"/>
            <a:ext cx="29146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9525">
            <a:solidFill>
              <a:srgbClr val="D9D9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DA848A-641E-4648-97DE-6ABF0839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52750"/>
            <a:ext cx="2914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B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5F540B-7029-4AD7-89A3-054CC39D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33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6168"/>
                </a:solidFill>
                <a:latin typeface="Arial"/>
                <a:ea typeface="Arial"/>
                <a:cs typeface="Arial"/>
              </a:rPr>
              <a:t>EXPORT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4E2747-7CE4-400B-88C1-45E678FC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290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8B7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8B7B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1C40EE-D549-4D5C-B87B-1691A5CC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57625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279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PPTXとPDFを両方開いたか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3670C1-8D41-415D-A503-06574698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005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8B7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8B7B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D7CD6D-E6A1-4D79-A524-7A9A7214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29125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37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文字切れ・順序・余白は安全か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69B3A9-DB7E-4615-8DA6-84D5FB96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578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全ページを画像で見る。</a:t>
            </a:r>
          </a:p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コードや作成ログだけを信じない。</a:t>
            </a:r>
          </a:p>
        </p:txBody>
      </p:sp>
    </p:spTree>
    <p:extLst>
      <p:ext uri="{BB962C8B-B14F-4D97-AF65-F5344CB8AC3E}">
        <p14:creationId xmlns:p14="http://schemas.microsoft.com/office/powerpoint/2010/main" val="9789957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06587D-96E1-44AE-910D-9FDB2A98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B6A3E4-3346-469E-AEFF-0A6D6FD4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33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5B8B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5B8B8"/>
                </a:solidFill>
                <a:latin typeface="Arial"/>
                <a:ea typeface="Arial"/>
                <a:cs typeface="Arial"/>
              </a:rPr>
              <a:t>TAKEAWAY / STARTER PROMPT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1623E4-B428-4492-9C8D-590482AC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5B8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5B8B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337E2-998B-4FFA-8CB5-62ED24E9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784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そのまま使える、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最初の1本。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C3C771-F81D-4F70-B1AF-BDD32220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6D8D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D6D8D8"/>
                </a:solidFill>
                <a:latin typeface="Arial"/>
                <a:ea typeface="Arial"/>
                <a:cs typeface="Arial"/>
              </a:rPr>
              <a:t>まずはAIに、ページを作らせる前の設計をさせます。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40F7A2-CC53-424C-BBA5-32498A72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107442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D1D"/>
          </a:solidFill>
          <a:ln xmlns:a="http://schemas.openxmlformats.org/drawingml/2006/main" w="9525">
            <a:solidFill>
              <a:srgbClr val="3E414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561DC5-97BC-452D-B7EC-C952C220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9620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5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FFFFF"/>
                </a:solidFill>
                <a:latin typeface="Arial"/>
                <a:ea typeface="Arial"/>
                <a:cs typeface="Arial"/>
              </a:rPr>
              <a:t>あなたは、経営者向け資料の編集者です。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5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FFFFF"/>
                </a:solidFill>
                <a:latin typeface="Arial"/>
                <a:ea typeface="Arial"/>
                <a:cs typeface="Arial"/>
              </a:rPr>
              <a:t>目的：［誰に］［何を判断してほしいか］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5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FFFFF"/>
                </a:solidFill>
                <a:latin typeface="Arial"/>
                <a:ea typeface="Arial"/>
                <a:cs typeface="Arial"/>
              </a:rPr>
              <a:t>前提：［現状 / 根拠 / 制約］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5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FFFFF"/>
                </a:solidFill>
                <a:latin typeface="Arial"/>
                <a:ea typeface="Arial"/>
                <a:cs typeface="Arial"/>
              </a:rPr>
              <a:t>出力：①全体の結論 ②ページごとの役割 ③図解案 ④確認が必要な点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5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FFFFF"/>
                </a:solidFill>
                <a:latin typeface="Arial"/>
                <a:ea typeface="Arial"/>
                <a:cs typeface="Arial"/>
              </a:rPr>
              <a:t>ルール：1ページ1メッセージ。未確認の数字は作らず「要確認」と書く。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C1EC19-5A5B-49B4-AC1A-7B073ACA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53100"/>
            <a:ext cx="2495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CAE909-C2F6-47FC-B7A7-03B29A68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4D84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D84D"/>
                </a:solidFill>
                <a:latin typeface="Arial"/>
                <a:ea typeface="Arial"/>
                <a:cs typeface="Arial"/>
              </a:rPr>
              <a:t>先に構造。あとからデザイン。</a:t>
            </a:r>
          </a:p>
        </p:txBody>
      </p:sp>
    </p:spTree>
    <p:extLst>
      <p:ext uri="{BB962C8B-B14F-4D97-AF65-F5344CB8AC3E}">
        <p14:creationId xmlns:p14="http://schemas.microsoft.com/office/powerpoint/2010/main" val="2004522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D8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CC13E5-E0E8-4A0C-910E-0DBCCB4C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EC7FFE-9992-4AE9-AB06-A09C3FDC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33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6168"/>
                </a:solidFill>
                <a:latin typeface="Arial"/>
                <a:ea typeface="Arial"/>
                <a:cs typeface="Arial"/>
              </a:rPr>
              <a:t>NEXT / FREE ADVISORY SESSION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8E8A0F-53B0-4012-AE54-4578F98B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16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16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F61F42-5400-4F95-B52A-41CAF08D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647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3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ここまでを、</a:t>
            </a:r>
          </a:p>
          <a:p xmlns:a="http://schemas.openxmlformats.org/drawingml/2006/main">
            <a:pPr>
              <a:lnSpc>
                <a:spcPct val="98000"/>
              </a:lnSpc>
              <a:buNone/>
              <a:defRPr sz="3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自社の仕事に落とし込む。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82E896-F5AB-4406-992E-756B2D90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552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無料顧問1回分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B7633E-5E4B-4795-AC2D-0073C344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5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11111"/>
                </a:solidFill>
                <a:latin typeface="Arial"/>
                <a:ea typeface="Arial"/>
                <a:cs typeface="Arial"/>
              </a:rPr>
              <a:t>用途・既存資料・業務フローを伺い、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15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11111"/>
                </a:solidFill>
                <a:latin typeface="Arial"/>
                <a:ea typeface="Arial"/>
                <a:cs typeface="Arial"/>
              </a:rPr>
              <a:t>AIに任せる範囲と、最初の一歩を一緒に決めます。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5703E2-79B9-4D21-B099-DD89061B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466850"/>
            <a:ext cx="2724150" cy="2724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F029BE-A405-4FED-9257-62205FD5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962150"/>
            <a:ext cx="123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8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F4D8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D84D"/>
                </a:solidFill>
                <a:latin typeface="Arial"/>
                <a:ea typeface="Arial"/>
                <a:cs typeface="Arial"/>
              </a:rPr>
              <a:t>01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F4D8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D84D"/>
                </a:solidFill>
                <a:latin typeface="Arial"/>
                <a:ea typeface="Arial"/>
                <a:cs typeface="Arial"/>
              </a:rPr>
              <a:t>相談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F4D8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D84D"/>
                </a:solidFill>
                <a:latin typeface="Arial"/>
                <a:ea typeface="Arial"/>
                <a:cs typeface="Arial"/>
              </a:rPr>
              <a:t>02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F4D8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D84D"/>
                </a:solidFill>
                <a:latin typeface="Arial"/>
                <a:ea typeface="Arial"/>
                <a:cs typeface="Arial"/>
              </a:rPr>
              <a:t>設計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F4D8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D84D"/>
                </a:solidFill>
                <a:latin typeface="Arial"/>
                <a:ea typeface="Arial"/>
                <a:cs typeface="Arial"/>
              </a:rPr>
              <a:t>03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F4D8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D84D"/>
                </a:solidFill>
                <a:latin typeface="Arial"/>
                <a:ea typeface="Arial"/>
                <a:cs typeface="Arial"/>
              </a:rPr>
              <a:t>実行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1B173A-99E9-4F64-B2CE-6DE5199A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62500"/>
            <a:ext cx="27241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BECC5B-310A-425D-A07E-67294083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339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無料顧問1回分を受ける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21E848-E3C3-49C3-92DE-D64FE640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AI顧問室</a:t>
            </a:r>
          </a:p>
        </p:txBody>
      </p:sp>
    </p:spTree>
    <p:extLst>
      <p:ext uri="{BB962C8B-B14F-4D97-AF65-F5344CB8AC3E}">
        <p14:creationId xmlns:p14="http://schemas.microsoft.com/office/powerpoint/2010/main" val="17440408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2026-07-28T10:40:39.5840000Z</dcterms:created>
  <dcterms:modified xsi:type="dcterms:W3CDTF">2026-07-28T10:40:39.5840000Z</dcterms:modified>
</coreProperties>
</file>