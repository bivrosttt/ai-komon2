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b76d168abbc4465" /><Relationship Type="http://schemas.openxmlformats.org/officeDocument/2006/relationships/extended-properties" Target="/docProps/app.xml" Id="R1cde06f9e4cc4608" /><Relationship Type="http://schemas.openxmlformats.org/officeDocument/2006/relationships/officeDocument" Target="/ppt/presentation.xml" Id="R8e9a9842938646c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6ca5a85f8434e45"/>
  </p:sldMasterIdLst>
  <p:notesMasterIdLst>
    <p:notesMasterId xmlns:r="http://schemas.openxmlformats.org/officeDocument/2006/relationships" r:id="R56f171a6df8245f9"/>
  </p:notesMasterIdLst>
  <p:sldIdLst>
    <p:sldId xmlns:r="http://schemas.openxmlformats.org/officeDocument/2006/relationships" id="256" r:id="R968b78b0efda4276"/>
    <p:sldId xmlns:r="http://schemas.openxmlformats.org/officeDocument/2006/relationships" id="257" r:id="Ra393014b4b4e4813"/>
    <p:sldId xmlns:r="http://schemas.openxmlformats.org/officeDocument/2006/relationships" id="258" r:id="Rfdaaab2ca24f4c62"/>
    <p:sldId xmlns:r="http://schemas.openxmlformats.org/officeDocument/2006/relationships" id="259" r:id="R23a2da037e3140f9"/>
    <p:sldId xmlns:r="http://schemas.openxmlformats.org/officeDocument/2006/relationships" id="260" r:id="R8cda8cb1b2a941e1"/>
    <p:sldId xmlns:r="http://schemas.openxmlformats.org/officeDocument/2006/relationships" id="261" r:id="Rbb0d8cfa4cb74765"/>
    <p:sldId xmlns:r="http://schemas.openxmlformats.org/officeDocument/2006/relationships" id="262" r:id="Re7b52209df054055"/>
    <p:sldId xmlns:r="http://schemas.openxmlformats.org/officeDocument/2006/relationships" id="263" r:id="R87937630c74b4bfc"/>
    <p:sldId xmlns:r="http://schemas.openxmlformats.org/officeDocument/2006/relationships" id="264" r:id="Rb3237dbefc0841bd"/>
    <p:sldId xmlns:r="http://schemas.openxmlformats.org/officeDocument/2006/relationships" id="265" r:id="R6245381653bf498e"/>
    <p:sldId xmlns:r="http://schemas.openxmlformats.org/officeDocument/2006/relationships" id="266" r:id="R6f11742457b44ef6"/>
    <p:sldId xmlns:r="http://schemas.openxmlformats.org/officeDocument/2006/relationships" id="267" r:id="Rc7aa0fabeeab4ae9"/>
    <p:sldId xmlns:r="http://schemas.openxmlformats.org/officeDocument/2006/relationships" id="268" r:id="R0f41ac992c344af0"/>
    <p:sldId xmlns:r="http://schemas.openxmlformats.org/officeDocument/2006/relationships" id="269" r:id="Re12d7a4267f044fd"/>
    <p:sldId xmlns:r="http://schemas.openxmlformats.org/officeDocument/2006/relationships" id="270" r:id="R415c6680bb7e4927"/>
    <p:sldId xmlns:r="http://schemas.openxmlformats.org/officeDocument/2006/relationships" id="271" r:id="R84d0169f372044aa"/>
    <p:sldId xmlns:r="http://schemas.openxmlformats.org/officeDocument/2006/relationships" id="272" r:id="R48b82554e84d4c14"/>
    <p:sldId xmlns:r="http://schemas.openxmlformats.org/officeDocument/2006/relationships" id="273" r:id="Rd2d1aed0d9944125"/>
    <p:sldId xmlns:r="http://schemas.openxmlformats.org/officeDocument/2006/relationships" id="274" r:id="R5d789252c0d8410b"/>
    <p:sldId xmlns:r="http://schemas.openxmlformats.org/officeDocument/2006/relationships" id="275" r:id="Rc7d8b188efce4d37"/>
    <p:sldId xmlns:r="http://schemas.openxmlformats.org/officeDocument/2006/relationships" id="276" r:id="Rf33936f964454c4d"/>
    <p:sldId xmlns:r="http://schemas.openxmlformats.org/officeDocument/2006/relationships" id="277" r:id="Rc5098446632e40e4"/>
    <p:sldId xmlns:r="http://schemas.openxmlformats.org/officeDocument/2006/relationships" id="278" r:id="R58289f81d4054814"/>
    <p:sldId xmlns:r="http://schemas.openxmlformats.org/officeDocument/2006/relationships" id="279" r:id="R00617baa1fbe4659"/>
    <p:sldId xmlns:r="http://schemas.openxmlformats.org/officeDocument/2006/relationships" id="280" r:id="Rc44a66473d944a17"/>
    <p:sldId xmlns:r="http://schemas.openxmlformats.org/officeDocument/2006/relationships" id="281" r:id="R4d6dc00e57b9409f"/>
    <p:sldId xmlns:r="http://schemas.openxmlformats.org/officeDocument/2006/relationships" id="282" r:id="R176110bbeadd4200"/>
    <p:sldId xmlns:r="http://schemas.openxmlformats.org/officeDocument/2006/relationships" id="283" r:id="Rc64f946f3cb94289"/>
    <p:sldId xmlns:r="http://schemas.openxmlformats.org/officeDocument/2006/relationships" id="284" r:id="R28a91f1cee2b4c26"/>
    <p:sldId xmlns:r="http://schemas.openxmlformats.org/officeDocument/2006/relationships" id="285" r:id="R8b8226fe3648441b"/>
    <p:sldId xmlns:r="http://schemas.openxmlformats.org/officeDocument/2006/relationships" id="286" r:id="R3d629b1a69d4422a"/>
    <p:sldId xmlns:r="http://schemas.openxmlformats.org/officeDocument/2006/relationships" id="287" r:id="R9ff5658d97b648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c38919000d8400d" /><Relationship Type="http://schemas.openxmlformats.org/officeDocument/2006/relationships/slideMaster" Target="/ppt/slideMasters/slideMaster1.xml" Id="R36ca5a85f8434e45" /><Relationship Type="http://schemas.openxmlformats.org/officeDocument/2006/relationships/notesMaster" Target="/ppt/notesMasters/notesMaster1.xml" Id="R56f171a6df8245f9" /><Relationship Type="http://schemas.openxmlformats.org/officeDocument/2006/relationships/presProps" Target="/ppt/presProps.xml" Id="R9ff59f0aee5649fc" /><Relationship Type="http://schemas.openxmlformats.org/officeDocument/2006/relationships/tableStyles" Target="/ppt/tableStyles.xml" Id="Rb883625d33e8488e" /><Relationship Type="http://schemas.openxmlformats.org/officeDocument/2006/relationships/slide" Target="/ppt/slides/slide1.xml" Id="R968b78b0efda4276" /><Relationship Type="http://schemas.openxmlformats.org/officeDocument/2006/relationships/slide" Target="/ppt/slides/slide2.xml" Id="Ra393014b4b4e4813" /><Relationship Type="http://schemas.openxmlformats.org/officeDocument/2006/relationships/slide" Target="/ppt/slides/slide3.xml" Id="Rfdaaab2ca24f4c62" /><Relationship Type="http://schemas.openxmlformats.org/officeDocument/2006/relationships/slide" Target="/ppt/slides/slide4.xml" Id="R23a2da037e3140f9" /><Relationship Type="http://schemas.openxmlformats.org/officeDocument/2006/relationships/slide" Target="/ppt/slides/slide5.xml" Id="R8cda8cb1b2a941e1" /><Relationship Type="http://schemas.openxmlformats.org/officeDocument/2006/relationships/slide" Target="/ppt/slides/slide6.xml" Id="Rbb0d8cfa4cb74765" /><Relationship Type="http://schemas.openxmlformats.org/officeDocument/2006/relationships/slide" Target="/ppt/slides/slide7.xml" Id="Re7b52209df054055" /><Relationship Type="http://schemas.openxmlformats.org/officeDocument/2006/relationships/slide" Target="/ppt/slides/slide8.xml" Id="R87937630c74b4bfc" /><Relationship Type="http://schemas.openxmlformats.org/officeDocument/2006/relationships/slide" Target="/ppt/slides/slide9.xml" Id="Rb3237dbefc0841bd" /><Relationship Type="http://schemas.openxmlformats.org/officeDocument/2006/relationships/slide" Target="/ppt/slides/slide10.xml" Id="R6245381653bf498e" /><Relationship Type="http://schemas.openxmlformats.org/officeDocument/2006/relationships/slide" Target="/ppt/slides/slide11.xml" Id="R6f11742457b44ef6" /><Relationship Type="http://schemas.openxmlformats.org/officeDocument/2006/relationships/slide" Target="/ppt/slides/slide12.xml" Id="Rc7aa0fabeeab4ae9" /><Relationship Type="http://schemas.openxmlformats.org/officeDocument/2006/relationships/slide" Target="/ppt/slides/slide13.xml" Id="R0f41ac992c344af0" /><Relationship Type="http://schemas.openxmlformats.org/officeDocument/2006/relationships/slide" Target="/ppt/slides/slide14.xml" Id="Re12d7a4267f044fd" /><Relationship Type="http://schemas.openxmlformats.org/officeDocument/2006/relationships/slide" Target="/ppt/slides/slide15.xml" Id="R415c6680bb7e4927" /><Relationship Type="http://schemas.openxmlformats.org/officeDocument/2006/relationships/slide" Target="/ppt/slides/slide16.xml" Id="R84d0169f372044aa" /><Relationship Type="http://schemas.openxmlformats.org/officeDocument/2006/relationships/slide" Target="/ppt/slides/slide17.xml" Id="R48b82554e84d4c14" /><Relationship Type="http://schemas.openxmlformats.org/officeDocument/2006/relationships/slide" Target="/ppt/slides/slide18.xml" Id="Rd2d1aed0d9944125" /><Relationship Type="http://schemas.openxmlformats.org/officeDocument/2006/relationships/slide" Target="/ppt/slides/slide19.xml" Id="R5d789252c0d8410b" /><Relationship Type="http://schemas.openxmlformats.org/officeDocument/2006/relationships/slide" Target="/ppt/slides/slide20.xml" Id="Rc7d8b188efce4d37" /><Relationship Type="http://schemas.openxmlformats.org/officeDocument/2006/relationships/slide" Target="/ppt/slides/slide21.xml" Id="Rf33936f964454c4d" /><Relationship Type="http://schemas.openxmlformats.org/officeDocument/2006/relationships/slide" Target="/ppt/slides/slide22.xml" Id="Rc5098446632e40e4" /><Relationship Type="http://schemas.openxmlformats.org/officeDocument/2006/relationships/slide" Target="/ppt/slides/slide23.xml" Id="R58289f81d4054814" /><Relationship Type="http://schemas.openxmlformats.org/officeDocument/2006/relationships/slide" Target="/ppt/slides/slide24.xml" Id="R00617baa1fbe4659" /><Relationship Type="http://schemas.openxmlformats.org/officeDocument/2006/relationships/slide" Target="/ppt/slides/slide25.xml" Id="Rc44a66473d944a17" /><Relationship Type="http://schemas.openxmlformats.org/officeDocument/2006/relationships/slide" Target="/ppt/slides/slide26.xml" Id="R4d6dc00e57b9409f" /><Relationship Type="http://schemas.openxmlformats.org/officeDocument/2006/relationships/slide" Target="/ppt/slides/slide27.xml" Id="R176110bbeadd4200" /><Relationship Type="http://schemas.openxmlformats.org/officeDocument/2006/relationships/slide" Target="/ppt/slides/slide28.xml" Id="Rc64f946f3cb94289" /><Relationship Type="http://schemas.openxmlformats.org/officeDocument/2006/relationships/slide" Target="/ppt/slides/slide29.xml" Id="R28a91f1cee2b4c26" /><Relationship Type="http://schemas.openxmlformats.org/officeDocument/2006/relationships/slide" Target="/ppt/slides/slide30.xml" Id="R8b8226fe3648441b" /><Relationship Type="http://schemas.openxmlformats.org/officeDocument/2006/relationships/slide" Target="/ppt/slides/slide31.xml" Id="R3d629b1a69d4422a" /><Relationship Type="http://schemas.openxmlformats.org/officeDocument/2006/relationships/slide" Target="/ppt/slides/slide32.xml" Id="R9ff5658d97b648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1245b61c3b41c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cfa230ef4524dc3" /><Relationship Type="http://schemas.openxmlformats.org/officeDocument/2006/relationships/notesMaster" Target="/ppt/notesMasters/notesMaster1.xml" Id="Rc09cfcaa0d2a4c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6468eb4fd84992" /><Relationship Type="http://schemas.openxmlformats.org/officeDocument/2006/relationships/notesMaster" Target="/ppt/notesMasters/notesMaster1.xml" Id="R8ee45b99c0754d8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57cbf172b84430" /><Relationship Type="http://schemas.openxmlformats.org/officeDocument/2006/relationships/notesMaster" Target="/ppt/notesMasters/notesMaster1.xml" Id="Rc28a3d8da8a04b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09e251d2f745c4" /><Relationship Type="http://schemas.openxmlformats.org/officeDocument/2006/relationships/notesMaster" Target="/ppt/notesMasters/notesMaster1.xml" Id="Rf15c9a80fbc7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0a3a9244ce446e3" /><Relationship Type="http://schemas.openxmlformats.org/officeDocument/2006/relationships/notesMaster" Target="/ppt/notesMasters/notesMaster1.xml" Id="R3b76a77f8bc7423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60ff1cf5844af3" /><Relationship Type="http://schemas.openxmlformats.org/officeDocument/2006/relationships/notesMaster" Target="/ppt/notesMasters/notesMaster1.xml" Id="R82fe1b601dc743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ab41064e4344436" /><Relationship Type="http://schemas.openxmlformats.org/officeDocument/2006/relationships/notesMaster" Target="/ppt/notesMasters/notesMaster1.xml" Id="R6e62028df2694cf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dc39acc4cab47c2" /><Relationship Type="http://schemas.openxmlformats.org/officeDocument/2006/relationships/notesMaster" Target="/ppt/notesMasters/notesMaster1.xml" Id="Rc03d5d384a3441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41095b144c446b1" /><Relationship Type="http://schemas.openxmlformats.org/officeDocument/2006/relationships/notesMaster" Target="/ppt/notesMasters/notesMaster1.xml" Id="R8c18f4c5e3f941a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d871c6bb9d5452a" /><Relationship Type="http://schemas.openxmlformats.org/officeDocument/2006/relationships/notesMaster" Target="/ppt/notesMasters/notesMaster1.xml" Id="Rd0e2a813a212447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9e66e00b36f460b" /><Relationship Type="http://schemas.openxmlformats.org/officeDocument/2006/relationships/notesMaster" Target="/ppt/notesMasters/notesMaster1.xml" Id="R546c669dbc844e7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046700c8544928" /><Relationship Type="http://schemas.openxmlformats.org/officeDocument/2006/relationships/notesMaster" Target="/ppt/notesMasters/notesMaster1.xml" Id="Ra42b3835ff5b4cc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097df1d50f94465" /><Relationship Type="http://schemas.openxmlformats.org/officeDocument/2006/relationships/notesMaster" Target="/ppt/notesMasters/notesMaster1.xml" Id="Reb125b763601487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9b741dfc294389" /><Relationship Type="http://schemas.openxmlformats.org/officeDocument/2006/relationships/notesMaster" Target="/ppt/notesMasters/notesMaster1.xml" Id="R6ac25db9fb5f4b6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c0027ebc9bf4d22" /><Relationship Type="http://schemas.openxmlformats.org/officeDocument/2006/relationships/notesMaster" Target="/ppt/notesMasters/notesMaster1.xml" Id="Rc434932e292a42d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87b369fcb4448e2" /><Relationship Type="http://schemas.openxmlformats.org/officeDocument/2006/relationships/notesMaster" Target="/ppt/notesMasters/notesMaster1.xml" Id="Re76f6feae17c4a8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ab1bf027a7e4a29" /><Relationship Type="http://schemas.openxmlformats.org/officeDocument/2006/relationships/notesMaster" Target="/ppt/notesMasters/notesMaster1.xml" Id="R4f71ea0e1f21478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518aa26067e4122" /><Relationship Type="http://schemas.openxmlformats.org/officeDocument/2006/relationships/notesMaster" Target="/ppt/notesMasters/notesMaster1.xml" Id="Rb4cec10ac0e54d0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2d8fec34d284148" /><Relationship Type="http://schemas.openxmlformats.org/officeDocument/2006/relationships/notesMaster" Target="/ppt/notesMasters/notesMaster1.xml" Id="Re3211ed93cde4f2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af494944c73433b" /><Relationship Type="http://schemas.openxmlformats.org/officeDocument/2006/relationships/notesMaster" Target="/ppt/notesMasters/notesMaster1.xml" Id="Rbe2c3331a7b4441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bf8a66cdff7c48a9" /><Relationship Type="http://schemas.openxmlformats.org/officeDocument/2006/relationships/notesMaster" Target="/ppt/notesMasters/notesMaster1.xml" Id="R5ea7158cdfcb4112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30e62ff29574451d" /><Relationship Type="http://schemas.openxmlformats.org/officeDocument/2006/relationships/notesMaster" Target="/ppt/notesMasters/notesMaster1.xml" Id="R090879253ab74fcd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4e8e5f0156f49bf" /><Relationship Type="http://schemas.openxmlformats.org/officeDocument/2006/relationships/notesMaster" Target="/ppt/notesMasters/notesMaster1.xml" Id="R49b4b6777f234cd1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4bdc67486b94da7" /><Relationship Type="http://schemas.openxmlformats.org/officeDocument/2006/relationships/notesMaster" Target="/ppt/notesMasters/notesMaster1.xml" Id="R7599eeafbb94459d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6f1d6b14b0340bf" /><Relationship Type="http://schemas.openxmlformats.org/officeDocument/2006/relationships/notesMaster" Target="/ppt/notesMasters/notesMaster1.xml" Id="Re8dde2b8c43541e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c5243f60ec234c64" /><Relationship Type="http://schemas.openxmlformats.org/officeDocument/2006/relationships/notesMaster" Target="/ppt/notesMasters/notesMaster1.xml" Id="Re83b19d3962a46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df0086fc3174199" /><Relationship Type="http://schemas.openxmlformats.org/officeDocument/2006/relationships/notesMaster" Target="/ppt/notesMasters/notesMaster1.xml" Id="R2b711b00f75b4dc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e96a1e61f944dc8" /><Relationship Type="http://schemas.openxmlformats.org/officeDocument/2006/relationships/notesMaster" Target="/ppt/notesMasters/notesMaster1.xml" Id="R50f87341405c480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afd7b782b1374120" /><Relationship Type="http://schemas.openxmlformats.org/officeDocument/2006/relationships/notesMaster" Target="/ppt/notesMasters/notesMaster1.xml" Id="R4f3b881b11024385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5327c9f484346e6" /><Relationship Type="http://schemas.openxmlformats.org/officeDocument/2006/relationships/notesMaster" Target="/ppt/notesMasters/notesMaster1.xml" Id="R1ebe4ba839f7477b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29fabce2b0db450a" /><Relationship Type="http://schemas.openxmlformats.org/officeDocument/2006/relationships/notesMaster" Target="/ppt/notesMasters/notesMaster1.xml" Id="R2796b688c0f045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36cef0e070c84754" /><Relationship Type="http://schemas.openxmlformats.org/officeDocument/2006/relationships/notesMaster" Target="/ppt/notesMasters/notesMaster1.xml" Id="R3059af422e7b40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- https://www.duarte.com/training/duarte-big-idea/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https://www.duarte.com/training/duarte-big-idea/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https://www.duarte.com/training/duarte-big-idea/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- https://support.microsoft.com/en-us/powerpoint/title-a-slide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https://support.microsoft.com/en-us/PowerPoint/create-professional-slide-layouts-with-designer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https://support.microsoft.com/en-us/PowerPoint/create-professional-slide-layouts-with-designer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https://support.microsoft.com/en-us/powerpoint/title-a-slide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https://www.duarte.com/training/visual-storytelling-training/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  <a:p xmlns:a="http://schemas.openxmlformats.org/drawingml/2006/main">
            <a:r>
              <a:t>- https://help.openai.com/en/articles/6654000-how-to-use-advanced-prompt-engineering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https://help.openai.com/en/articles/10032626-prompt-engineering-best-practices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https://www.duarte.com/training/duarte-big-idea/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AI顧問室オリジナル整理。例は教材用の仮想ケースで、実測値ではありません。</a:t>
            </a:r>
          </a:p>
          <a:p xmlns:a="http://schemas.openxmlformats.org/drawingml/2006/main">
            <a:r>
              <a:t>- Illustrative image generated for this deck; no external stock asset used.</a:t>
            </a:r>
          </a:p>
          <a:p xmlns:a="http://schemas.openxmlformats.org/drawingml/2006/main">
            <a:r>
              <a:t>- https://support.microsoft.com/en-us/powerpoint/tips-for-creating-and-delivering-an-effective-presentation</a:t>
            </a:r>
          </a:p>
          <a:p xmlns:a="http://schemas.openxmlformats.org/drawingml/2006/main">
            <a:r>
              <a:t>- https://support.microsoft.com/en-us/accessibility/powerpoint/make-your-powerpoint-presentations-accessible-to-people-with-disabilities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d2aaa0acfd34e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bd289cc76d04cff" /><Relationship Type="http://schemas.openxmlformats.org/officeDocument/2006/relationships/slideLayout" Target="/ppt/slideLayouts/slideLayout1.xml" Id="Rd6a40c32c3414d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40c32c3414d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2f19aa66b40a1" /><Relationship Type="http://schemas.openxmlformats.org/officeDocument/2006/relationships/image" Target="/ppt/media/image.png" Id="Re31ee1493d4d403f" /><Relationship Type="http://schemas.openxmlformats.org/officeDocument/2006/relationships/notesSlide" Target="/ppt/notesSlides/notesSlide1.xml" Id="Ra08bf83b983a467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4a2bd130fa4a2a" /><Relationship Type="http://schemas.openxmlformats.org/officeDocument/2006/relationships/image" Target="/ppt/media/image2.png" Id="R4e2644fae4f14096" /><Relationship Type="http://schemas.openxmlformats.org/officeDocument/2006/relationships/notesSlide" Target="/ppt/notesSlides/notesSlide2.xml" Id="R2fe31ebec23a45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dbaabac22485b" /><Relationship Type="http://schemas.openxmlformats.org/officeDocument/2006/relationships/notesSlide" Target="/ppt/notesSlides/notesSlide3.xml" Id="R84dceb215e554b4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8c4e8d6b164799" /><Relationship Type="http://schemas.openxmlformats.org/officeDocument/2006/relationships/notesSlide" Target="/ppt/notesSlides/notesSlide4.xml" Id="R8296cb58f50148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5b9bd33ad9468d" /><Relationship Type="http://schemas.openxmlformats.org/officeDocument/2006/relationships/notesSlide" Target="/ppt/notesSlides/notesSlide5.xml" Id="R713a7c66b1644f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4c910793714fa1" /><Relationship Type="http://schemas.openxmlformats.org/officeDocument/2006/relationships/notesSlide" Target="/ppt/notesSlides/notesSlide6.xml" Id="R23907243307649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7b4a947204adb" /><Relationship Type="http://schemas.openxmlformats.org/officeDocument/2006/relationships/notesSlide" Target="/ppt/notesSlides/notesSlide7.xml" Id="R5382eac0d15948f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5335e8b33945c5" /><Relationship Type="http://schemas.openxmlformats.org/officeDocument/2006/relationships/notesSlide" Target="/ppt/notesSlides/notesSlide8.xml" Id="R995411cbfc724a2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ade3d3f4ef452d" /><Relationship Type="http://schemas.openxmlformats.org/officeDocument/2006/relationships/notesSlide" Target="/ppt/notesSlides/notesSlide9.xml" Id="Rae0988ebfdb9498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d0eaca64964660" /><Relationship Type="http://schemas.openxmlformats.org/officeDocument/2006/relationships/notesSlide" Target="/ppt/notesSlides/notesSlide10.xml" Id="Rf4af1ffb01b24a7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6d0f5060a74941" /><Relationship Type="http://schemas.openxmlformats.org/officeDocument/2006/relationships/notesSlide" Target="/ppt/notesSlides/notesSlide11.xml" Id="Rb2a215e73fe2454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1c95720a984dcb" /><Relationship Type="http://schemas.openxmlformats.org/officeDocument/2006/relationships/notesSlide" Target="/ppt/notesSlides/notesSlide12.xml" Id="R5de84cf75471498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bfdf0f4f483c" /><Relationship Type="http://schemas.openxmlformats.org/officeDocument/2006/relationships/notesSlide" Target="/ppt/notesSlides/notesSlide13.xml" Id="R1fcadd7e98e54f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64d9522553480f" /><Relationship Type="http://schemas.openxmlformats.org/officeDocument/2006/relationships/notesSlide" Target="/ppt/notesSlides/notesSlide14.xml" Id="Rebfc60c84ca74bc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4714fdc7941a5" /><Relationship Type="http://schemas.openxmlformats.org/officeDocument/2006/relationships/notesSlide" Target="/ppt/notesSlides/notesSlide15.xml" Id="R05a1ae13fb69475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f86fb77fc24224" /><Relationship Type="http://schemas.openxmlformats.org/officeDocument/2006/relationships/image" Target="/ppt/media/image3.png" Id="R28be85800a5d4b8e" /><Relationship Type="http://schemas.openxmlformats.org/officeDocument/2006/relationships/notesSlide" Target="/ppt/notesSlides/notesSlide16.xml" Id="Racef561cc04547d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fd7ae86ccb4422" /><Relationship Type="http://schemas.openxmlformats.org/officeDocument/2006/relationships/notesSlide" Target="/ppt/notesSlides/notesSlide17.xml" Id="R656aac38c290421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c0ee850e64fbe" /><Relationship Type="http://schemas.openxmlformats.org/officeDocument/2006/relationships/notesSlide" Target="/ppt/notesSlides/notesSlide18.xml" Id="R839c9ec46bec4a3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b50a8c48c4766" /><Relationship Type="http://schemas.openxmlformats.org/officeDocument/2006/relationships/notesSlide" Target="/ppt/notesSlides/notesSlide19.xml" Id="Rb8cf61149d5d42e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65da21716c4afe" /><Relationship Type="http://schemas.openxmlformats.org/officeDocument/2006/relationships/notesSlide" Target="/ppt/notesSlides/notesSlide20.xml" Id="R0df8b24d17f14204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f8a18e2754e91" /><Relationship Type="http://schemas.openxmlformats.org/officeDocument/2006/relationships/notesSlide" Target="/ppt/notesSlides/notesSlide21.xml" Id="R7b5a0997c637491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a673ffd2a4b0c" /><Relationship Type="http://schemas.openxmlformats.org/officeDocument/2006/relationships/notesSlide" Target="/ppt/notesSlides/notesSlide22.xml" Id="R75d2fb5b14a74ae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3237e1729f4572" /><Relationship Type="http://schemas.openxmlformats.org/officeDocument/2006/relationships/notesSlide" Target="/ppt/notesSlides/notesSlide23.xml" Id="Re46ef4e9d117496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ea0709d3cf4957" /><Relationship Type="http://schemas.openxmlformats.org/officeDocument/2006/relationships/image" Target="/ppt/media/image4.png" Id="R92c59c7d388a4b7d" /><Relationship Type="http://schemas.openxmlformats.org/officeDocument/2006/relationships/notesSlide" Target="/ppt/notesSlides/notesSlide24.xml" Id="R1e693ae5209d4af9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3e4796894943e8" /><Relationship Type="http://schemas.openxmlformats.org/officeDocument/2006/relationships/notesSlide" Target="/ppt/notesSlides/notesSlide25.xml" Id="Rc70c4040613f435f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9c26b9cdb54b99" /><Relationship Type="http://schemas.openxmlformats.org/officeDocument/2006/relationships/notesSlide" Target="/ppt/notesSlides/notesSlide26.xml" Id="Rf53625830e9945c4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4673b1004f4413" /><Relationship Type="http://schemas.openxmlformats.org/officeDocument/2006/relationships/notesSlide" Target="/ppt/notesSlides/notesSlide27.xml" Id="R628809b0330f4ea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3bf0417adc4489" /><Relationship Type="http://schemas.openxmlformats.org/officeDocument/2006/relationships/notesSlide" Target="/ppt/notesSlides/notesSlide28.xml" Id="Rc8dffbfe55ba417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942d360874bc9" /><Relationship Type="http://schemas.openxmlformats.org/officeDocument/2006/relationships/notesSlide" Target="/ppt/notesSlides/notesSlide29.xml" Id="Rba2de8e15fee4d9b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77dc2f2c654d27" /><Relationship Type="http://schemas.openxmlformats.org/officeDocument/2006/relationships/notesSlide" Target="/ppt/notesSlides/notesSlide30.xml" Id="R9232a1561da4406b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0d21d3b1f04594" /><Relationship Type="http://schemas.openxmlformats.org/officeDocument/2006/relationships/notesSlide" Target="/ppt/notesSlides/notesSlide31.xml" Id="R728fc2413fb34c5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10f9606fff4e98" /><Relationship Type="http://schemas.openxmlformats.org/officeDocument/2006/relationships/image" Target="/ppt/media/image5.png" Id="R8d45ef1c91ad4b1e" /><Relationship Type="http://schemas.openxmlformats.org/officeDocument/2006/relationships/notesSlide" Target="/ppt/notesSlides/notesSlide32.xml" Id="R9730930dfce34f9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1ee1493d4d403f"/>
          <a:srcRect xmlns:a="http://schemas.openxmlformats.org/drawingml/2006/main" l="20833" t="0" r="2083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D94B54-76AB-4B20-AD73-17D0B5254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8096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300828-A485-4322-8C46-5DA03410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95350"/>
            <a:ext cx="9525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1E2C2D-983F-4B7D-AFB4-873F0C9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91440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AI顧問室｜実務リードマグネット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0F6DF0F-BF47-40BD-BA2A-4ABD9FD51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76400"/>
            <a:ext cx="6096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98000"/>
              </a:lnSpc>
              <a:buNone/>
              <a:defRPr sz="42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クオリティの高い</a:t>
            </a:r>
          </a:p>
          <a:p xmlns:a="http://schemas.openxmlformats.org/drawingml/2006/main">
            <a:pPr>
              <a:lnSpc>
                <a:spcPct val="98000"/>
              </a:lnSpc>
              <a:buNone/>
              <a:defRPr sz="42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42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PowerPointの作り方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547DB8-F1F1-4197-AE2B-1E13A64BA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5334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592A7"/>
                </a:solidFill>
                <a:latin typeface="Aptos"/>
                <a:ea typeface="Aptos"/>
                <a:cs typeface="Aptos"/>
              </a:rPr>
              <a:t>見た目を整える前に、伝える順番を設計する。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7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8592A7"/>
                </a:solidFill>
                <a:latin typeface="Aptos"/>
                <a:ea typeface="Aptos"/>
                <a:cs typeface="Aptos"/>
              </a:rPr>
              <a:t>AIを使っても、最後は人が判断できる資料にする。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4B1616-9575-4598-A344-DD354969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600075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構成 → 根拠 → 図解 → 生成 → レビュー → 出力確認</a:t>
            </a:r>
          </a:p>
        </p:txBody>
      </p:sp>
    </p:spTree>
    <p:extLst>
      <p:ext uri="{BB962C8B-B14F-4D97-AF65-F5344CB8AC3E}">
        <p14:creationId xmlns:p14="http://schemas.microsoft.com/office/powerpoint/2010/main" val="16162780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86E915-AC5C-4D1A-99B0-B30CC3FFE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24D27E-7EE3-4B4E-936A-C4BAA13EB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2644fae4f14096"/>
          <a:srcRect xmlns:a="http://schemas.openxmlformats.org/drawingml/2006/main" l="26159" t="0" r="26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4AC68B-E3D5-44B3-897E-FD0610DFC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4A3DDC-E22E-4A98-84AF-4D8142FFE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23955-9A13-4560-9072-70B33E576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問題提起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EE7C00-588C-4FA6-A56D-5CBE51A26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きれいな資料なのに、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なぜ決まらないのか。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F9EDAE-9C14-4585-A36E-B259E134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情報は増えているのに、相手が理解し、判断し、動くための順番がありません。デザインは問題の解決ではなく、問題を見えやすくする鏡です。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1680C5-F2D8-476A-9649-87077A81C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96560684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8D7BCA-1607-42AA-B0FB-5E87EF23E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927502-2D7C-4E32-A6C0-DC41D09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57E28E9-A9E5-4FEE-AC43-AD2DFE65C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953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最悪の未来は、修正のたびに主張が弱くなること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07845AF-FF39-4341-883B-00059E57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上司・営業・現場の要望を全部足すと、1枚のスライドに複数の結論が同居します。結果、作る時間だけが増え、会議で決めたいことが残りません。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F0B2DE-52B7-49FE-A173-F62F22D0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885EF2-78AE-40E8-A9F4-F03F7FF09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861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誰向けかがぼやける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5C6E97-2241-4522-9EF3-8029E002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43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1E5271-9A7D-47BE-A31C-B30FC81E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7667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数字の出典が後回しになる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E1DE9-4DDF-41AC-B752-AE421FA5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148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A9C3C-F819-44D1-AE09-231C27A7A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67225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最後に『で、何を決めたいの？』が残る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EA915B-091D-44D0-83C2-4FC70C45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14325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D75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1FDAF3-1E53-49D2-BA09-2AF1BAED6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57600"/>
            <a:ext cx="123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決まらない</a:t>
            </a:r>
          </a:p>
        </p:txBody>
      </p:sp>
    </p:spTree>
    <p:extLst>
      <p:ext uri="{BB962C8B-B14F-4D97-AF65-F5344CB8AC3E}">
        <p14:creationId xmlns:p14="http://schemas.microsoft.com/office/powerpoint/2010/main" val="1868424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D1E4A49-38F7-4297-AC47-D52A7C709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EE9D0-45E1-4107-967A-6E7EEF4AE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58786A0-C9C5-41D3-9958-619DD08E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952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364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7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前提をそろえる：PowerPointは『絵』ではなく判断を運ぶ道具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72D425-02E0-4834-A193-DE0C72E1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19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145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F6B7A"/>
                </a:solidFill>
                <a:latin typeface="Aptos"/>
                <a:ea typeface="Aptos"/>
                <a:cs typeface="Aptos"/>
              </a:rPr>
              <a:t>スライドは、会議室の床に置く案内板です。見る人が迷わず、次の判断へ進める情報だけを載せます。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717921-7E6C-43D2-8C54-0E61DC29C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C9803-4CF6-49D5-884F-BC063C688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たとえ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627B1B-DB08-469E-A546-FADED073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90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案内板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C0477A-BF5C-4E7F-87C7-F0953BD0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8150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目的地、現在地、次の分岐が見える。装飾は案内を邪魔しない範囲にする。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8157D5-46B3-4ED8-8F89-B42E452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238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8779A1-FFE5-4BEE-91CF-05D52272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定義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9EBC3C-02AE-42D1-8CE4-394C24BEF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90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視覚的な階層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538B51-EAF8-4D9D-B506-92686DEED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8150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文字の大きさ、位置、余白、色で『最初に何を見るか』を決める。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F95DF-0B14-4F7E-8A92-B791D312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38500"/>
            <a:ext cx="3143250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D0EDE-1241-4EC0-AE4C-35D747634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48050"/>
            <a:ext cx="2686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実務例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172EC1-B16A-4F5A-8CB6-477455EE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90950"/>
            <a:ext cx="2686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1枚の役割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B2C951-ABE0-4338-91D1-23423EE96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6860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このスライドを読んだ相手に、何を理解・判断・実行してほしいかを一つにする。</a:t>
            </a:r>
          </a:p>
        </p:txBody>
      </p:sp>
    </p:spTree>
    <p:extLst>
      <p:ext uri="{BB962C8B-B14F-4D97-AF65-F5344CB8AC3E}">
        <p14:creationId xmlns:p14="http://schemas.microsoft.com/office/powerpoint/2010/main" val="20283877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BB01C-7499-4A2D-8F2E-5448F9CC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046892-162E-4082-8696-F8503B114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84E194-8141-4F0F-B636-A1CA7AE4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2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5108525-E60A-4D66-919B-1A2380E8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6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伝える順番をつくる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128F10-5DE1-4478-90DC-809A9DF6A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CC9EDA-AFBB-4B75-9172-39BF22E33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592A7"/>
                </a:solidFill>
                <a:latin typeface="Aptos"/>
                <a:ea typeface="Aptos"/>
                <a:cs typeface="Aptos"/>
              </a:rPr>
              <a:t>デザイン作業は、PowerPointを開く前から始まっています。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9752358-3E58-4854-8411-1C6F5897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次の章で、具体的な作り方へ</a:t>
            </a:r>
          </a:p>
        </p:txBody>
      </p:sp>
    </p:spTree>
    <p:extLst>
      <p:ext uri="{BB962C8B-B14F-4D97-AF65-F5344CB8AC3E}">
        <p14:creationId xmlns:p14="http://schemas.microsoft.com/office/powerpoint/2010/main" val="124071570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EBEEC-E74C-40E5-8F23-8CD863E9D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788A04-A0E7-4322-A62A-239EA72CD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92E103A-99E2-4383-B542-3DB6A840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最初に決めるのは、読後に相手がすること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ED0009-3AA3-4EA3-B0BC-2ED00A1B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5F6B7A"/>
                </a:solidFill>
                <a:latin typeface="Aptos"/>
                <a:ea typeface="Aptos"/>
                <a:cs typeface="Aptos"/>
              </a:rPr>
              <a:t>資料の目的を『情報を伝える』で止めず、相手の行動まで書きます。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3F5935-6586-4E70-BF5F-74484657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990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56AB3E-CE42-48A4-93AD-F7FF9EF4B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766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この資料を読んだあと、誰が、何を、いつまでに判断する？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131A10-2AB5-47D5-B642-55234E0C8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例：経営会議で、営業部長が、来月の実験予算を承認する</a:t>
            </a:r>
          </a:p>
        </p:txBody>
      </p:sp>
    </p:spTree>
    <p:extLst>
      <p:ext uri="{BB962C8B-B14F-4D97-AF65-F5344CB8AC3E}">
        <p14:creationId xmlns:p14="http://schemas.microsoft.com/office/powerpoint/2010/main" val="73090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A07775-2632-490A-994D-34BC70659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BED0-5BB5-4697-BE6F-07230A5C6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5296B24-BD59-4E07-A3D6-CDC82591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Big Ideaは、資料全体を束ねる一文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8A3893-625A-4850-938F-F7ED8BF33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6249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592A7"/>
                </a:solidFill>
                <a:latin typeface="Aptos"/>
                <a:ea typeface="Aptos"/>
                <a:cs typeface="Aptos"/>
              </a:rPr>
              <a:t>テーマは『AI導入について』。Big Ideaは『まず1業務・1指標で試すと、全社展開の失敗を減らせる』。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234E25-EBAE-47F1-9274-679ABD10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08204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AE6EDD-4B80-41EC-B0E6-0E1123793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67125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2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主張  ＋  なぜ今それが重要か  ＋  行動した先の変化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950D7E-A809-4038-969A-4EB9AD918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この一文を支えないスライドは、削るか別資料へ移す。</a:t>
            </a:r>
          </a:p>
        </p:txBody>
      </p:sp>
    </p:spTree>
    <p:extLst>
      <p:ext uri="{BB962C8B-B14F-4D97-AF65-F5344CB8AC3E}">
        <p14:creationId xmlns:p14="http://schemas.microsoft.com/office/powerpoint/2010/main" val="5369223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0396C-47FF-4276-9A50-595FF9DBC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634260-5255-455A-B936-8965F6F23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7A3A192-B69E-4312-B0DD-F27FF29B2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物語は『現在 → ギャップ → 未来 → 依頼』で組む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6A7086-6B86-464C-99E7-A6041D24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ギャップとは、今の状態と望ましい状態の差です。差が見えると、なぜ行動が必要かが伝わります。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28CB26-BF0E-4DFE-ADA1-F56C6E065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CDCE1-E509-4489-8A03-0AC23A6EE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8712AC-712A-49F4-975F-219FF1F8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現在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C379D-9001-4387-A566-2C03A1CB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29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会議のたびに資料を作り直す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7B721-3D65-4117-8E59-9F7887ECB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63855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82D5F1-F7A4-4834-B821-15B59BF6E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143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FC479-813F-4F0B-8CCC-56F698973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ギャップ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3634EEE-62D3-419F-8967-BC7736C03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829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判断に必要な根拠と順番がない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C46EFE-817A-4B0E-A435-37F24DA1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38550"/>
            <a:ext cx="43815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EEC751-7AD9-4C59-8321-95DFBB4AC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43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129BB5-0FF5-4795-9946-13749010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未来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6A56EB-7CA3-4F3E-9323-47F7466C9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829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再利用できる型で早く決める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C415F2-FA0F-4B9E-9585-0CBBC318F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09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426298-042B-4D86-BAB7-67C672BB8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90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依頼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4593FE-EBB2-49BA-AEB2-CA6E9C452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29050"/>
            <a:ext cx="171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1業務で小さく試す</a:t>
            </a:r>
          </a:p>
        </p:txBody>
      </p:sp>
    </p:spTree>
    <p:extLst>
      <p:ext uri="{BB962C8B-B14F-4D97-AF65-F5344CB8AC3E}">
        <p14:creationId xmlns:p14="http://schemas.microsoft.com/office/powerpoint/2010/main" val="124660425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50F0C4-8159-4B12-864C-14EAB8E93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F4ED3F-FF24-4287-A826-19D8F214C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FEE5807A-5622-477B-B3F5-E0FC985C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ストーリーボードは、スライドの設計図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465D20-BBF6-4059-B915-CB6512E29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本文を書く前に、各ページの『結論・根拠・次の問い』だけを並べます。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F7F81D-B9C6-47DD-87CD-B7E45803B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28950"/>
            <a:ext cx="1082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DD6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366284-654A-4A98-825C-99BEC550A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33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CB93B0-FDF1-4B70-AE07-F3119D0E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01 結論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8426FA-6B9B-4384-908D-5AE0CC24D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33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D83F2A-18BB-4D53-9257-07CC12FE8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02 なぜ今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88C0B3-2245-475D-838D-FA4AB03F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3337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F8C030-CD64-40D0-8824-02114ABAB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03 事実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E0DB69-5D27-495C-9E11-ABD9A7B7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100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B33CBF-AA66-4507-8874-A745D7D1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62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04 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F7E0D-6442-4D13-914B-2CB60696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2100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347867-DEEA-46EB-A9EC-FEF858246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362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05 選択肢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12ECE8-0627-42CC-BF51-BD325871F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210050"/>
            <a:ext cx="2857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6CCB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20B31-75B2-44D8-B9B1-9ACBBD09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36245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464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06 次の一手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5F4D4F-B87A-4433-B3A2-7C299FDB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86450"/>
            <a:ext cx="647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ページ番号ではなく、判断の順番で並べる。</a:t>
            </a:r>
          </a:p>
        </p:txBody>
      </p:sp>
    </p:spTree>
    <p:extLst>
      <p:ext uri="{BB962C8B-B14F-4D97-AF65-F5344CB8AC3E}">
        <p14:creationId xmlns:p14="http://schemas.microsoft.com/office/powerpoint/2010/main" val="185693005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00D352-042F-4C87-9C08-C15B2B6D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3BA453-1341-4F0A-9087-7289B1E1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853445A7-B3F5-4420-9E31-7E7DBCE4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906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0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根拠は、スライドの足場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B59C2B-7A7B-4347-8C65-1106384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数字・引用・事例は、出典、基準日、使ってよい範囲を一緒に管理します。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C89902-3695-4A18-BE6E-106230A6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solidFill>
              <a:srgbClr val="1B3B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2E0780-35FB-49E3-ACFE-F9E35C37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SOURCE LEDGER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E29EC-6EB2-400D-A9E8-8A1977B0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147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出典台帳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8CCE73-F994-43D0-A225-1D49D54D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053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592A7"/>
                </a:solidFill>
                <a:latin typeface="Aptos"/>
                <a:ea typeface="Aptos"/>
                <a:cs typeface="Aptos"/>
              </a:rPr>
              <a:t>URL / 資料名 / ページ / 基準日 / 主張の強さ / 再確認日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F53540-7534-48E9-94C6-FF35A735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162300"/>
            <a:ext cx="476250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solidFill>
              <a:srgbClr val="1B3B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830341-7960-4C29-9D6F-02FF5E62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3718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意味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F29EF-FE75-4E9B-9337-897C86E31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7147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主張の強さ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E06104-17EA-42F5-B9B0-0596295F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4305300"/>
            <a:ext cx="4305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592A7"/>
                </a:solidFill>
                <a:latin typeface="Aptos"/>
                <a:ea typeface="Aptos"/>
                <a:cs typeface="Aptos"/>
              </a:rPr>
              <a:t>事実・推定・仮説を分ける。AIに空白を埋めさせない。</a:t>
            </a:r>
          </a:p>
        </p:txBody>
      </p:sp>
    </p:spTree>
    <p:extLst>
      <p:ext uri="{BB962C8B-B14F-4D97-AF65-F5344CB8AC3E}">
        <p14:creationId xmlns:p14="http://schemas.microsoft.com/office/powerpoint/2010/main" val="69207836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B108AA-7035-477D-9B0A-DBCD31589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783970-0F5E-428A-8BA8-3DE986D84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3EC8D37-47A8-4A0D-AB38-A7C417C9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事実・推定・仮説を、同じ見た目にしない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AEF372-41B5-41A2-8809-4CD211DD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確度の違いをラベルと文章で明示すると、読み手は安心して次の判断に進めます。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F4D33D-79D4-4495-A97E-EF597C1F7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86639-10A5-41F2-AB1E-C9EA5DEE0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147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FACT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1C8A54-ECD9-427C-A1C1-781B8815D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576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事実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89DF9-12AE-4EEC-8522-ED0B543A1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社内の実績、公開資料、確認済みの数値。出典と基準日を付ける。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3C3C5B-A2BB-4CCE-BA34-69FB517EB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051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028CB4-D076-44E2-A728-3D075FA07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3147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ESTIMATE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BA6CE1-E9C7-4683-9374-C7E6F8AA8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576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推定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305982-D5E4-4DFC-B670-0B582627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2481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仮の計算や見込み。前提と幅を明示し、断定しない。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8BF2D6-86E1-422A-B817-CC1CA69A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05150"/>
            <a:ext cx="3238500" cy="2171700"/>
          </a:xfrm>
          <a:prstGeom xmlns:a="http://schemas.openxmlformats.org/drawingml/2006/main" prst="roundRect">
            <a:avLst>
              <a:gd name="adj" fmla="val 3509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ED6C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EC4574A-6529-4690-B8CA-2F8FC621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314700"/>
            <a:ext cx="2781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HYPOTHESIS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C3F340-9EF6-4DFC-AC25-DE5B8BFF4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57600"/>
            <a:ext cx="2781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仮説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453720-39C3-4319-B448-36D7263A4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48150"/>
            <a:ext cx="27813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まだ検証していない説明。小さな実験で確かめる。</a:t>
            </a:r>
          </a:p>
        </p:txBody>
      </p:sp>
    </p:spTree>
    <p:extLst>
      <p:ext uri="{BB962C8B-B14F-4D97-AF65-F5344CB8AC3E}">
        <p14:creationId xmlns:p14="http://schemas.microsoft.com/office/powerpoint/2010/main" val="206264690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DB13DA-32DA-41C1-8ADF-7B8D4DFA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570AB9-828F-4B29-B7C8-516CF2508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C00AE-3212-4EC6-8F63-E60CD5C28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2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E97DFF85-4C20-4C19-90B4-9FD4BA009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6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1枚の役割を決める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190C5F-9089-462C-9CC2-8058610D9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759BE9-08C6-4202-B797-2B945AC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5F6B7A"/>
                </a:solidFill>
                <a:latin typeface="Aptos"/>
                <a:ea typeface="Aptos"/>
                <a:cs typeface="Aptos"/>
              </a:rPr>
              <a:t>情報を足すより先に、見る順番と1枚の仕事を決めます。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CA1E76-42A5-4971-BF77-DCBC3960D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次の章で、具体的な作り方へ</a:t>
            </a:r>
          </a:p>
        </p:txBody>
      </p:sp>
    </p:spTree>
    <p:extLst>
      <p:ext uri="{BB962C8B-B14F-4D97-AF65-F5344CB8AC3E}">
        <p14:creationId xmlns:p14="http://schemas.microsoft.com/office/powerpoint/2010/main" val="37851610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83B379-A872-429C-B4ED-08AF26FC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8E485E-5D11-4483-81FA-D8D28F913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AF5CB3-DBC9-4BFD-857D-E1E309A0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048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1枚1メッセージは、情報を減らす技術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866861-9DAB-4BA7-ABCA-3B1539DD3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1枚に結論が3つあると、読み手は自分で優先順位を作らなければなりません。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C1E35B-368A-44C4-92D9-1405053D0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D75C5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9D99A8-977A-4C56-92C1-A6998DFF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429356-6AF9-422A-B1D8-5F101D2C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0342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情報を全部載せる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結論が3つ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視線が迷う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DDB732-6CB3-4E33-9C2E-CF2220C84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409575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678424-EE4D-4BEF-9331-C5771F83D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4290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74C308-082F-4BCB-8BBE-C31DFA8FB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48100"/>
            <a:ext cx="3429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0342"/>
          </a:bodyPr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結論を1つにする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根拠は2つまで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9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視線が進む</a:t>
            </a:r>
          </a:p>
        </p:txBody>
      </p:sp>
    </p:spTree>
    <p:extLst>
      <p:ext uri="{BB962C8B-B14F-4D97-AF65-F5344CB8AC3E}">
        <p14:creationId xmlns:p14="http://schemas.microsoft.com/office/powerpoint/2010/main" val="77791424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F6CA866-AAAA-49A5-9A27-2AAF547D0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63DD5-BBA6-4B7D-9687-6119007D5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720DEDC-45C7-4E38-94EC-DD4210B1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レイアウトは、内容に合わせて選ぶ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95F3DB-BF18-4CD7-9BBC-F92A9BD81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毎回同じ箱を並べるのではなく、内容の関係に合う型を使います。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97321D-3366-42A1-BFE8-410524A1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F84708-E0DF-4C95-AD41-2B8D0B5B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HERO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290F94-9732-4010-8DA4-2CAA4441E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71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強い1メッセージ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058198-2A7F-4FE0-88AD-C96FF69D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0D0E85-204A-4035-874C-7BFB9BD8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481269-51E6-4711-8053-8C31EDADD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71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違いを見せる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E6A1C-1510-4A1B-8CF0-BA0D7BEE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C29259-43F1-4417-8210-B6A49E50F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PROCESS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3D3AB-570B-466A-BFC1-C81BA58B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71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順番を見せる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3DE6E-C2B0-4BDB-AD8A-A1C1E0F62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43250"/>
            <a:ext cx="2333625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4FD309-3FB0-43D4-9111-5A4C4749A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WORKSHEET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E64C03-8BDE-40BA-ACBB-F3B2B3D99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719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7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手を動かす</a:t>
            </a:r>
          </a:p>
        </p:txBody>
      </p:sp>
    </p:spTree>
    <p:extLst>
      <p:ext uri="{BB962C8B-B14F-4D97-AF65-F5344CB8AC3E}">
        <p14:creationId xmlns:p14="http://schemas.microsoft.com/office/powerpoint/2010/main" val="17478158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5CC97D-1DFC-40D4-A6C4-71EC9EAB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9D6A0F-5967-46D4-9083-97380FFFF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1CF0B9FC-1A1E-44FF-8512-827737006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図解は、関係を見えるようにする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854D67-994F-458D-B2DF-54ADAB43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図形を増やすのではなく、『順番』『比較』『分岐』『重なり』のどれを伝えるか決めます。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E954F-5243-41AC-B446-F0AC47DB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386DBE-BB71-4EF5-80D3-5B043DED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86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9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順番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C9CF86-397D-47B2-9191-3C49FEB6D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19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F6B7A"/>
                </a:solidFill>
                <a:latin typeface="Aptos"/>
                <a:ea typeface="Aptos"/>
                <a:cs typeface="Aptos"/>
              </a:rPr>
              <a:t>工程・ロードマップ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D76D74-E9A8-473F-8BDF-6310FFF5B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ECB78-CB22-4808-BAED-03546FDD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486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9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比較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42F05B-417E-4342-A2AB-44D661A1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019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8592A7"/>
                </a:solidFill>
                <a:latin typeface="Aptos"/>
                <a:ea typeface="Aptos"/>
                <a:cs typeface="Aptos"/>
              </a:rPr>
              <a:t>Before / After・選択肢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54B781-BC06-456F-BA04-A20BCCC10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238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3C376-F759-4CAC-B77E-B46726A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486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9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分岐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5F8C24-C311-49CD-85B2-3906CB23D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19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F6B7A"/>
                </a:solidFill>
                <a:latin typeface="Aptos"/>
                <a:ea typeface="Aptos"/>
                <a:cs typeface="Aptos"/>
              </a:rPr>
              <a:t>条件・判断フロー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5CC1FE-1328-4FF7-8AAC-5477BDDC8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38500"/>
            <a:ext cx="2000250" cy="1381125"/>
          </a:xfrm>
          <a:prstGeom xmlns:a="http://schemas.openxmlformats.org/drawingml/2006/main" prst="roundRect">
            <a:avLst>
              <a:gd name="adj" fmla="val 5517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C27179-4B0C-4959-8E96-2B1847C5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48615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96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9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重なり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387D6E3-1F42-4D31-A64F-89EDBAC09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019550"/>
            <a:ext cx="161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2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8592A7"/>
                </a:solidFill>
                <a:latin typeface="Aptos"/>
                <a:ea typeface="Aptos"/>
                <a:cs typeface="Aptos"/>
              </a:rPr>
              <a:t>役割・レイヤー</a:t>
            </a:r>
          </a:p>
        </p:txBody>
      </p:sp>
    </p:spTree>
    <p:extLst>
      <p:ext uri="{BB962C8B-B14F-4D97-AF65-F5344CB8AC3E}">
        <p14:creationId xmlns:p14="http://schemas.microsoft.com/office/powerpoint/2010/main" val="31404868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E6FBAE-FAD2-4B49-8E54-BE94A00B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4E8D2F-2C13-4B22-91C3-7F2573150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be85800a5d4b8e"/>
          <a:srcRect xmlns:a="http://schemas.openxmlformats.org/drawingml/2006/main" l="18229" t="0" r="1822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BF9131-34FC-4EBA-9D43-09E4BD1C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D3D485-41E4-4A10-96DD-FD66C956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60006-7D5F-4D95-88DC-388F80770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比喩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07F6019-A45F-4E75-B28D-65BD1F0FD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AIに任せる前に、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『優秀な新人』として扱う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766792-DC1D-43EC-A288-CD05F72C9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AIは速く下書きを作れますが、社内事情・例外・顧客との約束を自動では知りません。前提、禁止事項、完成条件を渡すほど安定します。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D654C0-2DF4-4EF8-9545-3C33BEC69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2202711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DF92DA-5C33-4934-ACD2-24E15D151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9B11DE-F6F8-4774-941C-B7D10894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A8957ED-17A2-4647-9456-34F86EA9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写真は、主張を説明するために使う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94E95D-850B-49FF-B9B8-8B90020B9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写真を置くだけでは、視線は動いても理解は進みません。画像の役割を1つ決めます。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DBC158-EBF4-49D4-B906-9B3A30F3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3D133C-1AF3-4C66-86CA-D375ED48A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1432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状況を見せる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97041D-AD66-42B3-B48F-71402A2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718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現場・人物・場所で、今の状態を伝える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EC0904-C05D-49BE-A92D-3DE854C38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9243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3DCC20-2148-4A4D-A2B3-FCC0CC4D2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88620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感情をつくる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312601-FB97-449A-8BB4-89AD485A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1477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変化の大きさや緊張感を伝える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88114A-DE20-4D14-BE7B-1341BFBC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0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42291A-F3E9-4FCA-BC5F-2BD79C29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比喩を置く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D8ED0D-1B09-4355-A61D-C7B0B7486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6577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42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8592A7"/>
                </a:solidFill>
                <a:latin typeface="Aptos"/>
                <a:ea typeface="Aptos"/>
                <a:cs typeface="Aptos"/>
              </a:rPr>
              <a:t>複雑な概念を、身近な物に置き換える</a:t>
            </a:r>
          </a:p>
        </p:txBody>
      </p:sp>
    </p:spTree>
    <p:extLst>
      <p:ext uri="{BB962C8B-B14F-4D97-AF65-F5344CB8AC3E}">
        <p14:creationId xmlns:p14="http://schemas.microsoft.com/office/powerpoint/2010/main" val="157919550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7BEB650-1A5B-41C1-83EC-FB246E37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1C2E83-030B-4874-B36F-EC71D014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7A15F2C-44E5-4117-892D-509086E67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Before / Afterは、差分を1つに絞る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49D210-2811-40ED-897E-32CFCFA2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比較スライドでは、色・位置・数値のすべてで差を作らず、何が変わったかを一つ強調します。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CD8C93-144D-430D-8EDA-11E59B8D1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7F1E7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92086-DE8E-472D-B8F0-C76ACDAF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429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Before｜会議前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A25505-81A4-4D74-B591-F4B07190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005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D75C5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5C58"/>
                </a:solidFill>
                <a:latin typeface="Aptos"/>
                <a:ea typeface="Aptos"/>
                <a:cs typeface="Aptos"/>
              </a:rPr>
              <a:t>資料を毎回ゼロから作る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D75C5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D75C58"/>
                </a:solidFill>
                <a:latin typeface="Aptos"/>
                <a:ea typeface="Aptos"/>
                <a:cs typeface="Aptos"/>
              </a:rPr>
              <a:t>判断材料が散らばる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7BD6E7-6A0D-42AF-B289-383FE6BF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FE5F43-F8DC-4220-8DF6-D5AC5B9BF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290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After｜型を使う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6C8E45-0BB2-40C3-8753-F1CCCC2D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000500"/>
            <a:ext cx="361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結論から並べる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8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根拠と次の一手が残る</a:t>
            </a:r>
          </a:p>
        </p:txBody>
      </p:sp>
    </p:spTree>
    <p:extLst>
      <p:ext uri="{BB962C8B-B14F-4D97-AF65-F5344CB8AC3E}">
        <p14:creationId xmlns:p14="http://schemas.microsoft.com/office/powerpoint/2010/main" val="481332103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B9C5D6-1ED1-46D9-9D8D-972C90D8B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D22A9C-24CD-47BC-9987-A6CF08C4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26419A1-6AB8-49FB-8635-1FEDA748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763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チャートは、問いに答えるために選ぶ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4344B7-A932-4298-ABA8-4B608F628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『何が多いか』『どう変わったか』『何が関係するか』で、向くチャートが変わります。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086426-378F-4E1C-A13B-4E9D0317B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143250"/>
            <a:ext cx="23336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9AACC4-6D32-4A0D-9FC7-3482A77BC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比較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C44B4-4856-4F7F-AD42-827BF9C1C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52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663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棒グラフ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41E1C7-361A-4685-BF88-52B4B6A75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5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項目の差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DF0C7E-8FA9-4414-B186-B78228396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3143250"/>
            <a:ext cx="23336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03A5E0-2F7E-453B-975E-BB9A74B19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推移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D8238D-E626-4DED-83E8-F46941C6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752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663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折れ線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B0440-4DB4-4823-92DE-DBE22D83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5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592A7"/>
                </a:solidFill>
                <a:latin typeface="Aptos"/>
                <a:ea typeface="Aptos"/>
                <a:cs typeface="Aptos"/>
              </a:rPr>
              <a:t>時間の変化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EED41C-0F59-447C-AB80-DB6193E26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43250"/>
            <a:ext cx="23336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F2AD50-F18F-4F5C-8BDA-496AD8BC8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構成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AA3856-24D3-4378-946A-EE623A829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752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663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積み上げ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89BCE-3D5A-4BC7-AB75-0A66B599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5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全体の内訳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AD685E-C30E-4DB3-B0E3-181B0DE9E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143250"/>
            <a:ext cx="2333625" cy="1695450"/>
          </a:xfrm>
          <a:prstGeom xmlns:a="http://schemas.openxmlformats.org/drawingml/2006/main" prst="roundRect">
            <a:avLst>
              <a:gd name="adj" fmla="val 4494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2B2F2C-B525-4CD9-B358-FBC3BF8F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関係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6EEBEF-D1F0-4D36-BCAA-B7F047DD9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752850"/>
            <a:ext cx="190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663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20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散布図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4EDCA5-5A3C-4FFE-A64C-B2F43A98D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267200"/>
            <a:ext cx="190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4599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5F6B7A"/>
                </a:solidFill>
                <a:latin typeface="Aptos"/>
                <a:ea typeface="Aptos"/>
                <a:cs typeface="Aptos"/>
              </a:rPr>
              <a:t>2つの指標</a:t>
            </a:r>
          </a:p>
        </p:txBody>
      </p:sp>
    </p:spTree>
    <p:extLst>
      <p:ext uri="{BB962C8B-B14F-4D97-AF65-F5344CB8AC3E}">
        <p14:creationId xmlns:p14="http://schemas.microsoft.com/office/powerpoint/2010/main" val="1116422911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5B897-78A4-4037-ADD1-6C630B11E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A98D7-E428-4621-A01C-53823A608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7321FC08-F03C-4E49-9FFF-3EE921D9C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71550"/>
            <a:ext cx="9334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数字を置くなら、まず『だから何？』を書く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7C9371-4017-461C-B8C3-A81A9F781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857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8592A7"/>
                </a:solidFill>
                <a:latin typeface="Aptos"/>
                <a:ea typeface="Aptos"/>
                <a:cs typeface="Aptos"/>
              </a:rPr>
              <a:t>数値の羅列ではなく、見る人が持ち帰る意味をタイトルにします。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0253C5-BB88-43B2-BD76-862B1DD4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solidFill>
              <a:srgbClr val="1B3B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7966FA-9111-4759-B785-DAF26D49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4805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303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売上推移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6973AC-C3F6-45D4-A047-A5C83FC36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962400"/>
            <a:ext cx="2381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76490"/>
          </a:bodyPr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592A7"/>
                </a:solidFill>
                <a:latin typeface="Aptos"/>
                <a:ea typeface="Aptos"/>
                <a:cs typeface="Aptos"/>
              </a:rPr>
              <a:t>2024  100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592A7"/>
                </a:solidFill>
                <a:latin typeface="Aptos"/>
                <a:ea typeface="Aptos"/>
                <a:cs typeface="Aptos"/>
              </a:rPr>
              <a:t>2025  120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8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592A7"/>
                </a:solidFill>
                <a:latin typeface="Aptos"/>
                <a:ea typeface="Aptos"/>
                <a:cs typeface="Aptos"/>
              </a:rPr>
              <a:t>2026  125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104BD5-5854-40CB-A815-FF8299CB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762500" cy="1714500"/>
          </a:xfrm>
          <a:prstGeom xmlns:a="http://schemas.openxmlformats.org/drawingml/2006/main" prst="roundRect">
            <a:avLst>
              <a:gd name="adj" fmla="val 4444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366822-8816-486B-ABDF-586A415BA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48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伸びは続くが、速度は鈍化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A845290-EBAD-42C7-A3AE-4AC8BCE55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9814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→ 次に確認するのは、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6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新規と既存のどちらが要因か</a:t>
            </a:r>
          </a:p>
        </p:txBody>
      </p:sp>
    </p:spTree>
    <p:extLst>
      <p:ext uri="{BB962C8B-B14F-4D97-AF65-F5344CB8AC3E}">
        <p14:creationId xmlns:p14="http://schemas.microsoft.com/office/powerpoint/2010/main" val="83019260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24739-646D-4471-94B2-CAF92E9E2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0D785E-762A-48F2-9A7F-D3BE6C6C6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5EDBF2-C5AA-4240-87EA-10163C22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読みやすさは、デザインより先に守る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7F2AF9-4F73-4B18-B661-35288E2BC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美しさは、読めることの上に乗ります。遠くから見ても、白黒にしても、順番が伝わるか確認します。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EBEE2-FA71-43DC-9D21-27AE3A1B6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242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EF5AF2-CA09-492C-9AF1-ABB5604D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18pt以上を目安に、短い行で書く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5A23D5-8FFE-4BFF-9A32-307A3C24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385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E48DB0-453D-4207-88F2-35E37465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5909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背景と文字のコントラストを確保する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CCDB3-C647-4395-91C8-AE9709259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5290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774BC1-BA75-48D1-AA11-E9AACC182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0527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色だけに意味を持たせず、ラベルでも分ける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209B5-D073-4972-9618-8A1CF259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3FDE11-B9B5-482E-ACDF-1C3124E02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19625"/>
            <a:ext cx="914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575" b="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238"/>
                </a:solidFill>
                <a:latin typeface="Aptos"/>
                <a:ea typeface="Aptos"/>
                <a:cs typeface="Aptos"/>
              </a:rPr>
              <a:t>各スライドに固有のタイトルを付ける</a:t>
            </a:r>
          </a:p>
        </p:txBody>
      </p:sp>
    </p:spTree>
    <p:extLst>
      <p:ext uri="{BB962C8B-B14F-4D97-AF65-F5344CB8AC3E}">
        <p14:creationId xmlns:p14="http://schemas.microsoft.com/office/powerpoint/2010/main" val="192157005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BEDC93-8B10-45DB-8075-24BC89755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01229-8DD2-41DD-A1FD-3B791E3B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A9889A89-2DBC-4BA6-A5BD-7BA8AA6ED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1000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8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余白は、何もない場所ではなく順番をつくる場所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5D689-A80F-417D-A44E-3F8F75E0F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要素の間隔を揃えると、読み手は『同じグループ』『次のグループ』を無意識に判別できます。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028215-2BCE-4992-9790-64EAA3DDD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4476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A0162E-B4D1-4285-B3E7-CDEF6DAA9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D75C58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75C58"/>
                </a:solidFill>
                <a:latin typeface="Aptos"/>
                <a:ea typeface="Aptos"/>
                <a:cs typeface="Aptos"/>
              </a:rPr>
              <a:t>詰め込む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0616D3-E1BD-48A1-8793-E62A210C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73653"/>
          </a:bodyPr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見出し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説明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数字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16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142238"/>
                </a:solidFill>
                <a:latin typeface="Aptos"/>
                <a:ea typeface="Aptos"/>
                <a:cs typeface="Aptos"/>
              </a:rPr>
              <a:t>注釈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D57C77-6410-49BD-ADA5-DF40EDF9C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43250"/>
            <a:ext cx="447675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10D31E-F474-4AD3-AD71-2EAD8D15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3718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7466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呼吸させる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019432-289B-4D22-A597-C9AF7FB93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829050"/>
            <a:ext cx="342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096"/>
          </a:bodyPr>
          <a:lstStyle xmlns:a="http://schemas.openxmlformats.org/drawingml/2006/main"/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9FBFF"/>
                </a:solidFill>
                <a:latin typeface="Aptos"/>
                <a:ea typeface="Aptos"/>
                <a:cs typeface="Aptos"/>
              </a:rPr>
              <a:t>見出し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05000"/>
              </a:lnSpc>
              <a:buNone/>
              <a:defRPr sz="165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F9FBFF"/>
                </a:solidFill>
                <a:latin typeface="Aptos"/>
                <a:ea typeface="Aptos"/>
                <a:cs typeface="Aptos"/>
              </a:rPr>
              <a:t>説明        数字</a:t>
            </a:r>
          </a:p>
        </p:txBody>
      </p:sp>
    </p:spTree>
    <p:extLst>
      <p:ext uri="{BB962C8B-B14F-4D97-AF65-F5344CB8AC3E}">
        <p14:creationId xmlns:p14="http://schemas.microsoft.com/office/powerpoint/2010/main" val="53362373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C31231-85F3-40E1-8A78-E1F80853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BA38A4-C794-4792-8BD7-E70813031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23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A976D-CB0E-4E91-AF2D-2AD4D699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43000"/>
            <a:ext cx="228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80000"/>
              </a:lnSpc>
              <a:buNone/>
              <a:defRPr sz="112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12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4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E55FDB-086A-493B-A5BA-C9F4F188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638300"/>
            <a:ext cx="7524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6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AIに作らせる前に、工程を分ける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653978-C6DB-466C-92AE-99863C5A3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12359E-E076-4EA9-9420-18359C70C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52425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8592A7"/>
                </a:solidFill>
                <a:latin typeface="Aptos"/>
                <a:ea typeface="Aptos"/>
                <a:cs typeface="Aptos"/>
              </a:rPr>
              <a:t>AIは便利な作業者。編集長の役割まで渡さない。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74BC16-428B-4460-89FB-B8F3533A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578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次の章で、具体的な作り方へ</a:t>
            </a:r>
          </a:p>
        </p:txBody>
      </p:sp>
    </p:spTree>
    <p:extLst>
      <p:ext uri="{BB962C8B-B14F-4D97-AF65-F5344CB8AC3E}">
        <p14:creationId xmlns:p14="http://schemas.microsoft.com/office/powerpoint/2010/main" val="126420205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1B58A98-FEDB-48FA-ACA4-400CECFC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C2BBDBB-2EEB-4C76-8B42-5C65BD69D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c59c7d388a4b7d"/>
          <a:srcRect xmlns:a="http://schemas.openxmlformats.org/drawingml/2006/main" l="26159" t="0" r="2615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81750" y="0"/>
            <a:ext cx="581025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846CC0-7302-4BF1-B902-67E5A2F0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000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F6DE42-FA22-4E24-88A0-BC4195A4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5238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7BB2A6-A7E9-43DA-ABC9-7A81DFAA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AI WORKFLOW</a:t>
            </a:r>
          </a:p>
        </p:txBody>
      </p:sp>
      <p:sp>
        <p:nvSpPr>
          <p:cNvPr id="7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FC99A12-528A-4EFD-81D8-C48B0C1B2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57350"/>
            <a:ext cx="4857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AIに任せる範囲を、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1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工程で切り分ける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60CC0-0497-4EF5-A5CD-E742896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4857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75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5F6B7A"/>
                </a:solidFill>
                <a:latin typeface="Aptos"/>
                <a:ea typeface="Aptos"/>
                <a:cs typeface="Aptos"/>
              </a:rPr>
              <a:t>AIには下書き、分類、候補出しを任せます。人は目的、事実、優先順位、最終承認を持ちます。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009300-7661-4F37-B7C4-4AA05DA6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05550"/>
            <a:ext cx="2286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9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</a:t>
            </a:r>
          </a:p>
        </p:txBody>
      </p:sp>
    </p:spTree>
    <p:extLst>
      <p:ext uri="{BB962C8B-B14F-4D97-AF65-F5344CB8AC3E}">
        <p14:creationId xmlns:p14="http://schemas.microsoft.com/office/powerpoint/2010/main" val="1807276157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1C0B73-B99D-41DB-AA85-0B868F64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74BC40-B9A1-48C7-AE4C-FC8CCE338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25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25F43BA-2BCF-471E-B481-1C2EF62C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PowerPoint生成の前に、構成を出させる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9D4C87-3EDA-4CE7-950D-2CC2369F1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いきなり『30枚作って』ではなく、まず章立てと各ページの役割を確認します。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03573A-2DA8-4922-B66B-06A24C805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86100"/>
            <a:ext cx="10820400" cy="232410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0FCB5A-BDDC-4AE7-A1E9-0C3C3033A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9906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9FBFF"/>
                </a:solidFill>
                <a:latin typeface="Aptos"/>
                <a:ea typeface="Aptos"/>
                <a:cs typeface="Aptos"/>
              </a:rPr>
              <a:t>あなたは資料編集者です。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9FBFF"/>
                </a:solidFill>
                <a:latin typeface="Aptos"/>
                <a:ea typeface="Aptos"/>
                <a:cs typeface="Aptos"/>
              </a:rPr>
              <a:t>目的 / 対象 / 相手にしてほしい判断 / 根拠 / 制約を読み、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9FBFF"/>
                </a:solidFill>
                <a:latin typeface="Aptos"/>
                <a:ea typeface="Aptos"/>
                <a:cs typeface="Aptos"/>
              </a:rPr>
              <a:t>先に章立てと各スライドの結論を表で出してください。</a:t>
            </a:r>
          </a:p>
          <a:p xmlns:a="http://schemas.openxmlformats.org/drawingml/2006/main">
            <a:pPr>
              <a:lnSpc>
                <a:spcPct val="122000"/>
              </a:lnSpc>
              <a:buNone/>
              <a:defRPr sz="180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F9FBFF"/>
                </a:solidFill>
                <a:latin typeface="Aptos"/>
                <a:ea typeface="Aptos"/>
                <a:cs typeface="Aptos"/>
              </a:rPr>
              <a:t>未確認の数字は作らず、『要確認』として残してください。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9766327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6A0288-8F69-41A4-9822-839E232B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DFEA3B-EC00-4718-9FC1-15386F989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26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45CB3EF-7A2D-4AA2-83C0-66E8EE68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144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1枚分の指示には、完成条件まで入れる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E08AAE-C221-45A4-A401-146AF21E1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役割・背景・入力・出力だけでなく、禁止事項と確認方法まで渡すと修正が減ります。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7215BA-417A-43E7-9628-FB15BFBC5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108204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DF9"/>
          </a:solidFill>
          <a:ln xmlns:a="http://schemas.openxmlformats.org/drawingml/2006/main" w="9525">
            <a:solidFill>
              <a:srgbClr val="D8D0C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E5FF2-EB30-45FB-A8C4-6A13DB6CC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2956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役割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FC8D19-21CD-4001-95D0-4C1A9CF5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2956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誰として考えるか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DE2783-6704-43A3-BAEF-4A03C443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背景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40DC8-A7B0-4B04-BF3B-E6C89376E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70522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何の判断につなげるか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7FB1BB-C9DF-4941-AB3E-21AE47F04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1480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出力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8FFB47-632F-47DA-9379-5FE51FBFF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11480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どんな構成・長さか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263669-9663-435A-9188-C953C4866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24375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条件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39C6A6-D42A-49E5-B31D-A00F0E81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24375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使ってよい根拠・禁止事項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FD8C73-5797-4E57-9A9A-6BD2BF236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933950"/>
            <a:ext cx="857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 b="1">
                <a:solidFill>
                  <a:srgbClr val="F58A6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8A6D"/>
                </a:solidFill>
                <a:latin typeface="Aptos"/>
                <a:ea typeface="Aptos"/>
                <a:cs typeface="Aptos"/>
              </a:rPr>
              <a:t>確認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B0ECCB-AA43-4370-A750-1B6DF7CD2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933950"/>
            <a:ext cx="666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9344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350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142238"/>
                </a:solidFill>
                <a:latin typeface="Aptos"/>
                <a:ea typeface="Aptos"/>
                <a:cs typeface="Aptos"/>
              </a:rPr>
              <a:t>人が何をチェックするか</a:t>
            </a:r>
          </a:p>
        </p:txBody>
      </p:sp>
    </p:spTree>
    <p:extLst>
      <p:ext uri="{BB962C8B-B14F-4D97-AF65-F5344CB8AC3E}">
        <p14:creationId xmlns:p14="http://schemas.microsoft.com/office/powerpoint/2010/main" val="51775923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3775A5-28ED-4CFD-AB9B-40A2B2CF7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83F46E-165F-473B-9508-4B8FC893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27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9210E95-58BC-4F15-BE19-2BE3B72D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AIの出力は、最初から採用するものではない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8B5134-EBC7-4544-BE4C-8C97D05F7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52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592A7"/>
                </a:solidFill>
                <a:latin typeface="Aptos"/>
                <a:ea typeface="Aptos"/>
                <a:cs typeface="Aptos"/>
              </a:rPr>
              <a:t>レビュー用の指示を別に持ち、事実・論理・視認性・アクセシビリティを順に点検します。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A700B-805D-47B0-A7DA-1D64DDE91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48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E618F6-1C6F-44F2-AC9E-EC65BC63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194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8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事実：出典と基準日はあるか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A3B758-7C98-4FC0-A6E5-7444CFF9A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19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B89810-4D01-4324-90FB-6BB2378A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909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8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論理：結論と根拠はつながるか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A095F-072B-4627-B024-6132B8E64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B4CC1C-22BF-4FB0-839B-A9845691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624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8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視認性：3秒で主張が見えるか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618A8A-614F-4866-95F7-6D9DC13F7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62500"/>
            <a:ext cx="190500" cy="190500"/>
          </a:xfrm>
          <a:prstGeom xmlns:a="http://schemas.openxmlformats.org/drawingml/2006/main" prst="roundRect">
            <a:avLst>
              <a:gd name="adj" fmla="val 40000"/>
            </a:avLst>
          </a:prstGeom>
          <a:solidFill xmlns:a="http://schemas.openxmlformats.org/drawingml/2006/main">
            <a:srgbClr val="74D6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78F535-1284-4EE8-9221-82F5734CC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733925"/>
            <a:ext cx="819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681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650" b="0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F9FBFF"/>
                </a:solidFill>
                <a:latin typeface="Aptos"/>
                <a:ea typeface="Aptos"/>
                <a:cs typeface="Aptos"/>
              </a:rPr>
              <a:t>利用性：PDF・投影・読み上げで壊れないか</a:t>
            </a:r>
          </a:p>
        </p:txBody>
      </p:sp>
    </p:spTree>
    <p:extLst>
      <p:ext uri="{BB962C8B-B14F-4D97-AF65-F5344CB8AC3E}">
        <p14:creationId xmlns:p14="http://schemas.microsoft.com/office/powerpoint/2010/main" val="736024705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D79F23-91F5-4010-AD59-2C93AD3F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0A69A-3180-4543-A289-4245DAEB8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28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73DAD6-B51B-4B1A-9ADE-245FFF29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生成・編集・確認を、別のパスにする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785339-C9E1-4881-8358-F2EC9D65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一度に全部を直そうとせず、役割ごとに見ると、直すべき場所が明確になります。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C0FD68-E6D1-4A57-BE78-3BBF5408E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909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CE64CD-A60B-4A3B-B722-8E148D8C8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33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A6AC85-0E7C-4827-9CF6-C2184EE53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86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1 構成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727CB8-0F05-4C8C-B3C5-72C71D55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7909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BEB6A2-44F8-46C8-8691-E3800384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333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E95A3-047A-4483-949B-22D85DD43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3686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2 コピー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401D35-E134-43EF-8CB1-D9302969B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909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8261F-3D91-472F-936E-99A3EE118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333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ABC67C-9937-4F62-91AB-16399857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686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3 ビジュアル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31DF10-3D26-4737-8FE6-C9B03586B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790950"/>
            <a:ext cx="5143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5D7FA-7B1B-46A4-B302-85674979A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333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20EC83-8768-4BCE-AE9F-FE136361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3775" y="3686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4 事実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2FCA52-1A3E-464C-BDB9-EE290934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33750"/>
            <a:ext cx="1619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B46119-8ED9-413C-8615-24144FBA7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86175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5 出力</a:t>
            </a:r>
          </a:p>
        </p:txBody>
      </p:sp>
    </p:spTree>
    <p:extLst>
      <p:ext uri="{BB962C8B-B14F-4D97-AF65-F5344CB8AC3E}">
        <p14:creationId xmlns:p14="http://schemas.microsoft.com/office/powerpoint/2010/main" val="2119917717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BAEBC5-D142-48F1-A3B9-02304C9BA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600517-4062-460C-96C2-91F1453C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29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D3202BC-ED9E-479D-B1E0-24549285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PPTXとPDFは、最後に実ファイルで確認する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B0F9C-420E-455A-9954-E2B251C4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71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8592A7"/>
                </a:solidFill>
                <a:latin typeface="Aptos"/>
                <a:ea typeface="Aptos"/>
                <a:cs typeface="Aptos"/>
              </a:rPr>
              <a:t>編集画面で見えていても、書き出し後にフォント、画像、改行、リンク、余白が変わることがあります。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66C9BE-E5D9-4D4F-BF13-C2AEAB199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solidFill>
              <a:srgbClr val="1B3B6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036C8C-9348-43EF-B76E-02CB064AB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337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PPTX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3B98D1-9ED7-4FC3-BA35-2EF6022D2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766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編集できる状態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5611C3-4E79-4864-A959-8B3B22931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6720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592A7"/>
                </a:solidFill>
                <a:latin typeface="Aptos"/>
                <a:ea typeface="Aptos"/>
                <a:cs typeface="Aptos"/>
              </a:rPr>
              <a:t>フォント、画像、配置、読み上げ順、リンク、ノートを確認。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4433B9-43FF-4775-BF70-EC475E5EC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124200"/>
            <a:ext cx="47625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102946"/>
          </a:solidFill>
          <a:ln xmlns:a="http://schemas.openxmlformats.org/drawingml/2006/main" w="9525">
            <a:solidFill>
              <a:srgbClr val="1B3B6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32EE14-45B1-4C1E-AD2A-DC4388512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33375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F5C31-9D04-4B54-9078-55AD40B7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6766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80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配布できる状態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139399-CE7E-49E4-A204-6169BACA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4267200"/>
            <a:ext cx="43053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275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275">
                <a:solidFill>
                  <a:srgbClr val="8592A7"/>
                </a:solidFill>
                <a:latin typeface="Aptos"/>
                <a:ea typeface="Aptos"/>
                <a:cs typeface="Aptos"/>
              </a:rPr>
              <a:t>ページ端の欠け、文字のにじみ、アクセシビリティタグ、ファイル容量を確認。</a:t>
            </a:r>
          </a:p>
        </p:txBody>
      </p:sp>
    </p:spTree>
    <p:extLst>
      <p:ext uri="{BB962C8B-B14F-4D97-AF65-F5344CB8AC3E}">
        <p14:creationId xmlns:p14="http://schemas.microsoft.com/office/powerpoint/2010/main" val="18051825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7F1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FE30AA-34B7-460B-9B69-8C9A61D0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D9C6E1-1284-4532-A4AD-6D03B9B8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847620A-14B3-4D16-946B-1AA501D85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提出前は、3つの距離で見る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BA8B9C-2D51-471E-A047-B0A4C627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近くで編集し、少し離れて読み、実際の投影・共有環境で確かめます。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C16FC9-98B9-4869-AD7D-02133815D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FB20EE-2227-476E-A529-9F88FCEE0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29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近い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27AFC4-1A36-43A0-B041-C05893E97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誤字・数字・揃え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E169B1-3163-4E5C-8D35-58CA2671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43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94BF9B-CDB7-49F6-A592-9A982FC6E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429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中間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867BDA-3E65-48A7-A307-4B52ECC5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814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視線の順番・情報量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C3A53E-F8E4-4B52-9063-E030F8850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143250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58A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0ADE0-6954-4F31-8196-59B2CCD3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29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3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遠い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3B05FE6-1B0C-4251-876D-256F083E9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981450"/>
            <a:ext cx="228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639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6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文字サイズ・コントラスト・端切れ</a:t>
            </a:r>
          </a:p>
        </p:txBody>
      </p:sp>
    </p:spTree>
    <p:extLst>
      <p:ext uri="{BB962C8B-B14F-4D97-AF65-F5344CB8AC3E}">
        <p14:creationId xmlns:p14="http://schemas.microsoft.com/office/powerpoint/2010/main" val="1512792991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D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FFB5A7-5595-481A-8B76-A01BADCA5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E1B173-BBFD-41A5-976F-A6852E5C2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6D778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6D7786"/>
                </a:solidFill>
                <a:latin typeface="Aptos"/>
                <a:ea typeface="Aptos"/>
                <a:cs typeface="Aptos"/>
              </a:rPr>
              <a:t>31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91C1E59-B469-40C4-AE80-2BADB860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52500"/>
            <a:ext cx="9525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292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292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最後に、1枚ずつ『残す理由』を言えるか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939AFB-3410-48C2-9A34-BA9700DA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50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500">
                <a:solidFill>
                  <a:srgbClr val="5F6B7A"/>
                </a:solidFill>
                <a:latin typeface="Aptos"/>
                <a:ea typeface="Aptos"/>
                <a:cs typeface="Aptos"/>
              </a:rPr>
              <a:t>資料の質は、追加した要素の数ではなく、必要な要素だけを残す判断で決まります。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290789-E82A-44F4-B23A-EC6BAEF1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204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6BE31B-BB23-419D-8A61-4EF222522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76650"/>
            <a:ext cx="9753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2325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このスライドは、相手の判断にどう役立つ？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11EBC-6E2A-46E5-90C6-F0C4ED727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9753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00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答えられないなら、削る・移す・作り直す。</a:t>
            </a:r>
          </a:p>
        </p:txBody>
      </p:sp>
    </p:spTree>
    <p:extLst>
      <p:ext uri="{BB962C8B-B14F-4D97-AF65-F5344CB8AC3E}">
        <p14:creationId xmlns:p14="http://schemas.microsoft.com/office/powerpoint/2010/main" val="401768780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29224E-6ECE-49D5-999B-9315FDCBF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"/>
            <a:ext cx="4953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050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  /  POWERPOINT PLAYBOOK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A58B63-95CA-4C26-92F4-4AC7C4DE0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4000"/>
              </a:lnSpc>
              <a:buNone/>
              <a:defRPr sz="1050" b="1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8592A7"/>
                </a:solidFill>
                <a:latin typeface="Aptos"/>
                <a:ea typeface="Aptos"/>
                <a:cs typeface="Aptos"/>
              </a:rPr>
              <a:t>32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45ef1c91ad4b1e"/>
          <a:srcRect xmlns:a="http://schemas.openxmlformats.org/drawingml/2006/main" l="27332" t="0" r="27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0" y="0"/>
            <a:ext cx="5524500" cy="68580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1A5E12-D012-4342-B570-BB936194B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2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>
              <a:alpha val="94000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ED9714-75FA-4862-B56A-4EFEA75A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275" b="1">
                <a:solidFill>
                  <a:srgbClr val="E8B94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E8B94A"/>
                </a:solidFill>
                <a:latin typeface="Aptos"/>
                <a:ea typeface="Aptos"/>
                <a:cs typeface="Aptos"/>
              </a:rPr>
              <a:t>AI顧問室から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3A7DAFD-669E-4FFF-A747-7ADD7AF5E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02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資料づくりを、</a:t>
            </a:r>
          </a:p>
          <a:p xmlns:a="http://schemas.openxmlformats.org/drawingml/2006/main">
            <a:pPr>
              <a:lnSpc>
                <a:spcPct val="102000"/>
              </a:lnSpc>
              <a:buNone/>
              <a:defRPr sz="3450" b="1">
                <a:solidFill>
                  <a:srgbClr val="F9FBF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F9FBFF"/>
                </a:solidFill>
                <a:latin typeface="Aptos"/>
                <a:ea typeface="Aptos"/>
                <a:cs typeface="Aptos"/>
              </a:rPr>
              <a:t>属人的な作業から仕組みへ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A05D83-7A5D-421D-8552-A63101A58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5143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99354"/>
          </a:bodyPr>
          <a:lstStyle xmlns:a="http://schemas.openxmlformats.org/drawingml/2006/main"/>
          <a:p xmlns:a="http://schemas.openxmlformats.org/drawingml/2006/main">
            <a:pPr>
              <a:lnSpc>
                <a:spcPct val="122000"/>
              </a:lnSpc>
              <a:buNone/>
              <a:defRPr sz="1650">
                <a:solidFill>
                  <a:srgbClr val="8592A7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8592A7"/>
                </a:solidFill>
                <a:latin typeface="Aptos"/>
                <a:ea typeface="Aptos"/>
                <a:cs typeface="Aptos"/>
              </a:rPr>
              <a:t>AIを使うほど、目的・根拠・レビューの型が重要になります。無料顧問1回分の面談後、あなたの業務や資料用途に合わせた教材を送付します。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C8305-4556-41E4-8DDF-88DAD7D2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40957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E8B9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044D0E-4D79-4270-B040-513350999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53025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8354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4000"/>
              </a:lnSpc>
              <a:buNone/>
              <a:defRPr sz="1575" b="1">
                <a:solidFill>
                  <a:srgbClr val="14223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42238"/>
                </a:solidFill>
                <a:latin typeface="Aptos"/>
                <a:ea typeface="Aptos"/>
                <a:cs typeface="Aptos"/>
              </a:rPr>
              <a:t>無料顧問1回分を受ける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965E51-3B12-440A-AFBF-CDFE741D2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29300"/>
            <a:ext cx="4191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14000"/>
              </a:lnSpc>
              <a:buNone/>
              <a:defRPr sz="1125" b="1">
                <a:solidFill>
                  <a:srgbClr val="74D6C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74D6C6"/>
                </a:solidFill>
                <a:latin typeface="Aptos"/>
                <a:ea typeface="Aptos"/>
                <a:cs typeface="Aptos"/>
              </a:rPr>
              <a:t>面談後、業務に合わせて教材を送付</a:t>
            </a:r>
          </a:p>
        </p:txBody>
      </p:sp>
    </p:spTree>
    <p:extLst>
      <p:ext uri="{BB962C8B-B14F-4D97-AF65-F5344CB8AC3E}">
        <p14:creationId xmlns:p14="http://schemas.microsoft.com/office/powerpoint/2010/main" val="20588076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2026-07-28T09:43:29.8210000Z</dcterms:created>
  <dcterms:modified xsi:type="dcterms:W3CDTF">2026-07-28T09:43:29.8210000Z</dcterms:modified>
</coreProperties>
</file>