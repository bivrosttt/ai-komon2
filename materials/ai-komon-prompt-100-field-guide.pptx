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3fbc0cced0450d" /><Relationship Type="http://schemas.openxmlformats.org/officeDocument/2006/relationships/extended-properties" Target="/docProps/app.xml" Id="R005eee1a489e4284" /><Relationship Type="http://schemas.openxmlformats.org/officeDocument/2006/relationships/officeDocument" Target="/ppt/presentation.xml" Id="Re971bedd707c4f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cd13eddbf74cad"/>
  </p:sldMasterIdLst>
  <p:notesMasterIdLst>
    <p:notesMasterId xmlns:r="http://schemas.openxmlformats.org/officeDocument/2006/relationships" r:id="R62fa302ce4404ec3"/>
  </p:notesMasterIdLst>
  <p:sldIdLst>
    <p:sldId xmlns:r="http://schemas.openxmlformats.org/officeDocument/2006/relationships" id="256" r:id="R4c168f9c30c74ddb"/>
    <p:sldId xmlns:r="http://schemas.openxmlformats.org/officeDocument/2006/relationships" id="257" r:id="Rf48e3ba536a44f76"/>
    <p:sldId xmlns:r="http://schemas.openxmlformats.org/officeDocument/2006/relationships" id="258" r:id="R9bfe0a7227e14b9c"/>
    <p:sldId xmlns:r="http://schemas.openxmlformats.org/officeDocument/2006/relationships" id="259" r:id="R309b49ec8dfd42e4"/>
    <p:sldId xmlns:r="http://schemas.openxmlformats.org/officeDocument/2006/relationships" id="260" r:id="R7478f34fec5c4565"/>
    <p:sldId xmlns:r="http://schemas.openxmlformats.org/officeDocument/2006/relationships" id="261" r:id="R07138e35a34e4716"/>
    <p:sldId xmlns:r="http://schemas.openxmlformats.org/officeDocument/2006/relationships" id="262" r:id="R248b9a72decc4e10"/>
    <p:sldId xmlns:r="http://schemas.openxmlformats.org/officeDocument/2006/relationships" id="263" r:id="Rbd364530e41c4619"/>
    <p:sldId xmlns:r="http://schemas.openxmlformats.org/officeDocument/2006/relationships" id="264" r:id="R3b47ea04e69447c9"/>
    <p:sldId xmlns:r="http://schemas.openxmlformats.org/officeDocument/2006/relationships" id="265" r:id="R501ef43e0e4d4290"/>
    <p:sldId xmlns:r="http://schemas.openxmlformats.org/officeDocument/2006/relationships" id="266" r:id="R51292385bacd444c"/>
    <p:sldId xmlns:r="http://schemas.openxmlformats.org/officeDocument/2006/relationships" id="267" r:id="R0d64fac98f244d70"/>
    <p:sldId xmlns:r="http://schemas.openxmlformats.org/officeDocument/2006/relationships" id="268" r:id="R50252e859a4c4ddc"/>
    <p:sldId xmlns:r="http://schemas.openxmlformats.org/officeDocument/2006/relationships" id="269" r:id="Rb7426605c5cf495a"/>
    <p:sldId xmlns:r="http://schemas.openxmlformats.org/officeDocument/2006/relationships" id="270" r:id="Rf6ceddffa8ad4875"/>
    <p:sldId xmlns:r="http://schemas.openxmlformats.org/officeDocument/2006/relationships" id="271" r:id="R4c4bdf42667645fd"/>
    <p:sldId xmlns:r="http://schemas.openxmlformats.org/officeDocument/2006/relationships" id="272" r:id="Rd05fbe43de094b22"/>
    <p:sldId xmlns:r="http://schemas.openxmlformats.org/officeDocument/2006/relationships" id="273" r:id="Racc56147eb9649bf"/>
    <p:sldId xmlns:r="http://schemas.openxmlformats.org/officeDocument/2006/relationships" id="274" r:id="Raab795088bbb48dd"/>
    <p:sldId xmlns:r="http://schemas.openxmlformats.org/officeDocument/2006/relationships" id="275" r:id="Rc65db3023b244a0c"/>
    <p:sldId xmlns:r="http://schemas.openxmlformats.org/officeDocument/2006/relationships" id="276" r:id="R8b8fb0d4ff444c3d"/>
    <p:sldId xmlns:r="http://schemas.openxmlformats.org/officeDocument/2006/relationships" id="277" r:id="Rd90e42a69e474c35"/>
    <p:sldId xmlns:r="http://schemas.openxmlformats.org/officeDocument/2006/relationships" id="278" r:id="Rd0150198f42a41e4"/>
    <p:sldId xmlns:r="http://schemas.openxmlformats.org/officeDocument/2006/relationships" id="279" r:id="R4a3807d6ca604403"/>
    <p:sldId xmlns:r="http://schemas.openxmlformats.org/officeDocument/2006/relationships" id="280" r:id="Ra1fe1625a0b64a90"/>
    <p:sldId xmlns:r="http://schemas.openxmlformats.org/officeDocument/2006/relationships" id="281" r:id="Raaaf3ed0c4304e0e"/>
    <p:sldId xmlns:r="http://schemas.openxmlformats.org/officeDocument/2006/relationships" id="282" r:id="Rf7e8ae743cd848fa"/>
    <p:sldId xmlns:r="http://schemas.openxmlformats.org/officeDocument/2006/relationships" id="283" r:id="R2f555677cb1a46eb"/>
    <p:sldId xmlns:r="http://schemas.openxmlformats.org/officeDocument/2006/relationships" id="284" r:id="R6e38965a3c6b4b3f"/>
    <p:sldId xmlns:r="http://schemas.openxmlformats.org/officeDocument/2006/relationships" id="285" r:id="Rc908bb26dee44b17"/>
    <p:sldId xmlns:r="http://schemas.openxmlformats.org/officeDocument/2006/relationships" id="286" r:id="R41a95449333843b4"/>
    <p:sldId xmlns:r="http://schemas.openxmlformats.org/officeDocument/2006/relationships" id="287" r:id="Rcb71ea975b544956"/>
    <p:sldId xmlns:r="http://schemas.openxmlformats.org/officeDocument/2006/relationships" id="288" r:id="R23017b471a6b42cc"/>
    <p:sldId xmlns:r="http://schemas.openxmlformats.org/officeDocument/2006/relationships" id="289" r:id="R60c11bd8b5ed4010"/>
    <p:sldId xmlns:r="http://schemas.openxmlformats.org/officeDocument/2006/relationships" id="290" r:id="R0f02826fe7af4411"/>
    <p:sldId xmlns:r="http://schemas.openxmlformats.org/officeDocument/2006/relationships" id="291" r:id="R8dade1174ce64072"/>
    <p:sldId xmlns:r="http://schemas.openxmlformats.org/officeDocument/2006/relationships" id="292" r:id="Rf0788de6588c439b"/>
    <p:sldId xmlns:r="http://schemas.openxmlformats.org/officeDocument/2006/relationships" id="293" r:id="Rc5e14403e97749e8"/>
    <p:sldId xmlns:r="http://schemas.openxmlformats.org/officeDocument/2006/relationships" id="294" r:id="Rf0f7c9c4a2914365"/>
    <p:sldId xmlns:r="http://schemas.openxmlformats.org/officeDocument/2006/relationships" id="295" r:id="R3d343d591e6b48c3"/>
    <p:sldId xmlns:r="http://schemas.openxmlformats.org/officeDocument/2006/relationships" id="296" r:id="Ra3c8782f8f7e415e"/>
    <p:sldId xmlns:r="http://schemas.openxmlformats.org/officeDocument/2006/relationships" id="297" r:id="Rf6d670e418c840a6"/>
    <p:sldId xmlns:r="http://schemas.openxmlformats.org/officeDocument/2006/relationships" id="298" r:id="R80477dd1ad9942f5"/>
    <p:sldId xmlns:r="http://schemas.openxmlformats.org/officeDocument/2006/relationships" id="299" r:id="Re1bac9e024774267"/>
    <p:sldId xmlns:r="http://schemas.openxmlformats.org/officeDocument/2006/relationships" id="300" r:id="R728c3753de6f407a"/>
    <p:sldId xmlns:r="http://schemas.openxmlformats.org/officeDocument/2006/relationships" id="301" r:id="Rc4b32e6cbf504ff7"/>
    <p:sldId xmlns:r="http://schemas.openxmlformats.org/officeDocument/2006/relationships" id="302" r:id="R798f6887e947461c"/>
    <p:sldId xmlns:r="http://schemas.openxmlformats.org/officeDocument/2006/relationships" id="303" r:id="Rb7c27a8eaa0b4480"/>
    <p:sldId xmlns:r="http://schemas.openxmlformats.org/officeDocument/2006/relationships" id="304" r:id="Rbc51336357394965"/>
    <p:sldId xmlns:r="http://schemas.openxmlformats.org/officeDocument/2006/relationships" id="305" r:id="Ra0be74b5c86f4ecf"/>
    <p:sldId xmlns:r="http://schemas.openxmlformats.org/officeDocument/2006/relationships" id="306" r:id="R26805e4fd3164c1e"/>
    <p:sldId xmlns:r="http://schemas.openxmlformats.org/officeDocument/2006/relationships" id="307" r:id="Rdbad90f6924a4f5a"/>
    <p:sldId xmlns:r="http://schemas.openxmlformats.org/officeDocument/2006/relationships" id="308" r:id="R4052a2aa747e4822"/>
    <p:sldId xmlns:r="http://schemas.openxmlformats.org/officeDocument/2006/relationships" id="309" r:id="R844d65afa45b4ce7"/>
    <p:sldId xmlns:r="http://schemas.openxmlformats.org/officeDocument/2006/relationships" id="310" r:id="R4d184bb039ff475f"/>
    <p:sldId xmlns:r="http://schemas.openxmlformats.org/officeDocument/2006/relationships" id="311" r:id="R76fa76537c0744cc"/>
    <p:sldId xmlns:r="http://schemas.openxmlformats.org/officeDocument/2006/relationships" id="312" r:id="R0c1d5a9b56d44e80"/>
    <p:sldId xmlns:r="http://schemas.openxmlformats.org/officeDocument/2006/relationships" id="313" r:id="R46fa74f78a3b4f73"/>
    <p:sldId xmlns:r="http://schemas.openxmlformats.org/officeDocument/2006/relationships" id="314" r:id="R8a80c0138c474d00"/>
    <p:sldId xmlns:r="http://schemas.openxmlformats.org/officeDocument/2006/relationships" id="315" r:id="R20df253d5454497f"/>
    <p:sldId xmlns:r="http://schemas.openxmlformats.org/officeDocument/2006/relationships" id="316" r:id="R8244c5dd98ee4358"/>
    <p:sldId xmlns:r="http://schemas.openxmlformats.org/officeDocument/2006/relationships" id="317" r:id="R951f153601484900"/>
    <p:sldId xmlns:r="http://schemas.openxmlformats.org/officeDocument/2006/relationships" id="318" r:id="Rbf7132cea7e04d4b"/>
    <p:sldId xmlns:r="http://schemas.openxmlformats.org/officeDocument/2006/relationships" id="319" r:id="R6437e95f182b4a26"/>
    <p:sldId xmlns:r="http://schemas.openxmlformats.org/officeDocument/2006/relationships" id="320" r:id="R850499fffbd7451f"/>
    <p:sldId xmlns:r="http://schemas.openxmlformats.org/officeDocument/2006/relationships" id="321" r:id="R16c6a96cf38943d1"/>
    <p:sldId xmlns:r="http://schemas.openxmlformats.org/officeDocument/2006/relationships" id="322" r:id="R763bff87358647aa"/>
    <p:sldId xmlns:r="http://schemas.openxmlformats.org/officeDocument/2006/relationships" id="323" r:id="Ra8fb30b3e56242f2"/>
    <p:sldId xmlns:r="http://schemas.openxmlformats.org/officeDocument/2006/relationships" id="324" r:id="Re0f3e714d14c4099"/>
    <p:sldId xmlns:r="http://schemas.openxmlformats.org/officeDocument/2006/relationships" id="325" r:id="R0b7f520908ca4b26"/>
    <p:sldId xmlns:r="http://schemas.openxmlformats.org/officeDocument/2006/relationships" id="326" r:id="Re6c96b0ba2cd4d33"/>
    <p:sldId xmlns:r="http://schemas.openxmlformats.org/officeDocument/2006/relationships" id="327" r:id="R6a9331281d164c0c"/>
    <p:sldId xmlns:r="http://schemas.openxmlformats.org/officeDocument/2006/relationships" id="328" r:id="Rd09cb90b5be54cbd"/>
    <p:sldId xmlns:r="http://schemas.openxmlformats.org/officeDocument/2006/relationships" id="329" r:id="Rbac98f02335e4de8"/>
    <p:sldId xmlns:r="http://schemas.openxmlformats.org/officeDocument/2006/relationships" id="330" r:id="R093c0ea81637494f"/>
    <p:sldId xmlns:r="http://schemas.openxmlformats.org/officeDocument/2006/relationships" id="331" r:id="R3d0bd7e7abdb4b67"/>
    <p:sldId xmlns:r="http://schemas.openxmlformats.org/officeDocument/2006/relationships" id="332" r:id="R5f3132531bf141ff"/>
    <p:sldId xmlns:r="http://schemas.openxmlformats.org/officeDocument/2006/relationships" id="333" r:id="Rd4d6bcec89524851"/>
    <p:sldId xmlns:r="http://schemas.openxmlformats.org/officeDocument/2006/relationships" id="334" r:id="R78663315835f4f9c"/>
    <p:sldId xmlns:r="http://schemas.openxmlformats.org/officeDocument/2006/relationships" id="335" r:id="Rd0c936f707074c01"/>
    <p:sldId xmlns:r="http://schemas.openxmlformats.org/officeDocument/2006/relationships" id="336" r:id="R48f0edf47abc4f5c"/>
    <p:sldId xmlns:r="http://schemas.openxmlformats.org/officeDocument/2006/relationships" id="337" r:id="R34b322e7d17a4071"/>
    <p:sldId xmlns:r="http://schemas.openxmlformats.org/officeDocument/2006/relationships" id="338" r:id="R1091c6982b2a438b"/>
    <p:sldId xmlns:r="http://schemas.openxmlformats.org/officeDocument/2006/relationships" id="339" r:id="Recb5f6c0a45841de"/>
    <p:sldId xmlns:r="http://schemas.openxmlformats.org/officeDocument/2006/relationships" id="340" r:id="R32be0ba954d14359"/>
    <p:sldId xmlns:r="http://schemas.openxmlformats.org/officeDocument/2006/relationships" id="341" r:id="R08e745f750934fdf"/>
    <p:sldId xmlns:r="http://schemas.openxmlformats.org/officeDocument/2006/relationships" id="342" r:id="Rf0ce9c39f24a4926"/>
    <p:sldId xmlns:r="http://schemas.openxmlformats.org/officeDocument/2006/relationships" id="343" r:id="R4cd324da74304a1a"/>
    <p:sldId xmlns:r="http://schemas.openxmlformats.org/officeDocument/2006/relationships" id="344" r:id="R656dac2a28b54891"/>
    <p:sldId xmlns:r="http://schemas.openxmlformats.org/officeDocument/2006/relationships" id="345" r:id="Rcd7aac55317a4339"/>
    <p:sldId xmlns:r="http://schemas.openxmlformats.org/officeDocument/2006/relationships" id="346" r:id="Rf2b4809730cf4581"/>
    <p:sldId xmlns:r="http://schemas.openxmlformats.org/officeDocument/2006/relationships" id="347" r:id="R49e86669a43a4c0d"/>
    <p:sldId xmlns:r="http://schemas.openxmlformats.org/officeDocument/2006/relationships" id="348" r:id="Rf877786bf2b64251"/>
    <p:sldId xmlns:r="http://schemas.openxmlformats.org/officeDocument/2006/relationships" id="349" r:id="R11f40e97df2242fb"/>
    <p:sldId xmlns:r="http://schemas.openxmlformats.org/officeDocument/2006/relationships" id="350" r:id="R928453082a114516"/>
    <p:sldId xmlns:r="http://schemas.openxmlformats.org/officeDocument/2006/relationships" id="351" r:id="R8a166cd0f9f2463d"/>
    <p:sldId xmlns:r="http://schemas.openxmlformats.org/officeDocument/2006/relationships" id="352" r:id="R9bfc89bb5e7346b6"/>
    <p:sldId xmlns:r="http://schemas.openxmlformats.org/officeDocument/2006/relationships" id="353" r:id="R54861a2e8e3a4df8"/>
    <p:sldId xmlns:r="http://schemas.openxmlformats.org/officeDocument/2006/relationships" id="354" r:id="Re226bd64c7b840db"/>
    <p:sldId xmlns:r="http://schemas.openxmlformats.org/officeDocument/2006/relationships" id="355" r:id="R6103efdf16af448e"/>
    <p:sldId xmlns:r="http://schemas.openxmlformats.org/officeDocument/2006/relationships" id="356" r:id="R3eba6702455b4391"/>
    <p:sldId xmlns:r="http://schemas.openxmlformats.org/officeDocument/2006/relationships" id="357" r:id="R9ea2c129c8e748ef"/>
    <p:sldId xmlns:r="http://schemas.openxmlformats.org/officeDocument/2006/relationships" id="358" r:id="R03bec43f8ed94f2f"/>
    <p:sldId xmlns:r="http://schemas.openxmlformats.org/officeDocument/2006/relationships" id="359" r:id="R6d830bdb9d144f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343cb48dbb4e80" /><Relationship Type="http://schemas.openxmlformats.org/officeDocument/2006/relationships/slideMaster" Target="/ppt/slideMasters/slideMaster1.xml" Id="Rcecd13eddbf74cad" /><Relationship Type="http://schemas.openxmlformats.org/officeDocument/2006/relationships/notesMaster" Target="/ppt/notesMasters/notesMaster1.xml" Id="R62fa302ce4404ec3" /><Relationship Type="http://schemas.openxmlformats.org/officeDocument/2006/relationships/presProps" Target="/ppt/presProps.xml" Id="R0f044182d3b645c8" /><Relationship Type="http://schemas.openxmlformats.org/officeDocument/2006/relationships/tableStyles" Target="/ppt/tableStyles.xml" Id="R60de0d9e41604596" /><Relationship Type="http://schemas.openxmlformats.org/officeDocument/2006/relationships/slide" Target="/ppt/slides/slide1.xml" Id="R4c168f9c30c74ddb" /><Relationship Type="http://schemas.openxmlformats.org/officeDocument/2006/relationships/slide" Target="/ppt/slides/slide2.xml" Id="Rf48e3ba536a44f76" /><Relationship Type="http://schemas.openxmlformats.org/officeDocument/2006/relationships/slide" Target="/ppt/slides/slide3.xml" Id="R9bfe0a7227e14b9c" /><Relationship Type="http://schemas.openxmlformats.org/officeDocument/2006/relationships/slide" Target="/ppt/slides/slide4.xml" Id="R309b49ec8dfd42e4" /><Relationship Type="http://schemas.openxmlformats.org/officeDocument/2006/relationships/slide" Target="/ppt/slides/slide5.xml" Id="R7478f34fec5c4565" /><Relationship Type="http://schemas.openxmlformats.org/officeDocument/2006/relationships/slide" Target="/ppt/slides/slide6.xml" Id="R07138e35a34e4716" /><Relationship Type="http://schemas.openxmlformats.org/officeDocument/2006/relationships/slide" Target="/ppt/slides/slide7.xml" Id="R248b9a72decc4e10" /><Relationship Type="http://schemas.openxmlformats.org/officeDocument/2006/relationships/slide" Target="/ppt/slides/slide8.xml" Id="Rbd364530e41c4619" /><Relationship Type="http://schemas.openxmlformats.org/officeDocument/2006/relationships/slide" Target="/ppt/slides/slide9.xml" Id="R3b47ea04e69447c9" /><Relationship Type="http://schemas.openxmlformats.org/officeDocument/2006/relationships/slide" Target="/ppt/slides/slide10.xml" Id="R501ef43e0e4d4290" /><Relationship Type="http://schemas.openxmlformats.org/officeDocument/2006/relationships/slide" Target="/ppt/slides/slide11.xml" Id="R51292385bacd444c" /><Relationship Type="http://schemas.openxmlformats.org/officeDocument/2006/relationships/slide" Target="/ppt/slides/slide12.xml" Id="R0d64fac98f244d70" /><Relationship Type="http://schemas.openxmlformats.org/officeDocument/2006/relationships/slide" Target="/ppt/slides/slide13.xml" Id="R50252e859a4c4ddc" /><Relationship Type="http://schemas.openxmlformats.org/officeDocument/2006/relationships/slide" Target="/ppt/slides/slide14.xml" Id="Rb7426605c5cf495a" /><Relationship Type="http://schemas.openxmlformats.org/officeDocument/2006/relationships/slide" Target="/ppt/slides/slide15.xml" Id="Rf6ceddffa8ad4875" /><Relationship Type="http://schemas.openxmlformats.org/officeDocument/2006/relationships/slide" Target="/ppt/slides/slide16.xml" Id="R4c4bdf42667645fd" /><Relationship Type="http://schemas.openxmlformats.org/officeDocument/2006/relationships/slide" Target="/ppt/slides/slide17.xml" Id="Rd05fbe43de094b22" /><Relationship Type="http://schemas.openxmlformats.org/officeDocument/2006/relationships/slide" Target="/ppt/slides/slide18.xml" Id="Racc56147eb9649bf" /><Relationship Type="http://schemas.openxmlformats.org/officeDocument/2006/relationships/slide" Target="/ppt/slides/slide19.xml" Id="Raab795088bbb48dd" /><Relationship Type="http://schemas.openxmlformats.org/officeDocument/2006/relationships/slide" Target="/ppt/slides/slide20.xml" Id="Rc65db3023b244a0c" /><Relationship Type="http://schemas.openxmlformats.org/officeDocument/2006/relationships/slide" Target="/ppt/slides/slide21.xml" Id="R8b8fb0d4ff444c3d" /><Relationship Type="http://schemas.openxmlformats.org/officeDocument/2006/relationships/slide" Target="/ppt/slides/slide22.xml" Id="Rd90e42a69e474c35" /><Relationship Type="http://schemas.openxmlformats.org/officeDocument/2006/relationships/slide" Target="/ppt/slides/slide23.xml" Id="Rd0150198f42a41e4" /><Relationship Type="http://schemas.openxmlformats.org/officeDocument/2006/relationships/slide" Target="/ppt/slides/slide24.xml" Id="R4a3807d6ca604403" /><Relationship Type="http://schemas.openxmlformats.org/officeDocument/2006/relationships/slide" Target="/ppt/slides/slide25.xml" Id="Ra1fe1625a0b64a90" /><Relationship Type="http://schemas.openxmlformats.org/officeDocument/2006/relationships/slide" Target="/ppt/slides/slide26.xml" Id="Raaaf3ed0c4304e0e" /><Relationship Type="http://schemas.openxmlformats.org/officeDocument/2006/relationships/slide" Target="/ppt/slides/slide27.xml" Id="Rf7e8ae743cd848fa" /><Relationship Type="http://schemas.openxmlformats.org/officeDocument/2006/relationships/slide" Target="/ppt/slides/slide28.xml" Id="R2f555677cb1a46eb" /><Relationship Type="http://schemas.openxmlformats.org/officeDocument/2006/relationships/slide" Target="/ppt/slides/slide29.xml" Id="R6e38965a3c6b4b3f" /><Relationship Type="http://schemas.openxmlformats.org/officeDocument/2006/relationships/slide" Target="/ppt/slides/slide30.xml" Id="Rc908bb26dee44b17" /><Relationship Type="http://schemas.openxmlformats.org/officeDocument/2006/relationships/slide" Target="/ppt/slides/slide31.xml" Id="R41a95449333843b4" /><Relationship Type="http://schemas.openxmlformats.org/officeDocument/2006/relationships/slide" Target="/ppt/slides/slide32.xml" Id="Rcb71ea975b544956" /><Relationship Type="http://schemas.openxmlformats.org/officeDocument/2006/relationships/slide" Target="/ppt/slides/slide33.xml" Id="R23017b471a6b42cc" /><Relationship Type="http://schemas.openxmlformats.org/officeDocument/2006/relationships/slide" Target="/ppt/slides/slide34.xml" Id="R60c11bd8b5ed4010" /><Relationship Type="http://schemas.openxmlformats.org/officeDocument/2006/relationships/slide" Target="/ppt/slides/slide35.xml" Id="R0f02826fe7af4411" /><Relationship Type="http://schemas.openxmlformats.org/officeDocument/2006/relationships/slide" Target="/ppt/slides/slide36.xml" Id="R8dade1174ce64072" /><Relationship Type="http://schemas.openxmlformats.org/officeDocument/2006/relationships/slide" Target="/ppt/slides/slide37.xml" Id="Rf0788de6588c439b" /><Relationship Type="http://schemas.openxmlformats.org/officeDocument/2006/relationships/slide" Target="/ppt/slides/slide38.xml" Id="Rc5e14403e97749e8" /><Relationship Type="http://schemas.openxmlformats.org/officeDocument/2006/relationships/slide" Target="/ppt/slides/slide39.xml" Id="Rf0f7c9c4a2914365" /><Relationship Type="http://schemas.openxmlformats.org/officeDocument/2006/relationships/slide" Target="/ppt/slides/slide40.xml" Id="R3d343d591e6b48c3" /><Relationship Type="http://schemas.openxmlformats.org/officeDocument/2006/relationships/slide" Target="/ppt/slides/slide41.xml" Id="Ra3c8782f8f7e415e" /><Relationship Type="http://schemas.openxmlformats.org/officeDocument/2006/relationships/slide" Target="/ppt/slides/slide42.xml" Id="Rf6d670e418c840a6" /><Relationship Type="http://schemas.openxmlformats.org/officeDocument/2006/relationships/slide" Target="/ppt/slides/slide43.xml" Id="R80477dd1ad9942f5" /><Relationship Type="http://schemas.openxmlformats.org/officeDocument/2006/relationships/slide" Target="/ppt/slides/slide44.xml" Id="Re1bac9e024774267" /><Relationship Type="http://schemas.openxmlformats.org/officeDocument/2006/relationships/slide" Target="/ppt/slides/slide45.xml" Id="R728c3753de6f407a" /><Relationship Type="http://schemas.openxmlformats.org/officeDocument/2006/relationships/slide" Target="/ppt/slides/slide46.xml" Id="Rc4b32e6cbf504ff7" /><Relationship Type="http://schemas.openxmlformats.org/officeDocument/2006/relationships/slide" Target="/ppt/slides/slide47.xml" Id="R798f6887e947461c" /><Relationship Type="http://schemas.openxmlformats.org/officeDocument/2006/relationships/slide" Target="/ppt/slides/slide48.xml" Id="Rb7c27a8eaa0b4480" /><Relationship Type="http://schemas.openxmlformats.org/officeDocument/2006/relationships/slide" Target="/ppt/slides/slide49.xml" Id="Rbc51336357394965" /><Relationship Type="http://schemas.openxmlformats.org/officeDocument/2006/relationships/slide" Target="/ppt/slides/slide50.xml" Id="Ra0be74b5c86f4ecf" /><Relationship Type="http://schemas.openxmlformats.org/officeDocument/2006/relationships/slide" Target="/ppt/slides/slide51.xml" Id="R26805e4fd3164c1e" /><Relationship Type="http://schemas.openxmlformats.org/officeDocument/2006/relationships/slide" Target="/ppt/slides/slide52.xml" Id="Rdbad90f6924a4f5a" /><Relationship Type="http://schemas.openxmlformats.org/officeDocument/2006/relationships/slide" Target="/ppt/slides/slide53.xml" Id="R4052a2aa747e4822" /><Relationship Type="http://schemas.openxmlformats.org/officeDocument/2006/relationships/slide" Target="/ppt/slides/slide54.xml" Id="R844d65afa45b4ce7" /><Relationship Type="http://schemas.openxmlformats.org/officeDocument/2006/relationships/slide" Target="/ppt/slides/slide55.xml" Id="R4d184bb039ff475f" /><Relationship Type="http://schemas.openxmlformats.org/officeDocument/2006/relationships/slide" Target="/ppt/slides/slide56.xml" Id="R76fa76537c0744cc" /><Relationship Type="http://schemas.openxmlformats.org/officeDocument/2006/relationships/slide" Target="/ppt/slides/slide57.xml" Id="R0c1d5a9b56d44e80" /><Relationship Type="http://schemas.openxmlformats.org/officeDocument/2006/relationships/slide" Target="/ppt/slides/slide58.xml" Id="R46fa74f78a3b4f73" /><Relationship Type="http://schemas.openxmlformats.org/officeDocument/2006/relationships/slide" Target="/ppt/slides/slide59.xml" Id="R8a80c0138c474d00" /><Relationship Type="http://schemas.openxmlformats.org/officeDocument/2006/relationships/slide" Target="/ppt/slides/slide60.xml" Id="R20df253d5454497f" /><Relationship Type="http://schemas.openxmlformats.org/officeDocument/2006/relationships/slide" Target="/ppt/slides/slide61.xml" Id="R8244c5dd98ee4358" /><Relationship Type="http://schemas.openxmlformats.org/officeDocument/2006/relationships/slide" Target="/ppt/slides/slide62.xml" Id="R951f153601484900" /><Relationship Type="http://schemas.openxmlformats.org/officeDocument/2006/relationships/slide" Target="/ppt/slides/slide63.xml" Id="Rbf7132cea7e04d4b" /><Relationship Type="http://schemas.openxmlformats.org/officeDocument/2006/relationships/slide" Target="/ppt/slides/slide64.xml" Id="R6437e95f182b4a26" /><Relationship Type="http://schemas.openxmlformats.org/officeDocument/2006/relationships/slide" Target="/ppt/slides/slide65.xml" Id="R850499fffbd7451f" /><Relationship Type="http://schemas.openxmlformats.org/officeDocument/2006/relationships/slide" Target="/ppt/slides/slide66.xml" Id="R16c6a96cf38943d1" /><Relationship Type="http://schemas.openxmlformats.org/officeDocument/2006/relationships/slide" Target="/ppt/slides/slide67.xml" Id="R763bff87358647aa" /><Relationship Type="http://schemas.openxmlformats.org/officeDocument/2006/relationships/slide" Target="/ppt/slides/slide68.xml" Id="Ra8fb30b3e56242f2" /><Relationship Type="http://schemas.openxmlformats.org/officeDocument/2006/relationships/slide" Target="/ppt/slides/slide69.xml" Id="Re0f3e714d14c4099" /><Relationship Type="http://schemas.openxmlformats.org/officeDocument/2006/relationships/slide" Target="/ppt/slides/slide70.xml" Id="R0b7f520908ca4b26" /><Relationship Type="http://schemas.openxmlformats.org/officeDocument/2006/relationships/slide" Target="/ppt/slides/slide71.xml" Id="Re6c96b0ba2cd4d33" /><Relationship Type="http://schemas.openxmlformats.org/officeDocument/2006/relationships/slide" Target="/ppt/slides/slide72.xml" Id="R6a9331281d164c0c" /><Relationship Type="http://schemas.openxmlformats.org/officeDocument/2006/relationships/slide" Target="/ppt/slides/slide73.xml" Id="Rd09cb90b5be54cbd" /><Relationship Type="http://schemas.openxmlformats.org/officeDocument/2006/relationships/slide" Target="/ppt/slides/slide74.xml" Id="Rbac98f02335e4de8" /><Relationship Type="http://schemas.openxmlformats.org/officeDocument/2006/relationships/slide" Target="/ppt/slides/slide75.xml" Id="R093c0ea81637494f" /><Relationship Type="http://schemas.openxmlformats.org/officeDocument/2006/relationships/slide" Target="/ppt/slides/slide76.xml" Id="R3d0bd7e7abdb4b67" /><Relationship Type="http://schemas.openxmlformats.org/officeDocument/2006/relationships/slide" Target="/ppt/slides/slide77.xml" Id="R5f3132531bf141ff" /><Relationship Type="http://schemas.openxmlformats.org/officeDocument/2006/relationships/slide" Target="/ppt/slides/slide78.xml" Id="Rd4d6bcec89524851" /><Relationship Type="http://schemas.openxmlformats.org/officeDocument/2006/relationships/slide" Target="/ppt/slides/slide79.xml" Id="R78663315835f4f9c" /><Relationship Type="http://schemas.openxmlformats.org/officeDocument/2006/relationships/slide" Target="/ppt/slides/slide80.xml" Id="Rd0c936f707074c01" /><Relationship Type="http://schemas.openxmlformats.org/officeDocument/2006/relationships/slide" Target="/ppt/slides/slide81.xml" Id="R48f0edf47abc4f5c" /><Relationship Type="http://schemas.openxmlformats.org/officeDocument/2006/relationships/slide" Target="/ppt/slides/slide82.xml" Id="R34b322e7d17a4071" /><Relationship Type="http://schemas.openxmlformats.org/officeDocument/2006/relationships/slide" Target="/ppt/slides/slide83.xml" Id="R1091c6982b2a438b" /><Relationship Type="http://schemas.openxmlformats.org/officeDocument/2006/relationships/slide" Target="/ppt/slides/slide84.xml" Id="Recb5f6c0a45841de" /><Relationship Type="http://schemas.openxmlformats.org/officeDocument/2006/relationships/slide" Target="/ppt/slides/slide85.xml" Id="R32be0ba954d14359" /><Relationship Type="http://schemas.openxmlformats.org/officeDocument/2006/relationships/slide" Target="/ppt/slides/slide86.xml" Id="R08e745f750934fdf" /><Relationship Type="http://schemas.openxmlformats.org/officeDocument/2006/relationships/slide" Target="/ppt/slides/slide87.xml" Id="Rf0ce9c39f24a4926" /><Relationship Type="http://schemas.openxmlformats.org/officeDocument/2006/relationships/slide" Target="/ppt/slides/slide88.xml" Id="R4cd324da74304a1a" /><Relationship Type="http://schemas.openxmlformats.org/officeDocument/2006/relationships/slide" Target="/ppt/slides/slide89.xml" Id="R656dac2a28b54891" /><Relationship Type="http://schemas.openxmlformats.org/officeDocument/2006/relationships/slide" Target="/ppt/slides/slide90.xml" Id="Rcd7aac55317a4339" /><Relationship Type="http://schemas.openxmlformats.org/officeDocument/2006/relationships/slide" Target="/ppt/slides/slide91.xml" Id="Rf2b4809730cf4581" /><Relationship Type="http://schemas.openxmlformats.org/officeDocument/2006/relationships/slide" Target="/ppt/slides/slide92.xml" Id="R49e86669a43a4c0d" /><Relationship Type="http://schemas.openxmlformats.org/officeDocument/2006/relationships/slide" Target="/ppt/slides/slide93.xml" Id="Rf877786bf2b64251" /><Relationship Type="http://schemas.openxmlformats.org/officeDocument/2006/relationships/slide" Target="/ppt/slides/slide94.xml" Id="R11f40e97df2242fb" /><Relationship Type="http://schemas.openxmlformats.org/officeDocument/2006/relationships/slide" Target="/ppt/slides/slide95.xml" Id="R928453082a114516" /><Relationship Type="http://schemas.openxmlformats.org/officeDocument/2006/relationships/slide" Target="/ppt/slides/slide96.xml" Id="R8a166cd0f9f2463d" /><Relationship Type="http://schemas.openxmlformats.org/officeDocument/2006/relationships/slide" Target="/ppt/slides/slide97.xml" Id="R9bfc89bb5e7346b6" /><Relationship Type="http://schemas.openxmlformats.org/officeDocument/2006/relationships/slide" Target="/ppt/slides/slide98.xml" Id="R54861a2e8e3a4df8" /><Relationship Type="http://schemas.openxmlformats.org/officeDocument/2006/relationships/slide" Target="/ppt/slides/slide99.xml" Id="Re226bd64c7b840db" /><Relationship Type="http://schemas.openxmlformats.org/officeDocument/2006/relationships/slide" Target="/ppt/slides/slide100.xml" Id="R6103efdf16af448e" /><Relationship Type="http://schemas.openxmlformats.org/officeDocument/2006/relationships/slide" Target="/ppt/slides/slide101.xml" Id="R3eba6702455b4391" /><Relationship Type="http://schemas.openxmlformats.org/officeDocument/2006/relationships/slide" Target="/ppt/slides/slide102.xml" Id="R9ea2c129c8e748ef" /><Relationship Type="http://schemas.openxmlformats.org/officeDocument/2006/relationships/slide" Target="/ppt/slides/slide103.xml" Id="R03bec43f8ed94f2f" /><Relationship Type="http://schemas.openxmlformats.org/officeDocument/2006/relationships/slide" Target="/ppt/slides/slide104.xml" Id="R6d830bdb9d144f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d23967e24644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98a7f5f1d94bf3" /><Relationship Type="http://schemas.openxmlformats.org/officeDocument/2006/relationships/notesMaster" Target="/ppt/notesMasters/notesMaster1.xml" Id="R2f1543fcc68b49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a89e7ea52048c2" /><Relationship Type="http://schemas.openxmlformats.org/officeDocument/2006/relationships/notesMaster" Target="/ppt/notesMasters/notesMaster1.xml" Id="Ra57ac3ef419643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3d4473d62e4a66" /><Relationship Type="http://schemas.openxmlformats.org/officeDocument/2006/relationships/notesMaster" Target="/ppt/notesMasters/notesMaster1.xml" Id="R6589d69cbf024c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9de782fac04ac1" /><Relationship Type="http://schemas.openxmlformats.org/officeDocument/2006/relationships/notesMaster" Target="/ppt/notesMasters/notesMaster1.xml" Id="R1d00ad18139f42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396fb18b544068" /><Relationship Type="http://schemas.openxmlformats.org/officeDocument/2006/relationships/notesMaster" Target="/ppt/notesMasters/notesMaster1.xml" Id="Rac710949a1074a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f133410ddd484e" /><Relationship Type="http://schemas.openxmlformats.org/officeDocument/2006/relationships/notesMaster" Target="/ppt/notesMasters/notesMaster1.xml" Id="Ref2da2cba0a14c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69311eee7e4fb8" /><Relationship Type="http://schemas.openxmlformats.org/officeDocument/2006/relationships/notesMaster" Target="/ppt/notesMasters/notesMaster1.xml" Id="R24191f88f7274c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863f786b244da1" /><Relationship Type="http://schemas.openxmlformats.org/officeDocument/2006/relationships/notesMaster" Target="/ppt/notesMasters/notesMaster1.xml" Id="R9dcf74a93a184d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1a8e1d750a24535" /><Relationship Type="http://schemas.openxmlformats.org/officeDocument/2006/relationships/notesMaster" Target="/ppt/notesMasters/notesMaster1.xml" Id="Rb75fe6295d104e5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6c602d0e417458f" /><Relationship Type="http://schemas.openxmlformats.org/officeDocument/2006/relationships/notesMaster" Target="/ppt/notesMasters/notesMaster1.xml" Id="Rc014a7bd4d304bb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6797a401bd24c21" /><Relationship Type="http://schemas.openxmlformats.org/officeDocument/2006/relationships/notesMaster" Target="/ppt/notesMasters/notesMaster1.xml" Id="Rf5b8a1f6d4af408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a81cb5877964817" /><Relationship Type="http://schemas.openxmlformats.org/officeDocument/2006/relationships/notesMaster" Target="/ppt/notesMasters/notesMaster1.xml" Id="R51a93b30d8154e3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3e24b84071c4543" /><Relationship Type="http://schemas.openxmlformats.org/officeDocument/2006/relationships/notesMaster" Target="/ppt/notesMasters/notesMaster1.xml" Id="R2748b446547742f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766a49676ed47e9" /><Relationship Type="http://schemas.openxmlformats.org/officeDocument/2006/relationships/notesMaster" Target="/ppt/notesMasters/notesMaster1.xml" Id="R451edba8711f4d8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59670720c1347bd" /><Relationship Type="http://schemas.openxmlformats.org/officeDocument/2006/relationships/notesMaster" Target="/ppt/notesMasters/notesMaster1.xml" Id="Rb6d20180826247c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cce90bc5aa448e2" /><Relationship Type="http://schemas.openxmlformats.org/officeDocument/2006/relationships/notesMaster" Target="/ppt/notesMasters/notesMaster1.xml" Id="Rfa56268adb9c472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8c1b4f22b054eaf" /><Relationship Type="http://schemas.openxmlformats.org/officeDocument/2006/relationships/notesMaster" Target="/ppt/notesMasters/notesMaster1.xml" Id="Raa141bf42291415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0b0f561fac14943" /><Relationship Type="http://schemas.openxmlformats.org/officeDocument/2006/relationships/notesMaster" Target="/ppt/notesMasters/notesMaster1.xml" Id="R46cc131065544ab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d090f133de1419a" /><Relationship Type="http://schemas.openxmlformats.org/officeDocument/2006/relationships/notesMaster" Target="/ppt/notesMasters/notesMaster1.xml" Id="R6439ed767156480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d39d689cfff4598" /><Relationship Type="http://schemas.openxmlformats.org/officeDocument/2006/relationships/notesMaster" Target="/ppt/notesMasters/notesMaster1.xml" Id="Rf48225c2905a4af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920d8426a3d43e9" /><Relationship Type="http://schemas.openxmlformats.org/officeDocument/2006/relationships/notesMaster" Target="/ppt/notesMasters/notesMaster1.xml" Id="R7171524b3b32463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3d8ce6cdb4a444a" /><Relationship Type="http://schemas.openxmlformats.org/officeDocument/2006/relationships/notesMaster" Target="/ppt/notesMasters/notesMaster1.xml" Id="R3f59d47c12e049d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ce579c81af14e23" /><Relationship Type="http://schemas.openxmlformats.org/officeDocument/2006/relationships/notesMaster" Target="/ppt/notesMasters/notesMaster1.xml" Id="R61de5656a4aa4b4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e3fe086c39e42e8" /><Relationship Type="http://schemas.openxmlformats.org/officeDocument/2006/relationships/notesMaster" Target="/ppt/notesMasters/notesMaster1.xml" Id="Rb158d2c20cab414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51ea1f652ee410c" /><Relationship Type="http://schemas.openxmlformats.org/officeDocument/2006/relationships/notesMaster" Target="/ppt/notesMasters/notesMaster1.xml" Id="R86da059618a14f7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838115ab82f4a16" /><Relationship Type="http://schemas.openxmlformats.org/officeDocument/2006/relationships/notesMaster" Target="/ppt/notesMasters/notesMaster1.xml" Id="Re59d42dfd6d24dc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4751409b9f04564" /><Relationship Type="http://schemas.openxmlformats.org/officeDocument/2006/relationships/notesMaster" Target="/ppt/notesMasters/notesMaster1.xml" Id="R30a2ea96f2db473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775b9be2e634000" /><Relationship Type="http://schemas.openxmlformats.org/officeDocument/2006/relationships/notesMaster" Target="/ppt/notesMasters/notesMaster1.xml" Id="R9e02e12ce713403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aef1b1817844284" /><Relationship Type="http://schemas.openxmlformats.org/officeDocument/2006/relationships/notesMaster" Target="/ppt/notesMasters/notesMaster1.xml" Id="R6aba5d98403f453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9f7f90a35a94d3f" /><Relationship Type="http://schemas.openxmlformats.org/officeDocument/2006/relationships/notesMaster" Target="/ppt/notesMasters/notesMaster1.xml" Id="R5c1f888f9af6443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8a9ad6fc1494b63" /><Relationship Type="http://schemas.openxmlformats.org/officeDocument/2006/relationships/notesMaster" Target="/ppt/notesMasters/notesMaster1.xml" Id="Rc6ebac7d8ee3499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c08b4287d744104" /><Relationship Type="http://schemas.openxmlformats.org/officeDocument/2006/relationships/notesMaster" Target="/ppt/notesMasters/notesMaster1.xml" Id="Ref65a1ef25284bb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e7ba99e78084409" /><Relationship Type="http://schemas.openxmlformats.org/officeDocument/2006/relationships/notesMaster" Target="/ppt/notesMasters/notesMaster1.xml" Id="R94d41eeb0d644c9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a541e4edc524d7f" /><Relationship Type="http://schemas.openxmlformats.org/officeDocument/2006/relationships/notesMaster" Target="/ppt/notesMasters/notesMaster1.xml" Id="R33aea37a98b446d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dfbf54650db4137" /><Relationship Type="http://schemas.openxmlformats.org/officeDocument/2006/relationships/notesMaster" Target="/ppt/notesMasters/notesMaster1.xml" Id="R9aa6bf0c24104eb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e1e1d19aac54dae" /><Relationship Type="http://schemas.openxmlformats.org/officeDocument/2006/relationships/notesMaster" Target="/ppt/notesMasters/notesMaster1.xml" Id="Rddc704ff100d4b3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1fad227aa8a4744" /><Relationship Type="http://schemas.openxmlformats.org/officeDocument/2006/relationships/notesMaster" Target="/ppt/notesMasters/notesMaster1.xml" Id="R2a69d1517bf6470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25cb74d78154ddd" /><Relationship Type="http://schemas.openxmlformats.org/officeDocument/2006/relationships/notesMaster" Target="/ppt/notesMasters/notesMaster1.xml" Id="Rc2ed894102354139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0d2118ce5ae421b" /><Relationship Type="http://schemas.openxmlformats.org/officeDocument/2006/relationships/notesMaster" Target="/ppt/notesMasters/notesMaster1.xml" Id="R1cd38880269644e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fa459181951495c" /><Relationship Type="http://schemas.openxmlformats.org/officeDocument/2006/relationships/notesMaster" Target="/ppt/notesMasters/notesMaster1.xml" Id="R4a4100e853454dd2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fa27479fefef4ec1" /><Relationship Type="http://schemas.openxmlformats.org/officeDocument/2006/relationships/notesMaster" Target="/ppt/notesMasters/notesMaster1.xml" Id="Rfaeada972be04580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08967235fa8c4533" /><Relationship Type="http://schemas.openxmlformats.org/officeDocument/2006/relationships/notesMaster" Target="/ppt/notesMasters/notesMaster1.xml" Id="Rfce9918425224826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1826e25751f34632" /><Relationship Type="http://schemas.openxmlformats.org/officeDocument/2006/relationships/notesMaster" Target="/ppt/notesMasters/notesMaster1.xml" Id="Rbd6770e516d348f2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0bf481efa6104aff" /><Relationship Type="http://schemas.openxmlformats.org/officeDocument/2006/relationships/notesMaster" Target="/ppt/notesMasters/notesMaster1.xml" Id="R824c26672ab64895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25f042c49faa4fe1" /><Relationship Type="http://schemas.openxmlformats.org/officeDocument/2006/relationships/notesMaster" Target="/ppt/notesMasters/notesMaster1.xml" Id="R41bbd7163e644fde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5855d453b9b943dd" /><Relationship Type="http://schemas.openxmlformats.org/officeDocument/2006/relationships/notesMaster" Target="/ppt/notesMasters/notesMaster1.xml" Id="Rd0454758f84c45cb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798fc23c8a3a4fb3" /><Relationship Type="http://schemas.openxmlformats.org/officeDocument/2006/relationships/notesMaster" Target="/ppt/notesMasters/notesMaster1.xml" Id="R621a27da260d43ea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44adad5aaa944c9f" /><Relationship Type="http://schemas.openxmlformats.org/officeDocument/2006/relationships/notesMaster" Target="/ppt/notesMasters/notesMaster1.xml" Id="R80665c896e244736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4d71752a79c0454e" /><Relationship Type="http://schemas.openxmlformats.org/officeDocument/2006/relationships/notesMaster" Target="/ppt/notesMasters/notesMaster1.xml" Id="R92408d47c89844b2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7584ac0a1766456a" /><Relationship Type="http://schemas.openxmlformats.org/officeDocument/2006/relationships/notesMaster" Target="/ppt/notesMasters/notesMaster1.xml" Id="R05ee6befbdf44b25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5331376b32914f0f" /><Relationship Type="http://schemas.openxmlformats.org/officeDocument/2006/relationships/notesMaster" Target="/ppt/notesMasters/notesMaster1.xml" Id="R7477a8d4502b4f8a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1660bc8ab2324471" /><Relationship Type="http://schemas.openxmlformats.org/officeDocument/2006/relationships/notesMaster" Target="/ppt/notesMasters/notesMaster1.xml" Id="Rc64d83f323864274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0b85b06fc08e46ad" /><Relationship Type="http://schemas.openxmlformats.org/officeDocument/2006/relationships/notesMaster" Target="/ppt/notesMasters/notesMaster1.xml" Id="R78c6e8d3c7c24b0d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eacfae288fff49b4" /><Relationship Type="http://schemas.openxmlformats.org/officeDocument/2006/relationships/notesMaster" Target="/ppt/notesMasters/notesMaster1.xml" Id="R66593f4de6fb438d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f263ee0c1ccc4b9d" /><Relationship Type="http://schemas.openxmlformats.org/officeDocument/2006/relationships/notesMaster" Target="/ppt/notesMasters/notesMaster1.xml" Id="Ra02fdbd730cc4ed9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91b76366306e4352" /><Relationship Type="http://schemas.openxmlformats.org/officeDocument/2006/relationships/notesMaster" Target="/ppt/notesMasters/notesMaster1.xml" Id="R53d781d8c58e44bc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80ccde61781a4989" /><Relationship Type="http://schemas.openxmlformats.org/officeDocument/2006/relationships/notesMaster" Target="/ppt/notesMasters/notesMaster1.xml" Id="R25436b873a34440e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c775ea7f72e048db" /><Relationship Type="http://schemas.openxmlformats.org/officeDocument/2006/relationships/notesMaster" Target="/ppt/notesMasters/notesMaster1.xml" Id="Rf7f4a198b13e4f48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f35f90975b554e5d" /><Relationship Type="http://schemas.openxmlformats.org/officeDocument/2006/relationships/notesMaster" Target="/ppt/notesMasters/notesMaster1.xml" Id="Re39a2635f4ae48f9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6e01adbbb8b54d3f" /><Relationship Type="http://schemas.openxmlformats.org/officeDocument/2006/relationships/notesMaster" Target="/ppt/notesMasters/notesMaster1.xml" Id="Re120923060c74b1e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ff91907db868421c" /><Relationship Type="http://schemas.openxmlformats.org/officeDocument/2006/relationships/notesMaster" Target="/ppt/notesMasters/notesMaster1.xml" Id="Rdea346ec001f4a5b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773b010da40c47e5" /><Relationship Type="http://schemas.openxmlformats.org/officeDocument/2006/relationships/notesMaster" Target="/ppt/notesMasters/notesMaster1.xml" Id="Ra3ae888968834508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95610c37ccea4b53" /><Relationship Type="http://schemas.openxmlformats.org/officeDocument/2006/relationships/notesMaster" Target="/ppt/notesMasters/notesMaster1.xml" Id="R70e12cf5cadb4d1f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c0e6d80e82d5473d" /><Relationship Type="http://schemas.openxmlformats.org/officeDocument/2006/relationships/notesMaster" Target="/ppt/notesMasters/notesMaster1.xml" Id="Rdfaf8f66107e4c44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00b2bb8bc5524a41" /><Relationship Type="http://schemas.openxmlformats.org/officeDocument/2006/relationships/notesMaster" Target="/ppt/notesMasters/notesMaster1.xml" Id="R673231197e084812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2dbfe10fbf8c459d" /><Relationship Type="http://schemas.openxmlformats.org/officeDocument/2006/relationships/notesMaster" Target="/ppt/notesMasters/notesMaster1.xml" Id="R10268de977474ceb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67dbe282798e4ec0" /><Relationship Type="http://schemas.openxmlformats.org/officeDocument/2006/relationships/notesMaster" Target="/ppt/notesMasters/notesMaster1.xml" Id="R2ba3ad3630d7470c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a0c2c9682c5b4538" /><Relationship Type="http://schemas.openxmlformats.org/officeDocument/2006/relationships/notesMaster" Target="/ppt/notesMasters/notesMaster1.xml" Id="R0ce2bfd34f434830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fad75728cb8849e9" /><Relationship Type="http://schemas.openxmlformats.org/officeDocument/2006/relationships/notesMaster" Target="/ppt/notesMasters/notesMaster1.xml" Id="R3aae5069505e4e46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dd95f9b444ee4681" /><Relationship Type="http://schemas.openxmlformats.org/officeDocument/2006/relationships/notesMaster" Target="/ppt/notesMasters/notesMaster1.xml" Id="R73905bc4945d432b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9ffe90df425747ad" /><Relationship Type="http://schemas.openxmlformats.org/officeDocument/2006/relationships/notesMaster" Target="/ppt/notesMasters/notesMaster1.xml" Id="R73cd77f4d5b94965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4e3e9973959142b5" /><Relationship Type="http://schemas.openxmlformats.org/officeDocument/2006/relationships/notesMaster" Target="/ppt/notesMasters/notesMaster1.xml" Id="R2595e92c364e494a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2e14d212e16e4f78" /><Relationship Type="http://schemas.openxmlformats.org/officeDocument/2006/relationships/notesMaster" Target="/ppt/notesMasters/notesMaster1.xml" Id="R58a5946baee94136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5eb77d6f04d74ce4" /><Relationship Type="http://schemas.openxmlformats.org/officeDocument/2006/relationships/notesMaster" Target="/ppt/notesMasters/notesMaster1.xml" Id="R0439171365394b17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381b72a138d2485b" /><Relationship Type="http://schemas.openxmlformats.org/officeDocument/2006/relationships/notesMaster" Target="/ppt/notesMasters/notesMaster1.xml" Id="R6b6b9a0bb9894167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ffafd296f3fa4cc3" /><Relationship Type="http://schemas.openxmlformats.org/officeDocument/2006/relationships/notesMaster" Target="/ppt/notesMasters/notesMaster1.xml" Id="R72a0e38d06cd40cf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3121e4ada0774833" /><Relationship Type="http://schemas.openxmlformats.org/officeDocument/2006/relationships/notesMaster" Target="/ppt/notesMasters/notesMaster1.xml" Id="R842d0043675242d8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3d5c3b96c8284d24" /><Relationship Type="http://schemas.openxmlformats.org/officeDocument/2006/relationships/notesMaster" Target="/ppt/notesMasters/notesMaster1.xml" Id="R1514fa5d84064f12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6b5c687afaef49d5" /><Relationship Type="http://schemas.openxmlformats.org/officeDocument/2006/relationships/notesMaster" Target="/ppt/notesMasters/notesMaster1.xml" Id="R1e52db57b6064cd1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820d33b0b6584e91" /><Relationship Type="http://schemas.openxmlformats.org/officeDocument/2006/relationships/notesMaster" Target="/ppt/notesMasters/notesMaster1.xml" Id="R4e81a5d1112e4ab1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4ecf62f3ffdd44de" /><Relationship Type="http://schemas.openxmlformats.org/officeDocument/2006/relationships/notesMaster" Target="/ppt/notesMasters/notesMaster1.xml" Id="R80483e3d3cbd454c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dedba4ed94134262" /><Relationship Type="http://schemas.openxmlformats.org/officeDocument/2006/relationships/notesMaster" Target="/ppt/notesMasters/notesMaster1.xml" Id="R4e175cde92c54332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f225edc5605948cd" /><Relationship Type="http://schemas.openxmlformats.org/officeDocument/2006/relationships/notesMaster" Target="/ppt/notesMasters/notesMaster1.xml" Id="R069547bbc1474f9a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1cd5d3f9868949dc" /><Relationship Type="http://schemas.openxmlformats.org/officeDocument/2006/relationships/notesMaster" Target="/ppt/notesMasters/notesMaster1.xml" Id="R53e14d90a7ba4e11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4438c133e1ec4aed" /><Relationship Type="http://schemas.openxmlformats.org/officeDocument/2006/relationships/notesMaster" Target="/ppt/notesMasters/notesMaster1.xml" Id="R0c3a4e2323ec4df3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04704c1568384a7f" /><Relationship Type="http://schemas.openxmlformats.org/officeDocument/2006/relationships/notesMaster" Target="/ppt/notesMasters/notesMaster1.xml" Id="R274c1f923cfd4f28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ab9d3568cd264245" /><Relationship Type="http://schemas.openxmlformats.org/officeDocument/2006/relationships/notesMaster" Target="/ppt/notesMasters/notesMaster1.xml" Id="Rb6f2cb39908245a2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f6627a04c1654d1e" /><Relationship Type="http://schemas.openxmlformats.org/officeDocument/2006/relationships/notesMaster" Target="/ppt/notesMasters/notesMaster1.xml" Id="Rf08f3e5beecf4bfb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390be0861a44476f" /><Relationship Type="http://schemas.openxmlformats.org/officeDocument/2006/relationships/notesMaster" Target="/ppt/notesMasters/notesMaster1.xml" Id="R6af557075f184841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452694942ad543f0" /><Relationship Type="http://schemas.openxmlformats.org/officeDocument/2006/relationships/notesMaster" Target="/ppt/notesMasters/notesMaster1.xml" Id="Rd49a91fdd64d4b7c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8dad0e4ee36d4032" /><Relationship Type="http://schemas.openxmlformats.org/officeDocument/2006/relationships/notesMaster" Target="/ppt/notesMasters/notesMaster1.xml" Id="Rfed90ce6f11f4b83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2ee009c914354a54" /><Relationship Type="http://schemas.openxmlformats.org/officeDocument/2006/relationships/notesMaster" Target="/ppt/notesMasters/notesMaster1.xml" Id="R7611fb1c68ab43d3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0a4c89ee1b9e470e" /><Relationship Type="http://schemas.openxmlformats.org/officeDocument/2006/relationships/notesMaster" Target="/ppt/notesMasters/notesMaster1.xml" Id="R46148648e3ce4c6e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2db43d8aeaac43d5" /><Relationship Type="http://schemas.openxmlformats.org/officeDocument/2006/relationships/notesMaster" Target="/ppt/notesMasters/notesMaster1.xml" Id="Ra5531e3cb41d4c7e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80267bfdd9b547c3" /><Relationship Type="http://schemas.openxmlformats.org/officeDocument/2006/relationships/notesMaster" Target="/ppt/notesMasters/notesMaster1.xml" Id="Rfba33873a9a84a1e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b82def572cc64f8b" /><Relationship Type="http://schemas.openxmlformats.org/officeDocument/2006/relationships/notesMaster" Target="/ppt/notesMasters/notesMaster1.xml" Id="R44afe408021f4e37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db8f933c94db4ede" /><Relationship Type="http://schemas.openxmlformats.org/officeDocument/2006/relationships/notesMaster" Target="/ppt/notesMasters/notesMaster1.xml" Id="R79f47bb5b23c40ec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1ec2672245ea4539" /><Relationship Type="http://schemas.openxmlformats.org/officeDocument/2006/relationships/notesMaster" Target="/ppt/notesMasters/notesMaster1.xml" Id="Rda7d349cf7ae467f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aff74beccaa841b5" /><Relationship Type="http://schemas.openxmlformats.org/officeDocument/2006/relationships/notesMaster" Target="/ppt/notesMasters/notesMaster1.xml" Id="R1f427f2a8d81422e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5236c124b4a64c8c" /><Relationship Type="http://schemas.openxmlformats.org/officeDocument/2006/relationships/notesMaster" Target="/ppt/notesMasters/notesMaster1.xml" Id="R7c597bcd9ae24ab8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ca4f25e5d3d34ba8" /><Relationship Type="http://schemas.openxmlformats.org/officeDocument/2006/relationships/notesMaster" Target="/ppt/notesMasters/notesMaster1.xml" Id="R5fde9fc43ec749be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2e808f18702d4e35" /><Relationship Type="http://schemas.openxmlformats.org/officeDocument/2006/relationships/notesMaster" Target="/ppt/notesMasters/notesMaster1.xml" Id="R508d0d680c534869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f2c01707bd4c44e5" /><Relationship Type="http://schemas.openxmlformats.org/officeDocument/2006/relationships/notesMaster" Target="/ppt/notesMasters/notesMaster1.xml" Id="R7eadbae623fe4f81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070e6e7e48e44456" /><Relationship Type="http://schemas.openxmlformats.org/officeDocument/2006/relationships/notesMaster" Target="/ppt/notesMasters/notesMaster1.xml" Id="R463111f00b6544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AI顧問室オリジナル整理。各プロンプトは業務用に新規作成した日本語テンプレートです。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de303265bb40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aee43c89e448b5" /><Relationship Type="http://schemas.openxmlformats.org/officeDocument/2006/relationships/slideLayout" Target="/ppt/slideLayouts/slideLayout1.xml" Id="R367a114b041748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7a114b041748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a23724cda64510" /><Relationship Type="http://schemas.openxmlformats.org/officeDocument/2006/relationships/notesSlide" Target="/ppt/notesSlides/notesSlide1.xml" Id="Rcc11145abb144c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f5d5587bda4c94" /><Relationship Type="http://schemas.openxmlformats.org/officeDocument/2006/relationships/notesSlide" Target="/ppt/notesSlides/notesSlide2.xml" Id="Rbb89c18366d940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fdd45adf054202" /><Relationship Type="http://schemas.openxmlformats.org/officeDocument/2006/relationships/notesSlide" Target="/ppt/notesSlides/notesSlide3.xml" Id="Rfa29872d6f4340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fdcf91859948cf" /><Relationship Type="http://schemas.openxmlformats.org/officeDocument/2006/relationships/notesSlide" Target="/ppt/notesSlides/notesSlide4.xml" Id="Rd2f03cd5765a4c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4bc95a0c34576" /><Relationship Type="http://schemas.openxmlformats.org/officeDocument/2006/relationships/notesSlide" Target="/ppt/notesSlides/notesSlide5.xml" Id="R062b1db701024f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4c8840835a4f80" /><Relationship Type="http://schemas.openxmlformats.org/officeDocument/2006/relationships/notesSlide" Target="/ppt/notesSlides/notesSlide6.xml" Id="Rcaa3810e168a48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9534e0dfc4be9" /><Relationship Type="http://schemas.openxmlformats.org/officeDocument/2006/relationships/notesSlide" Target="/ppt/notesSlides/notesSlide7.xml" Id="Rb98174e862894c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51d0c4fbf64c34" /><Relationship Type="http://schemas.openxmlformats.org/officeDocument/2006/relationships/notesSlide" Target="/ppt/notesSlides/notesSlide8.xml" Id="Rb4ce9155179e452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f1c42f997f4702" /><Relationship Type="http://schemas.openxmlformats.org/officeDocument/2006/relationships/notesSlide" Target="/ppt/notesSlides/notesSlide9.xml" Id="Rde93d4235e194f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f344478aa04cc3" /><Relationship Type="http://schemas.openxmlformats.org/officeDocument/2006/relationships/notesSlide" Target="/ppt/notesSlides/notesSlide10.xml" Id="Rc7c2b27e167040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4f9cb05a2b4869" /><Relationship Type="http://schemas.openxmlformats.org/officeDocument/2006/relationships/notesSlide" Target="/ppt/notesSlides/notesSlide11.xml" Id="R731b5eefce374a9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d9c8a52bbe4836" /><Relationship Type="http://schemas.openxmlformats.org/officeDocument/2006/relationships/notesSlide" Target="/ppt/notesSlides/notesSlide12.xml" Id="R5a74e88d265643d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27ad6d157e4f24" /><Relationship Type="http://schemas.openxmlformats.org/officeDocument/2006/relationships/notesSlide" Target="/ppt/notesSlides/notesSlide13.xml" Id="Ra226051c5e7f4ac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c2032e8d84479" /><Relationship Type="http://schemas.openxmlformats.org/officeDocument/2006/relationships/notesSlide" Target="/ppt/notesSlides/notesSlide14.xml" Id="R1d134a5415924b2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3883a183a47fb" /><Relationship Type="http://schemas.openxmlformats.org/officeDocument/2006/relationships/notesSlide" Target="/ppt/notesSlides/notesSlide15.xml" Id="R73d480e446634ce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f570d182ee4d69" /><Relationship Type="http://schemas.openxmlformats.org/officeDocument/2006/relationships/notesSlide" Target="/ppt/notesSlides/notesSlide16.xml" Id="Rdc950ec100a24a2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68249915d44ca0" /><Relationship Type="http://schemas.openxmlformats.org/officeDocument/2006/relationships/notesSlide" Target="/ppt/notesSlides/notesSlide17.xml" Id="Rfb8d6890ed0846c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320555c5d04413" /><Relationship Type="http://schemas.openxmlformats.org/officeDocument/2006/relationships/notesSlide" Target="/ppt/notesSlides/notesSlide18.xml" Id="R1ed6a16aa43446d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4b99d525546b9" /><Relationship Type="http://schemas.openxmlformats.org/officeDocument/2006/relationships/notesSlide" Target="/ppt/notesSlides/notesSlide19.xml" Id="R2b1d6f7fbcdd449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8499b3eec4bb9" /><Relationship Type="http://schemas.openxmlformats.org/officeDocument/2006/relationships/notesSlide" Target="/ppt/notesSlides/notesSlide20.xml" Id="R3849d2297df0432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c7a0e5d41d4fbf" /><Relationship Type="http://schemas.openxmlformats.org/officeDocument/2006/relationships/notesSlide" Target="/ppt/notesSlides/notesSlide21.xml" Id="Rba2e8de14d4b457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cdc78908642fe" /><Relationship Type="http://schemas.openxmlformats.org/officeDocument/2006/relationships/notesSlide" Target="/ppt/notesSlides/notesSlide22.xml" Id="R1e286aaf59964a0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3620926307422f" /><Relationship Type="http://schemas.openxmlformats.org/officeDocument/2006/relationships/notesSlide" Target="/ppt/notesSlides/notesSlide23.xml" Id="R8408e8361802420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69e498612448d6" /><Relationship Type="http://schemas.openxmlformats.org/officeDocument/2006/relationships/notesSlide" Target="/ppt/notesSlides/notesSlide24.xml" Id="R1f7853ca678f4a3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bdf32112b4632" /><Relationship Type="http://schemas.openxmlformats.org/officeDocument/2006/relationships/notesSlide" Target="/ppt/notesSlides/notesSlide25.xml" Id="R150bfa91b8b5494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2b0f986b5146fe" /><Relationship Type="http://schemas.openxmlformats.org/officeDocument/2006/relationships/notesSlide" Target="/ppt/notesSlides/notesSlide26.xml" Id="R4b8894cace90471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c0df1723874df8" /><Relationship Type="http://schemas.openxmlformats.org/officeDocument/2006/relationships/notesSlide" Target="/ppt/notesSlides/notesSlide27.xml" Id="R118998f2e0d146e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75152d74054693" /><Relationship Type="http://schemas.openxmlformats.org/officeDocument/2006/relationships/notesSlide" Target="/ppt/notesSlides/notesSlide28.xml" Id="R9271b17c3bed482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c652bca4524142" /><Relationship Type="http://schemas.openxmlformats.org/officeDocument/2006/relationships/notesSlide" Target="/ppt/notesSlides/notesSlide29.xml" Id="R67f9131f78f840c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cc12c2e0194d5e" /><Relationship Type="http://schemas.openxmlformats.org/officeDocument/2006/relationships/notesSlide" Target="/ppt/notesSlides/notesSlide30.xml" Id="Rf689c5eba8ff4e9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982dd7bf774593" /><Relationship Type="http://schemas.openxmlformats.org/officeDocument/2006/relationships/notesSlide" Target="/ppt/notesSlides/notesSlide31.xml" Id="R8dd08172967142d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6cf7c4d8f4bee" /><Relationship Type="http://schemas.openxmlformats.org/officeDocument/2006/relationships/notesSlide" Target="/ppt/notesSlides/notesSlide32.xml" Id="R202f430ecce54c1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5fc91f05246bd" /><Relationship Type="http://schemas.openxmlformats.org/officeDocument/2006/relationships/notesSlide" Target="/ppt/notesSlides/notesSlide33.xml" Id="Ra153bff16b5b424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945471de949d1" /><Relationship Type="http://schemas.openxmlformats.org/officeDocument/2006/relationships/notesSlide" Target="/ppt/notesSlides/notesSlide34.xml" Id="R1ce2d294ceb14ee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dcf41bb51484b" /><Relationship Type="http://schemas.openxmlformats.org/officeDocument/2006/relationships/notesSlide" Target="/ppt/notesSlides/notesSlide35.xml" Id="Rb01e8ec5856641b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28a8586459439a" /><Relationship Type="http://schemas.openxmlformats.org/officeDocument/2006/relationships/notesSlide" Target="/ppt/notesSlides/notesSlide36.xml" Id="R4af9157b72404fd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26b30d02840ab" /><Relationship Type="http://schemas.openxmlformats.org/officeDocument/2006/relationships/notesSlide" Target="/ppt/notesSlides/notesSlide37.xml" Id="R79ac63de0d0b49ca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2b59d861804f3c" /><Relationship Type="http://schemas.openxmlformats.org/officeDocument/2006/relationships/notesSlide" Target="/ppt/notesSlides/notesSlide38.xml" Id="R36f8a45246e1469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e5e6fba564835" /><Relationship Type="http://schemas.openxmlformats.org/officeDocument/2006/relationships/notesSlide" Target="/ppt/notesSlides/notesSlide39.xml" Id="R5da031ed072a48d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8595f00454215" /><Relationship Type="http://schemas.openxmlformats.org/officeDocument/2006/relationships/notesSlide" Target="/ppt/notesSlides/notesSlide40.xml" Id="Ra7ea2b04b3bf416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5392c739d3466b" /><Relationship Type="http://schemas.openxmlformats.org/officeDocument/2006/relationships/notesSlide" Target="/ppt/notesSlides/notesSlide41.xml" Id="R0c5a08365e3247cb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681251ba6848d9" /><Relationship Type="http://schemas.openxmlformats.org/officeDocument/2006/relationships/notesSlide" Target="/ppt/notesSlides/notesSlide42.xml" Id="Rd136201b06b14cb5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202da85ff146ba" /><Relationship Type="http://schemas.openxmlformats.org/officeDocument/2006/relationships/notesSlide" Target="/ppt/notesSlides/notesSlide43.xml" Id="R620f580c24a341cb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f6be0d01404e71" /><Relationship Type="http://schemas.openxmlformats.org/officeDocument/2006/relationships/notesSlide" Target="/ppt/notesSlides/notesSlide44.xml" Id="Rd388f8e0cdc64956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ecb0a8869d4ef0" /><Relationship Type="http://schemas.openxmlformats.org/officeDocument/2006/relationships/notesSlide" Target="/ppt/notesSlides/notesSlide45.xml" Id="Raf969b17a2204d37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9ccd464e074205" /><Relationship Type="http://schemas.openxmlformats.org/officeDocument/2006/relationships/notesSlide" Target="/ppt/notesSlides/notesSlide46.xml" Id="R3124409eb6b549fe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15cb627a224d9f" /><Relationship Type="http://schemas.openxmlformats.org/officeDocument/2006/relationships/notesSlide" Target="/ppt/notesSlides/notesSlide47.xml" Id="R83603226d23648fe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514d80e244846" /><Relationship Type="http://schemas.openxmlformats.org/officeDocument/2006/relationships/notesSlide" Target="/ppt/notesSlides/notesSlide48.xml" Id="Rfd2b925031334983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dc9d99dab4518" /><Relationship Type="http://schemas.openxmlformats.org/officeDocument/2006/relationships/notesSlide" Target="/ppt/notesSlides/notesSlide49.xml" Id="Rd0506df5627d4438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288dff1af5486c" /><Relationship Type="http://schemas.openxmlformats.org/officeDocument/2006/relationships/notesSlide" Target="/ppt/notesSlides/notesSlide50.xml" Id="Ra1ce53f797a14e63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315e44a284118" /><Relationship Type="http://schemas.openxmlformats.org/officeDocument/2006/relationships/notesSlide" Target="/ppt/notesSlides/notesSlide51.xml" Id="Rb67ecfc2094c4681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aacdb31b34914" /><Relationship Type="http://schemas.openxmlformats.org/officeDocument/2006/relationships/notesSlide" Target="/ppt/notesSlides/notesSlide52.xml" Id="R287a658f11d741bd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a2cd070bd64449" /><Relationship Type="http://schemas.openxmlformats.org/officeDocument/2006/relationships/notesSlide" Target="/ppt/notesSlides/notesSlide53.xml" Id="R011b62cba8404cf1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2f33dbd2024cce" /><Relationship Type="http://schemas.openxmlformats.org/officeDocument/2006/relationships/notesSlide" Target="/ppt/notesSlides/notesSlide54.xml" Id="R5c3afa4e03bb4f54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d785d77514f66" /><Relationship Type="http://schemas.openxmlformats.org/officeDocument/2006/relationships/notesSlide" Target="/ppt/notesSlides/notesSlide55.xml" Id="R21831d70dba54c85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1c2a556134526" /><Relationship Type="http://schemas.openxmlformats.org/officeDocument/2006/relationships/notesSlide" Target="/ppt/notesSlides/notesSlide56.xml" Id="R58d5a900621e4671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f4f1117bf4234" /><Relationship Type="http://schemas.openxmlformats.org/officeDocument/2006/relationships/notesSlide" Target="/ppt/notesSlides/notesSlide57.xml" Id="R770664f341cc439e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6bcc47a694ef5" /><Relationship Type="http://schemas.openxmlformats.org/officeDocument/2006/relationships/notesSlide" Target="/ppt/notesSlides/notesSlide58.xml" Id="Re7affacddbf04ff5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d07c4154e4e2b" /><Relationship Type="http://schemas.openxmlformats.org/officeDocument/2006/relationships/notesSlide" Target="/ppt/notesSlides/notesSlide59.xml" Id="Ra0fe6a95883b4d41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3b7e03c004008" /><Relationship Type="http://schemas.openxmlformats.org/officeDocument/2006/relationships/notesSlide" Target="/ppt/notesSlides/notesSlide60.xml" Id="Rbd5d64b10d294cc6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f62a4b6ca542a4" /><Relationship Type="http://schemas.openxmlformats.org/officeDocument/2006/relationships/notesSlide" Target="/ppt/notesSlides/notesSlide61.xml" Id="R46ef1bfa93344760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f92bba04c44d4a" /><Relationship Type="http://schemas.openxmlformats.org/officeDocument/2006/relationships/notesSlide" Target="/ppt/notesSlides/notesSlide62.xml" Id="Rc8335c920011405b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0a82167fde48bf" /><Relationship Type="http://schemas.openxmlformats.org/officeDocument/2006/relationships/notesSlide" Target="/ppt/notesSlides/notesSlide63.xml" Id="R43ebf930806d4b7e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3ca774d4044024" /><Relationship Type="http://schemas.openxmlformats.org/officeDocument/2006/relationships/notesSlide" Target="/ppt/notesSlides/notesSlide64.xml" Id="Rf725e5894fe243fc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ff325903f04bba" /><Relationship Type="http://schemas.openxmlformats.org/officeDocument/2006/relationships/notesSlide" Target="/ppt/notesSlides/notesSlide65.xml" Id="R956869c1a20f415b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65a53b318b4327" /><Relationship Type="http://schemas.openxmlformats.org/officeDocument/2006/relationships/notesSlide" Target="/ppt/notesSlides/notesSlide66.xml" Id="R9368bf7d978e4bc6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b134f52704bec" /><Relationship Type="http://schemas.openxmlformats.org/officeDocument/2006/relationships/notesSlide" Target="/ppt/notesSlides/notesSlide67.xml" Id="R638d49dbdd8a411e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eab749243a48b1" /><Relationship Type="http://schemas.openxmlformats.org/officeDocument/2006/relationships/notesSlide" Target="/ppt/notesSlides/notesSlide68.xml" Id="Rc98a9520cc0c4d05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7285e0274e48ed" /><Relationship Type="http://schemas.openxmlformats.org/officeDocument/2006/relationships/notesSlide" Target="/ppt/notesSlides/notesSlide69.xml" Id="R81a95aa7decc48f2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0242a3ca274346" /><Relationship Type="http://schemas.openxmlformats.org/officeDocument/2006/relationships/notesSlide" Target="/ppt/notesSlides/notesSlide70.xml" Id="R5c0a628e8cdb49f9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b480e41e0045fc" /><Relationship Type="http://schemas.openxmlformats.org/officeDocument/2006/relationships/notesSlide" Target="/ppt/notesSlides/notesSlide71.xml" Id="Ra546c2b690dc4ed0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3bb0d0e5845d5" /><Relationship Type="http://schemas.openxmlformats.org/officeDocument/2006/relationships/notesSlide" Target="/ppt/notesSlides/notesSlide72.xml" Id="Rcc4463d336ef4529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35f07a3474654" /><Relationship Type="http://schemas.openxmlformats.org/officeDocument/2006/relationships/notesSlide" Target="/ppt/notesSlides/notesSlide73.xml" Id="Rf7acc1fa3ffd4fa4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b972cbb2c435a" /><Relationship Type="http://schemas.openxmlformats.org/officeDocument/2006/relationships/notesSlide" Target="/ppt/notesSlides/notesSlide74.xml" Id="R88b17e240ffd4ed9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25acdd5d64916" /><Relationship Type="http://schemas.openxmlformats.org/officeDocument/2006/relationships/notesSlide" Target="/ppt/notesSlides/notesSlide75.xml" Id="R7c2001d060db42b3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8c75029c84715" /><Relationship Type="http://schemas.openxmlformats.org/officeDocument/2006/relationships/notesSlide" Target="/ppt/notesSlides/notesSlide76.xml" Id="R2e0f9d166b7b4ab0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4fbc0b8404589" /><Relationship Type="http://schemas.openxmlformats.org/officeDocument/2006/relationships/notesSlide" Target="/ppt/notesSlides/notesSlide77.xml" Id="R4d41e98eddc54936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84df134fe94702" /><Relationship Type="http://schemas.openxmlformats.org/officeDocument/2006/relationships/notesSlide" Target="/ppt/notesSlides/notesSlide78.xml" Id="Ra24db3e505ac4a99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d1cc2fd6c04bda" /><Relationship Type="http://schemas.openxmlformats.org/officeDocument/2006/relationships/notesSlide" Target="/ppt/notesSlides/notesSlide79.xml" Id="Rd47db5ad01c34ba1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457d4e6a794656" /><Relationship Type="http://schemas.openxmlformats.org/officeDocument/2006/relationships/notesSlide" Target="/ppt/notesSlides/notesSlide80.xml" Id="R6e97036b9412415f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0dc08d56074a80" /><Relationship Type="http://schemas.openxmlformats.org/officeDocument/2006/relationships/notesSlide" Target="/ppt/notesSlides/notesSlide81.xml" Id="Raca6188eff1b4604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46e6d39c304bb7" /><Relationship Type="http://schemas.openxmlformats.org/officeDocument/2006/relationships/notesSlide" Target="/ppt/notesSlides/notesSlide82.xml" Id="Rcbc54fe7f94e4bfa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43c12380324646" /><Relationship Type="http://schemas.openxmlformats.org/officeDocument/2006/relationships/notesSlide" Target="/ppt/notesSlides/notesSlide83.xml" Id="R2be07cac91b044ec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86bdf78a1c4284" /><Relationship Type="http://schemas.openxmlformats.org/officeDocument/2006/relationships/notesSlide" Target="/ppt/notesSlides/notesSlide84.xml" Id="Rd100ddcd6b6a48ca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8566ebcae9491c" /><Relationship Type="http://schemas.openxmlformats.org/officeDocument/2006/relationships/notesSlide" Target="/ppt/notesSlides/notesSlide85.xml" Id="Rcf8c1e20ac474726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d43b13a5a940a3" /><Relationship Type="http://schemas.openxmlformats.org/officeDocument/2006/relationships/notesSlide" Target="/ppt/notesSlides/notesSlide86.xml" Id="R49fea747f069440b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d5d62876b84ae3" /><Relationship Type="http://schemas.openxmlformats.org/officeDocument/2006/relationships/notesSlide" Target="/ppt/notesSlides/notesSlide87.xml" Id="R5a8ad10ec89246b3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912e472ffb4da0" /><Relationship Type="http://schemas.openxmlformats.org/officeDocument/2006/relationships/notesSlide" Target="/ppt/notesSlides/notesSlide88.xml" Id="R912a00e807194f52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d8e0e81a8e4b0f" /><Relationship Type="http://schemas.openxmlformats.org/officeDocument/2006/relationships/notesSlide" Target="/ppt/notesSlides/notesSlide89.xml" Id="R4bd32e9315d4450b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cb93f4a7224d18" /><Relationship Type="http://schemas.openxmlformats.org/officeDocument/2006/relationships/notesSlide" Target="/ppt/notesSlides/notesSlide90.xml" Id="Ra2f82c29e1634516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14769d16c5477d" /><Relationship Type="http://schemas.openxmlformats.org/officeDocument/2006/relationships/notesSlide" Target="/ppt/notesSlides/notesSlide91.xml" Id="Re25c34dd778648b4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a69ed8c33f4224" /><Relationship Type="http://schemas.openxmlformats.org/officeDocument/2006/relationships/notesSlide" Target="/ppt/notesSlides/notesSlide92.xml" Id="R276ff3710c2b455c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144d9e4974287" /><Relationship Type="http://schemas.openxmlformats.org/officeDocument/2006/relationships/notesSlide" Target="/ppt/notesSlides/notesSlide93.xml" Id="R9244f3671c1a4594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a3dac7eaf64925" /><Relationship Type="http://schemas.openxmlformats.org/officeDocument/2006/relationships/notesSlide" Target="/ppt/notesSlides/notesSlide94.xml" Id="Ra33785edd708469f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d43d08e324980" /><Relationship Type="http://schemas.openxmlformats.org/officeDocument/2006/relationships/notesSlide" Target="/ppt/notesSlides/notesSlide95.xml" Id="R4f44dca7722242e3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da7048d544b9d" /><Relationship Type="http://schemas.openxmlformats.org/officeDocument/2006/relationships/notesSlide" Target="/ppt/notesSlides/notesSlide96.xml" Id="Rf66d1cf3963e4590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e50a47d4b1432a" /><Relationship Type="http://schemas.openxmlformats.org/officeDocument/2006/relationships/notesSlide" Target="/ppt/notesSlides/notesSlide97.xml" Id="R5360c1dcfd7e4f80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b65d5c9964bd0" /><Relationship Type="http://schemas.openxmlformats.org/officeDocument/2006/relationships/notesSlide" Target="/ppt/notesSlides/notesSlide98.xml" Id="Ree63f57f514545df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81df346d314bcd" /><Relationship Type="http://schemas.openxmlformats.org/officeDocument/2006/relationships/notesSlide" Target="/ppt/notesSlides/notesSlide99.xml" Id="R52cbe013a1ac48d4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41b9f72cd941a0" /><Relationship Type="http://schemas.openxmlformats.org/officeDocument/2006/relationships/notesSlide" Target="/ppt/notesSlides/notesSlide100.xml" Id="Rbb60808e30854be9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f9974e7d654b4b" /><Relationship Type="http://schemas.openxmlformats.org/officeDocument/2006/relationships/notesSlide" Target="/ppt/notesSlides/notesSlide101.xml" Id="R2d2565a0efe248ac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8986622dc5476a" /><Relationship Type="http://schemas.openxmlformats.org/officeDocument/2006/relationships/notesSlide" Target="/ppt/notesSlides/notesSlide102.xml" Id="Rc683a9ae5cc14623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f603970f74f64" /><Relationship Type="http://schemas.openxmlformats.org/officeDocument/2006/relationships/notesSlide" Target="/ppt/notesSlides/notesSlide103.xml" Id="R4d790f3800c34b03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48cd940f14464" /><Relationship Type="http://schemas.openxmlformats.org/officeDocument/2006/relationships/notesSlide" Target="/ppt/notesSlides/notesSlide104.xml" Id="R2ac075aa121a49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2C3B0C-511C-4A43-A537-29B51F69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42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A310A2-1D7E-4B56-956C-58FE3B28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52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5F2C12-8494-4470-821A-E942258B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953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AI顧問室｜実務リードマグネット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10DDBB-5819-4107-8854-1D8CDA81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57350"/>
            <a:ext cx="5905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4482"/>
          </a:bodyPr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40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実務で使える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 sz="40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パターン別プロンプト集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 sz="40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100選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1D99D5-2F4A-45C1-836E-CDA9CD73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0000"/>
            <a:ext cx="533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9569"/>
          </a:bodyPr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57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8592A7"/>
                </a:solidFill>
                <a:latin typeface="Aptos"/>
                <a:ea typeface="Aptos"/>
                <a:cs typeface="Aptos"/>
              </a:rPr>
              <a:t>営業、顧客対応、会議、採用、バックオフィス、経営企画まで。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57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8592A7"/>
                </a:solidFill>
                <a:latin typeface="Aptos"/>
                <a:ea typeface="Aptos"/>
                <a:cs typeface="Aptos"/>
              </a:rPr>
              <a:t>入力欄を埋めて、そのまま仕事の下書きに使える形にしています。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28C6A2-3FA8-4A63-8367-EFF75CF9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000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4D6C6"/>
                </a:solidFill>
                <a:latin typeface="Aptos"/>
                <a:ea typeface="Aptos"/>
                <a:cs typeface="Aptos"/>
              </a:rPr>
              <a:t>10カテゴリ × 10パターン  /  説明つき・コピペ用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4FDC5C-0535-49E1-B537-9DC777C5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00200"/>
            <a:ext cx="238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284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12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69F031-6AED-44BA-A16D-ACE97552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33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800" b="1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4D6C6"/>
                </a:solidFill>
                <a:latin typeface="Aptos"/>
                <a:ea typeface="Aptos"/>
                <a:cs typeface="Aptos"/>
              </a:rPr>
              <a:t>PROMPTS</a:t>
            </a:r>
          </a:p>
        </p:txBody>
      </p:sp>
    </p:spTree>
    <p:extLst>
      <p:ext uri="{BB962C8B-B14F-4D97-AF65-F5344CB8AC3E}">
        <p14:creationId xmlns:p14="http://schemas.microsoft.com/office/powerpoint/2010/main" val="8582359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7260FB-E900-497D-AE28-44AFFA0A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FB986-6BEA-4092-9874-184E482B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3F687-D842-4AE2-B0FA-7AB95108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31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この本の使い方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44E840-61EF-485C-A264-607BDB20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857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F6B7A"/>
                </a:solidFill>
                <a:latin typeface="Aptos"/>
                <a:ea typeface="Aptos"/>
                <a:cs typeface="Aptos"/>
              </a:rPr>
              <a:t>プロンプトは、呪文ではなく仕事の依頼書です。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65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F6B7A"/>
                </a:solidFill>
                <a:latin typeface="Aptos"/>
                <a:ea typeface="Aptos"/>
                <a:cs typeface="Aptos"/>
              </a:rPr>
              <a:t>誰として、何のために、どんな条件で、どんな形にするかを渡します。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1F5D8-4EFA-4972-BB4E-A91AC9DA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8A859C-2DF2-4496-8DB4-860A5E64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146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6F1056-BDA8-48D8-8F37-8E05E047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765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5347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72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目的を決める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B23D2D-4566-4F3D-9C1B-8BC4DA99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9562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F6B7A"/>
                </a:solidFill>
                <a:latin typeface="Aptos"/>
                <a:ea typeface="Aptos"/>
                <a:cs typeface="Aptos"/>
              </a:rPr>
              <a:t>何を終わらせたいかを1文にする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19D49C-3B12-4073-98AA-99F63A8A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828049-2C44-4525-83BA-F5DC428D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671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797D1C-82C0-4A2A-8DB1-E47FED11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290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5347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72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入力欄を埋める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524279-F3D9-4F33-85D5-26810EA1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4807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F6B7A"/>
                </a:solidFill>
                <a:latin typeface="Aptos"/>
                <a:ea typeface="Aptos"/>
                <a:cs typeface="Aptos"/>
              </a:rPr>
              <a:t>[[  ]] の部分を自社の情報に置き換える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478394-3EC4-4D92-8683-F9A1F886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F148F0-8A5B-4BEA-92E7-C8713BE7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195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38FE3B-6F10-43CC-AA35-C1E8F95E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814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5347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72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出力を読む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D06A03-BC02-4969-AD76-41FFEC5B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0052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F6B7A"/>
                </a:solidFill>
                <a:latin typeface="Aptos"/>
                <a:ea typeface="Aptos"/>
                <a:cs typeface="Aptos"/>
              </a:rPr>
              <a:t>事実、推測、抜けを人が確認する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94E9CB-18EA-4615-B88F-4836D6BE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006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5E9EE2-045A-404D-AC46-99D310DB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720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0CB428-11E2-4174-B640-53A126CE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339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5347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72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自社の型にする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26F97A-E763-479A-9CCE-F877397B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5297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F6B7A"/>
                </a:solidFill>
                <a:latin typeface="Aptos"/>
                <a:ea typeface="Aptos"/>
                <a:cs typeface="Aptos"/>
              </a:rPr>
              <a:t>よく使うものをチームのテンプレに保存する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322F0A-9DB4-4645-A590-D2AF7F5D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9334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44593C-BF33-4837-90B7-4A367F28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4835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9344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注意：機密情報、個人情報、未確認の数字は匿名化・要確認化してから使う</a:t>
            </a:r>
          </a:p>
        </p:txBody>
      </p:sp>
    </p:spTree>
    <p:extLst>
      <p:ext uri="{BB962C8B-B14F-4D97-AF65-F5344CB8AC3E}">
        <p14:creationId xmlns:p14="http://schemas.microsoft.com/office/powerpoint/2010/main" val="11125027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C82629-4801-49C5-B8C3-B99FCD9B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0043FD-6A19-425A-A119-2B7B0003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E499DC-7EED-4A6E-9484-C9394EC0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31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良い依頼は、6つの部品でできている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AF516B-3536-46B6-8AC1-7D554907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9681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F6B7A"/>
                </a:solidFill>
                <a:latin typeface="Aptos"/>
                <a:ea typeface="Aptos"/>
                <a:cs typeface="Aptos"/>
              </a:rPr>
              <a:t>迷ったら、この順番で足します。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B2C9B4-9E34-4DD5-9D98-79DC0E21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762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0712BA-1A2B-45B8-A7C6-AFAEDDF2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384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9344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役割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FD3EDC-E0F3-4304-8FFF-3991F173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384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9344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9FBFF"/>
                </a:solidFill>
                <a:latin typeface="Aptos"/>
                <a:ea typeface="Aptos"/>
                <a:cs typeface="Aptos"/>
              </a:rPr>
              <a:t>誰として考えるか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462324-655B-4452-9F0A-2CE8B723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57500"/>
            <a:ext cx="4762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E81E29-6EB7-4365-A1A3-79D75590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384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9344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背景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919EFD-7324-4632-A8C5-B7EA41E0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384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9344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42238"/>
                </a:solidFill>
                <a:latin typeface="Aptos"/>
                <a:ea typeface="Aptos"/>
                <a:cs typeface="Aptos"/>
              </a:rPr>
              <a:t>何のために使うか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1CF43B-50D8-420B-B687-44CCE73E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4762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B71374-9C14-49CF-AB56-5566C282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147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9344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入力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F47D12-7633-47E0-AD6F-F5299F03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147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9344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9FBFF"/>
                </a:solidFill>
                <a:latin typeface="Aptos"/>
                <a:ea typeface="Aptos"/>
                <a:cs typeface="Aptos"/>
              </a:rPr>
              <a:t>何を材料にするか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67C979-8D38-46B3-8D73-51E390DF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33800"/>
            <a:ext cx="4762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D5C65D-97D3-4257-B8F5-25FF2FF0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147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9344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依頼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B2FAA0-DA81-44AF-86D6-D48B66E6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147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9344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42238"/>
                </a:solidFill>
                <a:latin typeface="Aptos"/>
                <a:ea typeface="Aptos"/>
                <a:cs typeface="Aptos"/>
              </a:rPr>
              <a:t>何を作るか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B9C72A-3279-4A17-AC3E-7605884F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4762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959097-EFDD-4CC1-9D34-1117A700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910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9344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条件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F5D849-67AF-4CFD-80B6-789A7D55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910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9344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9FBFF"/>
                </a:solidFill>
                <a:latin typeface="Aptos"/>
                <a:ea typeface="Aptos"/>
                <a:cs typeface="Aptos"/>
              </a:rPr>
              <a:t>守るルール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B08D90-B05A-4316-8B08-1A4EF6A5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10100"/>
            <a:ext cx="4762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20CDBC-7EA9-4D2D-BED2-C2AFEFB0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910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9344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出力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3D0A4F-0133-4679-B2EF-8421882E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910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9344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42238"/>
                </a:solidFill>
                <a:latin typeface="Aptos"/>
                <a:ea typeface="Aptos"/>
                <a:cs typeface="Aptos"/>
              </a:rPr>
              <a:t>どんな形か</a:t>
            </a:r>
          </a:p>
        </p:txBody>
      </p:sp>
    </p:spTree>
    <p:extLst>
      <p:ext uri="{BB962C8B-B14F-4D97-AF65-F5344CB8AC3E}">
        <p14:creationId xmlns:p14="http://schemas.microsoft.com/office/powerpoint/2010/main" val="12726001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2C7D6B-4522-4E96-A5A2-3A7B791D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6F3F7A-6ABE-4FD4-AE12-658C11A2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A800EB-5060-425A-8AC2-F311772E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31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目次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470209-FCB0-49EC-B149-EBAAB2A0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76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09660A-9983-47E4-9595-FB1AF299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1932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5999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01  営業・受注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03116F-B63D-4CDB-B765-8254919F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2193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No.001 - 010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B2298-A480-4244-AA5D-52A63547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95500"/>
            <a:ext cx="476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3DDD73-2F03-4F7C-9BA8-280F8220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1932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5999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02  マーケティング・集客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B54CF4-3558-4525-BA77-2CEC39E2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2193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No.011 - 020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28FF89-B7C5-47C6-A3D8-B88F55E3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76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744EE8-45B1-4C8A-8E76-B4F56339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0512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5999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03  顧客対応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2A2CD7-62C8-44E3-A9FF-CC4FF497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9051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No.021 - 030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EB1FCF-17EC-4A1D-9367-54D6F0FE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81300"/>
            <a:ext cx="476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2C3568-E43B-469B-86A0-49904FDA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0512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5999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04  会議・議事録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83C2F6-75EF-428E-AE3A-CEF89F50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051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No.031 - 040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74409A-BA42-483B-8EE8-9223D0D5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476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091BDB-072F-4A72-990B-6212EBAF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9092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5999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05  採用・人事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C76763-DBDC-4169-9136-7D47EF2F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5909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No.041 - 050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444F64-8F72-4BC3-9575-672FA240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67100"/>
            <a:ext cx="476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FC677F-0E32-49B1-8434-5FCC8FA1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9092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5999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06  バックオフィス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B0F568-2DE9-471C-83BF-ACF18F53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5909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No.051 - 060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DA271E-02CE-44F4-8E98-CF87C3DE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476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F51E7B-367F-4A32-B083-ABA699A5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7672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5999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07  経営・企画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BFCBE6-762B-4D03-B329-493D07F3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2767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No.061 - 070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2423BD-8459-4E20-B217-21803BB8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52900"/>
            <a:ext cx="476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BD1E48-53BD-4A91-AF2C-39310D8C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7672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5999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08  社内ナレッジ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DB25AF-A49D-48BE-9CD5-15AF6309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2767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No.071 - 080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4BD600-3754-48E0-8885-83DDA1CA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476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D497C4-1112-429F-9C94-E9CD7AC6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6252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5999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09  文章・広報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501A7A-F6F2-48C9-A49F-E3EAD965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9625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No.081 - 090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1377BB-6AB9-4C07-81D9-9AD979BE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38700"/>
            <a:ext cx="4762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D5CA9E-969F-4DAD-A3DE-11D03050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6252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5999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10  業務改善・自動化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7FA7AB-78C3-44CE-B5EC-206BF1D7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9625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No.091 - 100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5B5B6A-2031-4E0F-88E4-53C6CE6D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Web版ではカテゴリとキーワードで検索し、プロンプトをコピーできます。</a:t>
            </a:r>
          </a:p>
        </p:txBody>
      </p:sp>
    </p:spTree>
    <p:extLst>
      <p:ext uri="{BB962C8B-B14F-4D97-AF65-F5344CB8AC3E}">
        <p14:creationId xmlns:p14="http://schemas.microsoft.com/office/powerpoint/2010/main" val="20953341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05D1AC-671D-49EC-81CD-7FB428D7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F9CE58-E860-432B-9153-3B3E767C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636CF1-88B0-44B3-8332-6666496E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営業・受注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5ADAE1-AA6D-4D12-BE1A-171513A4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No.001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7884B5-1B9C-450A-9043-175DF6FF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商談後のお礼メール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7B57F0-7C4F-4F1D-A864-7B4397A4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商談で確認した事実だけを使い、次の行動が明確なメールにします.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F602C9-C3FC-4409-8E5E-7CE50276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1E7D34-362D-4975-B126-3305121A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7ADD97-EAD0-476E-BAD8-5DB09D78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37E2E5-4526-41F7-A2DB-E0E63031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あなたは法人営業の担当者です。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目的: 商談後のお礼メールを作る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入力: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- 相手の会社・担当者: [[会社名・氏名]]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- 商談で確認した事実: [[事実]]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- 次に依頼したい行動: [[行動]]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- 期限: [[期限]]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条件: 未確認の情報や過度な約束は入れない。200字以内。件名と本文を分ける。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出力: 件名 / 本文 / 送信前に確認する事実3つ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06F9AD-C42C-4632-8348-A15375B4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5446F8-BC79-4992-9887-49AA5F19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89EFD7-993D-4329-ACE6-4F7BDE1B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58A6D"/>
                </a:solidFill>
                <a:latin typeface="Aptos"/>
                <a:ea typeface="Aptos"/>
                <a:cs typeface="Aptos"/>
              </a:rPr>
              <a:t>#営業  #メール  #追客</a:t>
            </a:r>
          </a:p>
        </p:txBody>
      </p:sp>
    </p:spTree>
    <p:extLst>
      <p:ext uri="{BB962C8B-B14F-4D97-AF65-F5344CB8AC3E}">
        <p14:creationId xmlns:p14="http://schemas.microsoft.com/office/powerpoint/2010/main" val="1173243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D3104C-1558-4561-8530-E02327A1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C49074-F2F7-420C-8C93-A9729843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006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64FD73-BC71-485D-8AB2-AFF8BE98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営業・受注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63E3F7-1519-455E-A36F-CDC0DB2C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F79247-1D43-448F-B3ED-406639A5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ヒアリング質問の設計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898586-CF74-401E-AF61-7A9588C7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592A7"/>
                </a:solidFill>
                <a:latin typeface="Aptos"/>
                <a:ea typeface="Aptos"/>
                <a:cs typeface="Aptos"/>
              </a:rPr>
              <a:t>初回相談で聞くべきことを、目的別の質問に分解します.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7DFB28-889C-42DD-9F9B-743960C7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430AD8-75A7-4C0B-B604-325E874C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232121-7C74-4501-8BD2-3D140585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C49089-B7B1-45B3-BC27-2CF1794F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あなたはBtoB営業のヒアリング設計者です。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商材: [[商材]]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対象顧客: [[顧客像]]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目的: [[今回の面談で判断したいこと]]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初回面談で使う質問を10個作ってください。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各質問に「何を知る質問か」「回答を聞いた後の次の一手」を付ける。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相手が答えやすい順に並べ、売り込みに聞こえる表現は避ける。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2C9655-E40C-4544-AFDC-B03760DF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8FA97F-63DB-4AAC-832E-77E81D5A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6BCA0D-A63F-4412-B406-17838AA9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4D6C6"/>
                </a:solidFill>
                <a:latin typeface="Aptos"/>
                <a:ea typeface="Aptos"/>
                <a:cs typeface="Aptos"/>
              </a:rPr>
              <a:t>#営業  #ヒアリング  #商談</a:t>
            </a:r>
          </a:p>
        </p:txBody>
      </p:sp>
    </p:spTree>
    <p:extLst>
      <p:ext uri="{BB962C8B-B14F-4D97-AF65-F5344CB8AC3E}">
        <p14:creationId xmlns:p14="http://schemas.microsoft.com/office/powerpoint/2010/main" val="15224891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5AEBDE-37B6-4BA4-AA46-180456D0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626A60-4026-494F-9B0C-EE4E2D08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437F3D-7051-49CB-AB16-E0914F8E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営業・受注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863D82-0C6F-431C-B61A-B2D3E673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No.003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22B4C8-0EA9-4B75-9F76-25A43F01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商談メモの要約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63001D-BD8C-4EA0-9D22-A3542F6D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長いメモから、決定事項と未解決事項を分けます.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FC6C24-4149-4433-BEF5-F8ABF23E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06144C-C4A0-4A81-89E4-721D03A8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674716-16F5-4DD8-BDC7-FA193EC6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7FC793-51B5-4833-97B9-9BBB6232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以下の商談メモを、営業チームが次に動ける形へ整理してください。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入力: [[商談メモ]]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出力形式: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1. 顧客の目的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2. 確認できた事実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3. 顧客が気にしている点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4. 決定事項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5. 未決事項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6. 次の行動、担当、期限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推測は「要確認」と明記し、発言にない約束を追加しない。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7CAC11-4671-4E2C-8BB0-446F0379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96EBCB-6980-4820-A925-7AF05EF7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94009C-6945-440A-BB34-A7968547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58A6D"/>
                </a:solidFill>
                <a:latin typeface="Aptos"/>
                <a:ea typeface="Aptos"/>
                <a:cs typeface="Aptos"/>
              </a:rPr>
              <a:t>#営業  #要約  #CRM</a:t>
            </a:r>
          </a:p>
        </p:txBody>
      </p:sp>
    </p:spTree>
    <p:extLst>
      <p:ext uri="{BB962C8B-B14F-4D97-AF65-F5344CB8AC3E}">
        <p14:creationId xmlns:p14="http://schemas.microsoft.com/office/powerpoint/2010/main" val="17272451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7FBDA0-FEC1-4714-A180-EA6DF507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379863-69B2-4F1A-AF6D-2E84D5EB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008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854B0E-1678-41DF-A6BA-437ABA31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営業・受注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65C6AF-8E17-4D58-A15B-97CEA107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D15776-2A1B-4561-B420-DF0D999A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提案の論点整理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26C41C-D9BE-454B-9A0F-1142E06B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592A7"/>
                </a:solidFill>
                <a:latin typeface="Aptos"/>
                <a:ea typeface="Aptos"/>
                <a:cs typeface="Aptos"/>
              </a:rPr>
              <a:t>提案書を書く前に、課題と提案の対応を一枚にします.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4441A1-8845-460C-BD07-0E27CDE3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D6E5B3-A3BE-4808-A10D-2E5DAEB9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A6EDDB-465E-46E1-A9DE-73821654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C0D89C-95E6-482A-9C9E-DA4890DC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あなたは提案営業の編集者です。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顧客の発言: [[顧客の発言]]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自社の提供内容: [[提供内容]]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次の表を作ってください。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列: 顧客の課題 / 根拠となる発言 / 提案する対応 / 期待する変化 / 未確認の前提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顧客の課題を勝手に広げず、根拠がない行は「追加ヒアリング」としてください。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F99D44-0CD4-4C5E-AA75-8534F48B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F8B1C5-0F9D-4A71-802E-6989640D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B8E2EB-C980-46F4-9FA6-D2F936CB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4D6C6"/>
                </a:solidFill>
                <a:latin typeface="Aptos"/>
                <a:ea typeface="Aptos"/>
                <a:cs typeface="Aptos"/>
              </a:rPr>
              <a:t>#営業  #提案  #整理</a:t>
            </a:r>
          </a:p>
        </p:txBody>
      </p:sp>
    </p:spTree>
    <p:extLst>
      <p:ext uri="{BB962C8B-B14F-4D97-AF65-F5344CB8AC3E}">
        <p14:creationId xmlns:p14="http://schemas.microsoft.com/office/powerpoint/2010/main" val="5391603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D389E8-E986-4919-A7CF-EF1B34D8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D09D0F-F10E-41C5-B0D3-6222137C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315840-E027-4F7F-AC21-6E3D664B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営業・受注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06B272-B6F8-4944-BFC2-132CD338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No.005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3D62D-E987-4C47-BB42-40ED15F4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見積もりの前提条件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BF20A8-1EC3-42DF-BCD0-5D6F6F89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見積書に入れる前提条件と除外条件の抜け漏れを確認します.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FD0B32-26BA-4B15-87A0-A678A377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9BD004-D6EA-404C-905D-2A56D306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4ABB0B-BBBD-42CE-BCF4-51B6EDC5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8FE468-2784-474D-9464-A9ED050A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あなたは見積もりレビュー担当です。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案件概要: [[案件概要]]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作業内容: [[作業内容]]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見積もり金額: [[金額]]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この見積もりに必要な前提条件、含むもの、含まないもの、追加費用が発生する条件を整理してください。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顧客に誤解されやすい表現を指摘し、確認質問を5つ作る。金額の妥当性は推測しない。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169159-197B-4666-B975-918C5AB5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8C01E7-5C40-4A31-A22F-71513E03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90B59B-0025-41AF-A023-995C9A68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58A6D"/>
                </a:solidFill>
                <a:latin typeface="Aptos"/>
                <a:ea typeface="Aptos"/>
                <a:cs typeface="Aptos"/>
              </a:rPr>
              <a:t>#営業  #見積  #契約</a:t>
            </a:r>
          </a:p>
        </p:txBody>
      </p:sp>
    </p:spTree>
    <p:extLst>
      <p:ext uri="{BB962C8B-B14F-4D97-AF65-F5344CB8AC3E}">
        <p14:creationId xmlns:p14="http://schemas.microsoft.com/office/powerpoint/2010/main" val="7181979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FF0932-1FDB-4F64-85F0-473940EF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806BC5-1B53-439C-8A51-B20CC53F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010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FB1523-73BA-4531-B9E2-ED00DE9E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営業・受注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73C659-402C-416C-9613-9A0857A3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CC419-4B9F-4B28-A357-0BCBAA46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失注理由の分類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5EA5E5-7547-4F57-82EA-34ED98DF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592A7"/>
                </a:solidFill>
                <a:latin typeface="Aptos"/>
                <a:ea typeface="Aptos"/>
                <a:cs typeface="Aptos"/>
              </a:rPr>
              <a:t>失注報告を責任追及ではなく改善材料に変えます.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991F5F-38DA-4E48-8A82-6211629F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0689A3-EEBC-4659-AC69-72651CF4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7CF0B6-B4F1-4D18-86B7-37989BB4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B3F56C-0A0B-466C-9621-B51E65A1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失注メモを、次の分類で整理してください。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入力: [[失注メモ]]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分類: 予算 / 時期 / 競合 / 要件不一致 / 信頼 / 決裁 / 連絡停止 / その他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出力: 主因 / 副因 / 根拠となる記述 / 次回に変えられる行動 / 変えられない外部要因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断定できない場合は候補を2つまで出し、追加で聞く質問を添える。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68ECBA-A05B-4BEF-9863-28C44910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20BE97-64F5-4F31-A90E-91657F99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D93B9E-6889-4371-9B6A-BC20B983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4D6C6"/>
                </a:solidFill>
                <a:latin typeface="Aptos"/>
                <a:ea typeface="Aptos"/>
                <a:cs typeface="Aptos"/>
              </a:rPr>
              <a:t>#営業  #失注  #改善</a:t>
            </a:r>
          </a:p>
        </p:txBody>
      </p:sp>
    </p:spTree>
    <p:extLst>
      <p:ext uri="{BB962C8B-B14F-4D97-AF65-F5344CB8AC3E}">
        <p14:creationId xmlns:p14="http://schemas.microsoft.com/office/powerpoint/2010/main" val="16730761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76B559-6000-4B38-BC72-E6D00A2A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B79029-47F0-4EC4-846B-BB223F4A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FB82CF-4D4A-423F-8DB6-2921D048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営業・受注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893E2-1976-47B4-801C-63445FAF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No.007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E6F86B-F8C6-483F-A34A-24734D8B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営業案件の優先順位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FF0238-8C78-4B4F-A4DC-A4EA9184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案件の緊急度だけでなく、影響と確度を見て並べ替えます.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222205-0A15-40B3-85FF-A2D6B7C2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7B05B4-E4DB-44E8-98A9-3C3F7588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25E2DF-5240-4546-89DA-9BA23AEE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134CAE-AD2D-430F-826A-EBA0DC2E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営業案件一覧を優先順位づけしてください。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入力: [[案件一覧]]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各案件を、影響の大きさ / 期限の近さ / 成約確度 / 次の一手の明確さで低・中・高に分類する。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出力: 優先順位 / 判断理由 / 今日やること / 保留条件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顧客への約束や社内の決裁条件が不明な案件は、確認事項として残す。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E00D46-4828-4472-BE81-C725B5C6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E24518-BE77-49EE-AB13-E7984BE4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521066-00A1-4F74-B1BE-152F016F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58A6D"/>
                </a:solidFill>
                <a:latin typeface="Aptos"/>
                <a:ea typeface="Aptos"/>
                <a:cs typeface="Aptos"/>
              </a:rPr>
              <a:t>#営業  #優先順位  #案件管理</a:t>
            </a:r>
          </a:p>
        </p:txBody>
      </p:sp>
    </p:spTree>
    <p:extLst>
      <p:ext uri="{BB962C8B-B14F-4D97-AF65-F5344CB8AC3E}">
        <p14:creationId xmlns:p14="http://schemas.microsoft.com/office/powerpoint/2010/main" val="7509086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2A1F15-7E61-46FE-B02A-5306E2D6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17C35F-4550-4838-989D-36A2C15E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012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C685F7-89C0-47CF-A040-4DF525EC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営業・受注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73298-9E73-46F0-BD9B-C97CFC8A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7E8404-5547-49CC-95F2-D5BF2661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反論への回答案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D7F5EB-A60B-4C3C-B1C5-32963F4A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592A7"/>
                </a:solidFill>
                <a:latin typeface="Aptos"/>
                <a:ea typeface="Aptos"/>
                <a:cs typeface="Aptos"/>
              </a:rPr>
              <a:t>価格や導入負担への反論を、押し切らず確認質問から作ります.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3944A2-4068-4E55-B099-D200C86B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5186FC-38A2-47A6-876E-E320E7C4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2E5EC1-61DB-4ED6-A2C9-AE462915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C9532B-109D-4A80-A3A9-5BB47FB1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あなたは提案営業のコーチです。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商材: [[商材]]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顧客の反論: [[反論]]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顧客が重視する条件: [[条件]]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回答案を3通り作ってください。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各案は「受け止める一文 / 確認質問 / 事実に基づく説明 / 次の小さな合意」で構成する。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断定や値引きの約束は避け、確認できない数字は使わない。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52309F-FCB2-4273-AB1C-061E15CA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8BD3D8-0054-42A7-9163-7C2F8133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4B3517-0423-4D45-95FF-B6F0C0CE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4D6C6"/>
                </a:solidFill>
                <a:latin typeface="Aptos"/>
                <a:ea typeface="Aptos"/>
                <a:cs typeface="Aptos"/>
              </a:rPr>
              <a:t>#営業  #反論処理  #提案</a:t>
            </a:r>
          </a:p>
        </p:txBody>
      </p:sp>
    </p:spTree>
    <p:extLst>
      <p:ext uri="{BB962C8B-B14F-4D97-AF65-F5344CB8AC3E}">
        <p14:creationId xmlns:p14="http://schemas.microsoft.com/office/powerpoint/2010/main" val="27992108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ECA381-7C5F-40EA-93C7-F3DB681A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E39A31-8748-4D4B-BA0A-4F09CA25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656B93-43C7-436B-B981-A9B1AD6E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営業・受注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82AFB-44EC-407D-BFC3-415565F5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No.009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782C7B-ABCC-4C84-A688-577A59FD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営業資料の1枚要約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16B520-C276-44F4-B76C-F0D22109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長い営業資料を、意思決定者向けに一枚で要約します.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506ECA-9887-4DCD-8128-059E870B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380191-D67A-4D46-A510-FF03EC6C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392E0C-4F43-4A88-B412-12C1D052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7C91C4-0A10-4ECE-A5DF-1C375867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以下の資料を意思決定者向けに1枚で要約してください。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資料: [[資料本文]]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出力: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- 一言でいうと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- 解決する業務上の問題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- 対象となる会社・部署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- 導入前に必要なこと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- 期待できる変化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- 検証すべき数字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- 次の相談事項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資料にない実績や数値は追加しない。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D2D08F-5330-4298-8B70-CCC980F3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CACDFA-D552-4A46-A65C-2587BA70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EFC789-EB1F-4A56-A8F1-38C430E1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58A6D"/>
                </a:solidFill>
                <a:latin typeface="Aptos"/>
                <a:ea typeface="Aptos"/>
                <a:cs typeface="Aptos"/>
              </a:rPr>
              <a:t>#営業  #要約  #資料</a:t>
            </a:r>
          </a:p>
        </p:txBody>
      </p:sp>
    </p:spTree>
    <p:extLst>
      <p:ext uri="{BB962C8B-B14F-4D97-AF65-F5344CB8AC3E}">
        <p14:creationId xmlns:p14="http://schemas.microsoft.com/office/powerpoint/2010/main" val="12424900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EBA2C6-ABA1-477D-B4CC-B529382F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F63F89-105D-4727-8EBE-39E39581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014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ABB229-707C-4D04-95D1-E959DFD5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営業・受注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E67BE9-0FCC-49CB-9EE1-CC1B3A11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637CD6-E1FC-4636-ACBB-3BA72146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営業ロールプレイ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8C56FD-C738-46A1-93C8-C216964D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592A7"/>
                </a:solidFill>
                <a:latin typeface="Aptos"/>
                <a:ea typeface="Aptos"/>
                <a:cs typeface="Aptos"/>
              </a:rPr>
              <a:t>相手役の条件を決めて、実践前の会話練習をします.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599F55-251F-4CDA-8DF5-13B23C2F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2D044D-2E2F-49CE-AB7A-B11EC809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59D42F-E54C-478A-9607-C25BD000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D37C36-352D-41EA-B5FB-D31854D9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あなたは[[業種]]の会社の購買責任者です。私は営業担当者です。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商材: [[商材]]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あなたの関心: [[関心]]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懸念: [[懸念]]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予算・時期: [[予算と時期]]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一度に1問ずつ質問し、私の回答に応じて現実的に反応してください。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最後に、良かった点3つ、改善点3つ、次回の確認事項を返してください。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31A378-C410-438C-BFAE-F4031632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53F20D-E422-4718-91F9-3A48E6BD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2DE6F2-0126-4BC9-B3DD-3ED2C826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4D6C6"/>
                </a:solidFill>
                <a:latin typeface="Aptos"/>
                <a:ea typeface="Aptos"/>
                <a:cs typeface="Aptos"/>
              </a:rPr>
              <a:t>#営業  #練習  #ロールプレイ</a:t>
            </a:r>
          </a:p>
        </p:txBody>
      </p:sp>
    </p:spTree>
    <p:extLst>
      <p:ext uri="{BB962C8B-B14F-4D97-AF65-F5344CB8AC3E}">
        <p14:creationId xmlns:p14="http://schemas.microsoft.com/office/powerpoint/2010/main" val="169229119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1FD844-7E52-40F5-B28B-FBD8F160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1A9A8F-D380-447C-B939-4F54F36A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B5B354-0461-4625-9DD0-9CB8688D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マーケティング・集客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13F9B4-20F7-4F55-B45E-8C372722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No.011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360C06-1651-4581-BF15-193B026E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顧客像の仮説整理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639B07-E4FF-4BE0-A301-71BB2FC7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広告やLPを作る前に、誰のどんな困りごとかを揃えます.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C6D51A-1BE9-4B72-A35E-B7051CC7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62760D-79BB-45D4-BD42-06AE9E05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8E2383-CDC3-4EA1-8D80-8142483D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E26F0C-BB6D-4FEC-A7B7-02BC746E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あなたはBtoBマーケターです。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商品: [[商品]]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現在わかっている顧客情報: [[顧客情報]]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顧客像の仮説を3パターン作ってください。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各パターンに、状況 / 直近の困りごと / 放置したときの損失 / 探している言葉 / 購入の障壁 / 検証方法を付ける。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事実と仮説を明確に分ける。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5BCEC6-19F8-4010-BED2-2DAE0F5D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BB69A1-ADAF-43B1-A4D6-D6153BE9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B75D43-CDDB-4CBB-A9A4-A0BA22CD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58A6D"/>
                </a:solidFill>
                <a:latin typeface="Aptos"/>
                <a:ea typeface="Aptos"/>
                <a:cs typeface="Aptos"/>
              </a:rPr>
              <a:t>#マーケティング  #顧客理解  #仮説</a:t>
            </a:r>
          </a:p>
        </p:txBody>
      </p:sp>
    </p:spTree>
    <p:extLst>
      <p:ext uri="{BB962C8B-B14F-4D97-AF65-F5344CB8AC3E}">
        <p14:creationId xmlns:p14="http://schemas.microsoft.com/office/powerpoint/2010/main" val="29882124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BA85F3-059A-4ADE-8119-35EFD6D3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DEF8B7-59FC-479B-AD5D-B958CE1A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016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2164CE-DB5F-4E2E-8EF8-0C9BE865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マーケティング・集客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9F0F80-AD0F-4819-AD29-6CCB25AC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26CA57-2F4A-4028-8121-6F8A7294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広告フックの案出し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34D7BC-8B80-42A0-BCE3-71EAFE52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592A7"/>
                </a:solidFill>
                <a:latin typeface="Aptos"/>
                <a:ea typeface="Aptos"/>
                <a:cs typeface="Aptos"/>
              </a:rPr>
              <a:t>誇張せず、現場の痛みに接続した広告冒頭を作ります.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2D6F2F-E6AB-4A99-B3DC-5BC0F597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DE6CE9-5665-4499-B470-F03575B6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32BEE5-15F3-4B99-B462-9514592D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2B0D54-4DD7-4965-BD45-50704381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広告の冒頭文を10案作ってください。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商品: [[商品]]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対象: [[対象]]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顧客が今困っていること: [[困りごと]]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条件: 30字以内。誇張、恐怖の煽り、根拠のないNo.1表現は禁止。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各案に「どの痛みを拾ったか」と「クリック後に見せる内容」を添える。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419F03-30D7-4217-9DDE-EA8FEE94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59764C-0388-48CE-B4F0-299E86DA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FB5B8B-A1FD-4F4B-8427-9AA63FF3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4D6C6"/>
                </a:solidFill>
                <a:latin typeface="Aptos"/>
                <a:ea typeface="Aptos"/>
                <a:cs typeface="Aptos"/>
              </a:rPr>
              <a:t>#広告  #コピー  #集客</a:t>
            </a:r>
          </a:p>
        </p:txBody>
      </p:sp>
    </p:spTree>
    <p:extLst>
      <p:ext uri="{BB962C8B-B14F-4D97-AF65-F5344CB8AC3E}">
        <p14:creationId xmlns:p14="http://schemas.microsoft.com/office/powerpoint/2010/main" val="27761285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717F25-5535-4457-B34A-803F14B6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0BD447-B8FD-4FE2-BD71-EBF818D5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6AF9A-55F2-49C2-AA8A-78C54F01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マーケティング・集客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BED6C2-7230-4136-8261-569DBA38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No.013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CFE4BC-A005-48F3-8471-72B479CF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LPの構成案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18E3A-229A-41A4-9D9D-3C4334E6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広告の約束とページの中身がずれないLP骨子を作ります.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3CA6E1-97F4-463B-973E-E41DC297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2130B7-A24D-4762-99F8-530322D5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46F237-EDA5-4591-BDE2-7245418B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A7F896-E661-4E3E-B371-D84F74DC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次の情報から、BtoB向けLPの構成案を作ってください。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商品: [[商品]]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流入元: [[広告・LINEなど]]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対象: [[対象]]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約束できること: [[約束]]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証拠: [[実績・デモ・資料]]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構成: ファーストビュー / 問題 / 使い方 / 具体例 / 注意点 / FAQ / CTA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各ブロックの目的と、書いてはいけない主張も添える。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E1F6B1-4AF8-4682-AA50-581B7AFD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7604F6-0338-47DE-8BE3-8079A47C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5EB83C-7F2F-4DF4-85DF-E2EC8A50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58A6D"/>
                </a:solidFill>
                <a:latin typeface="Aptos"/>
                <a:ea typeface="Aptos"/>
                <a:cs typeface="Aptos"/>
              </a:rPr>
              <a:t>#LP  #広告  #構成</a:t>
            </a:r>
          </a:p>
        </p:txBody>
      </p:sp>
    </p:spTree>
    <p:extLst>
      <p:ext uri="{BB962C8B-B14F-4D97-AF65-F5344CB8AC3E}">
        <p14:creationId xmlns:p14="http://schemas.microsoft.com/office/powerpoint/2010/main" val="137213546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A8F32A-E4DD-42D0-B135-38753533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463F76-DE4C-4CAB-99FD-7E934F7D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018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98EBA4-EBA9-4D5D-BEE1-E2333D78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マーケティング・集客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94C45C-4888-4FDA-84FF-7F10EDB7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78B6DB-B391-461E-A15E-FB3D9513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SNS投稿の再構成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F03747-61AF-4A95-BA96-36D1681F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592A7"/>
                </a:solidFill>
                <a:latin typeface="Aptos"/>
                <a:ea typeface="Aptos"/>
                <a:cs typeface="Aptos"/>
              </a:rPr>
              <a:t>一つの知見を媒体ごとに使い分けます.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94200D-8722-4839-A511-6ABC8292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5BD7A7-F560-420B-9A6D-89025998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4A9B88-8009-4F62-81FB-39B985D8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58248F-6CB1-44D1-BE69-D1273E54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以下の原稿を、LinkedIn向け、X向け、Instagramキャプション向けに再構成してください。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原稿: [[原稿]]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各媒体で、冒頭1文 / 本文 / CTAを分ける。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事実、意見、読者への問いをラベル付けし、元原稿にない実績は追加しない。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F9017B-1118-42A1-849E-96135D19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9DC470-17EF-4941-8857-A3D03869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A9BB93-A96B-47F2-A842-44AB8359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4D6C6"/>
                </a:solidFill>
                <a:latin typeface="Aptos"/>
                <a:ea typeface="Aptos"/>
                <a:cs typeface="Aptos"/>
              </a:rPr>
              <a:t>#SNS  #再利用  #文章</a:t>
            </a:r>
          </a:p>
        </p:txBody>
      </p:sp>
    </p:spTree>
    <p:extLst>
      <p:ext uri="{BB962C8B-B14F-4D97-AF65-F5344CB8AC3E}">
        <p14:creationId xmlns:p14="http://schemas.microsoft.com/office/powerpoint/2010/main" val="161220742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9A182B-6668-4DC9-87A8-C90BD5DF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AF41D-2C28-4C78-8CC0-A582E9D8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68DF7E-FC5D-4360-9ED3-62AA0D89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マーケティング・集客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D83E85-719A-4DBA-825C-CA2F0F56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No.015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16D878-03FB-43D8-928A-E3D982AC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顧客インタビューの質問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5A6A04-F7DF-4A54-ABE2-32588756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広告の想像ではなく、顧客の言葉を集める質問を作ります.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EB9322-6C4E-4896-845A-A8E014B8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6035BF-47C3-4881-B481-3E9030EB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0ADA2A-E56D-4524-9466-77CA7360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06FB17-B823-472A-8C74-E29B27DA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商品: [[商品]]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知りたいこと: [[知りたいこと]]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顧客インタビューの質問を12個作ってください。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導入前の状況、探し始めたきっかけ、比較した選択肢、決め手、使ってからの変化、言いにくい不満の順に並べる。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誘導質問と、答えを予想する質問は避ける。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79B3E3-E6EA-4CA7-B03D-0FF27FC5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8B38C3-4861-4622-A3B4-F9EE3B3B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8DB606-2F2E-475A-9E36-FAA41325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58A6D"/>
                </a:solidFill>
                <a:latin typeface="Aptos"/>
                <a:ea typeface="Aptos"/>
                <a:cs typeface="Aptos"/>
              </a:rPr>
              <a:t>#マーケティング  #インタビュー  #顧客理解</a:t>
            </a:r>
          </a:p>
        </p:txBody>
      </p:sp>
    </p:spTree>
    <p:extLst>
      <p:ext uri="{BB962C8B-B14F-4D97-AF65-F5344CB8AC3E}">
        <p14:creationId xmlns:p14="http://schemas.microsoft.com/office/powerpoint/2010/main" val="91455873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7600B3-D16E-4092-B697-8B258674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246EA-9002-43BC-81E3-5F933D03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020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1087FD-D693-4953-B4BA-18213303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マーケティング・集客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3254DD-F3E1-4FA3-85CC-39F715D9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63E799-79BC-4E73-8785-6FA5F296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コンテンツ企画の優先順位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44598C-1483-4F64-8D3C-A0072E51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592A7"/>
                </a:solidFill>
                <a:latin typeface="Aptos"/>
                <a:ea typeface="Aptos"/>
                <a:cs typeface="Aptos"/>
              </a:rPr>
              <a:t>検索意図と営業への近さを両方見て企画を並べます.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8F5F82-6433-46D9-ADB9-781504C3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827DF6-17CD-4EF6-84DC-691A6C13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AE9A05-217D-471D-B559-626FA283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E4B591-7B0D-4840-8CD7-1A5A5756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コンテンツ企画を優先順位づけしてください。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企画一覧: [[企画一覧]]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評価軸: 顧客の緊急度 / 検索・閲覧される可能性 / 自社の経験との近さ / 相談へのつながり / 制作コスト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低・中・高で評価し、上位5本に「最初に検証する仮説」と「CTA」を付ける。数字は推定と明記する。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D8EC9C-BB19-494E-9B94-65E5E94A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303E16-2655-4E10-8F3C-2DF1E0BA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55C144-4D0D-475D-A2BA-6354D9DC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4D6C6"/>
                </a:solidFill>
                <a:latin typeface="Aptos"/>
                <a:ea typeface="Aptos"/>
                <a:cs typeface="Aptos"/>
              </a:rPr>
              <a:t>#マーケティング  #企画  #SEO</a:t>
            </a:r>
          </a:p>
        </p:txBody>
      </p:sp>
    </p:spTree>
    <p:extLst>
      <p:ext uri="{BB962C8B-B14F-4D97-AF65-F5344CB8AC3E}">
        <p14:creationId xmlns:p14="http://schemas.microsoft.com/office/powerpoint/2010/main" val="41904066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B01CC9-00BC-487E-81C1-218E7482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08B95A-1EAB-4B8A-97EB-D951568E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D867F-435C-49D3-825A-B3C47A1E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マーケティング・集客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BD9465-22E1-4B74-BFC5-6ED05982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No.017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E2BDBE-A14E-419B-8073-965FF9CE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リードマグネットの企画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E22CA0-DA8C-47B4-9775-E1026491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広告クリック後に渡せる実用的な無料資料を設計します.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ABA3AB-53FC-4F76-82BB-C4C2B329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F6797F-D0E1-480B-BC7B-34C45B59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E98901-CB5B-4DBC-8485-5578D34A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C6C2CC-E54E-46D2-B865-63DEFE0B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対象顧客: [[対象顧客]]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広告で訴求する悩み: [[悩み]]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自社の強み: [[強み]]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リードマグネットを5案作ってください。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各案に、受け取った直後にできること / 中身 / 使う場面 / 相談につながる自然な次の一手 / 作成工数を付ける。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登録を求める場合の価値交換も説明する。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5D6F8A-303A-4D70-9C87-6B126F0A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8FEF6E-A1E1-4A2A-91E1-E07C054F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1B20A0-FEB9-4E23-8D3A-10F074BA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58A6D"/>
                </a:solidFill>
                <a:latin typeface="Aptos"/>
                <a:ea typeface="Aptos"/>
                <a:cs typeface="Aptos"/>
              </a:rPr>
              <a:t>#マーケティング  #広告  #資料</a:t>
            </a:r>
          </a:p>
        </p:txBody>
      </p:sp>
    </p:spTree>
    <p:extLst>
      <p:ext uri="{BB962C8B-B14F-4D97-AF65-F5344CB8AC3E}">
        <p14:creationId xmlns:p14="http://schemas.microsoft.com/office/powerpoint/2010/main" val="103037341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87AA98-8BF7-4BFC-B580-51A43352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9EDBB9-7BE0-4124-A430-D60BF5FE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022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8455A8-A364-4C77-BF61-CEC78AE3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マーケティング・集客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0076E3-2383-4FEF-8883-D54B2A6A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931576-1467-41E0-B4D4-372D5BDB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広告クリエイティブの比較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C33DC0-BAE5-4066-BF63-6D7FE33D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592A7"/>
                </a:solidFill>
                <a:latin typeface="Aptos"/>
                <a:ea typeface="Aptos"/>
                <a:cs typeface="Aptos"/>
              </a:rPr>
              <a:t>複数の広告案を、約束の明確さと実行可能性で比較します.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69D35F-80FE-4EAB-B93B-DF4D820F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F562CC-439C-488A-A2A7-895B6EB5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7AB3A3-3089-46D0-82D8-C4CD3C18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3D275E-8509-4F0C-85AC-7788D595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広告案を比較レビューしてください。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対象顧客: [[対象]]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広告案: [[案A・案B・案C]]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評価軸: 3秒で誰向けかわかるか / 約束が具体的か / クリック後の内容と一致するか / 誇張がないか / 次の行動が明確か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各5点満点で評価し、改善コピーを1案ずつ作る。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76125C-FEAF-4317-AE8B-933DD082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8D9378-ECE6-4FE2-9BAE-4BCE9155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01E90B-63EB-459E-9D87-6C1EA838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4D6C6"/>
                </a:solidFill>
                <a:latin typeface="Aptos"/>
                <a:ea typeface="Aptos"/>
                <a:cs typeface="Aptos"/>
              </a:rPr>
              <a:t>#広告  #レビュー  #比較</a:t>
            </a:r>
          </a:p>
        </p:txBody>
      </p:sp>
    </p:spTree>
    <p:extLst>
      <p:ext uri="{BB962C8B-B14F-4D97-AF65-F5344CB8AC3E}">
        <p14:creationId xmlns:p14="http://schemas.microsoft.com/office/powerpoint/2010/main" val="60483200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FF06F5-2912-4342-99E5-30042A1B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DC7C73-DDA3-48EC-8737-DE409926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A070C3-63DD-4146-B022-655C97AD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マーケティング・集客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763878-B984-4891-95FF-84A69A98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No.019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24BFAA-DA9E-495A-B193-4BBF5ED8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ウェビナーの告知文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1C08F1-DA35-476D-ADC7-0BD8FA73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参加後に何ができるようになるかを中心に告知します.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42413B-4CB5-4ECE-996F-423C2425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05E780-62BE-4998-99FC-051996FA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611B8B-13FA-4A1F-90A6-5C980858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C98325-E06F-4DE6-9F0A-3E3B8BDD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ウェビナー告知文を作ってください。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テーマ: [[テーマ]]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対象: [[対象]]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参加後にできること: [[成果]]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日時・形式: [[日時・形式]]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構成: タイトル3案 / 120字告知 / 詳細説明 / 向いていない人 / 申込CTA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成果を保証せず、参加者が得られる具体的な持ち帰りを明示する。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6A995A-3589-4F70-A885-F6A8B059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DA6309-6F7F-40CF-9397-704A3E51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58D000-713E-408D-96D3-1DBFDF6A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58A6D"/>
                </a:solidFill>
                <a:latin typeface="Aptos"/>
                <a:ea typeface="Aptos"/>
                <a:cs typeface="Aptos"/>
              </a:rPr>
              <a:t>#イベント  #告知  #集客</a:t>
            </a:r>
          </a:p>
        </p:txBody>
      </p:sp>
    </p:spTree>
    <p:extLst>
      <p:ext uri="{BB962C8B-B14F-4D97-AF65-F5344CB8AC3E}">
        <p14:creationId xmlns:p14="http://schemas.microsoft.com/office/powerpoint/2010/main" val="123447747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3F125D-1A8E-4578-A902-5E33AD75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0F3ADE-1C1C-4A21-AA20-DE8D440B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024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F20823-3974-470E-9971-8DF3A533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マーケティング・集客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F8F33B-AC95-451F-9F04-59A954B9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CC448F-9EFB-46BE-99AA-ABC073BA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マーケティング週報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8A6DF2-D533-41C9-B299-948E6D96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592A7"/>
                </a:solidFill>
                <a:latin typeface="Aptos"/>
                <a:ea typeface="Aptos"/>
                <a:cs typeface="Aptos"/>
              </a:rPr>
              <a:t>数字だけでなく、次に試すことまで残る週報にします.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D8A60-D5B2-4D88-8E38-8A84A952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70049F-7BED-4442-8ED4-4466DEAC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EC35CE-C435-4A86-8CDD-D604CB06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7B580E-66B9-4AC4-BAB1-B10C0C9D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今週のマーケティングデータを週報にしてください。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入力: [[流入・クリック・問い合わせ・商談データ]]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出力: 事実 / 先週との差 / 変化の仮説 / 根拠がない点 / 来週の実験3つ / 見る指標 / 中止条件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因果関係を断定せず、観測したことと解釈を分ける。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D70309-3036-41F4-95C9-A71DA6B5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9F81B1-EF1A-4E49-9D3E-D61D4DD9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6E49AD-B24B-48C1-9915-E850A04F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4D6C6"/>
                </a:solidFill>
                <a:latin typeface="Aptos"/>
                <a:ea typeface="Aptos"/>
                <a:cs typeface="Aptos"/>
              </a:rPr>
              <a:t>#マーケティング  #週報  #分析</a:t>
            </a:r>
          </a:p>
        </p:txBody>
      </p:sp>
    </p:spTree>
    <p:extLst>
      <p:ext uri="{BB962C8B-B14F-4D97-AF65-F5344CB8AC3E}">
        <p14:creationId xmlns:p14="http://schemas.microsoft.com/office/powerpoint/2010/main" val="173924737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8DBD44-9731-486A-9BCF-E8F967D4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BE542-CD27-47B6-B113-D7A5A963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879B68-D766-4346-BE59-1E52DD8F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顧客対応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D361E7-B3A6-410A-8690-A8EAFC91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No.021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AF8091-C2B2-457D-91C2-3023AA29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問い合わせの一次返信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D069E0-988F-4E77-900A-2FE76EDF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受領確認と次の案内を、約束しすぎずに作ります.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AAB2C-C9F1-4047-967B-12CC58A3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367004-D0C9-4A7C-A516-1E69D739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B2A0EA-0733-4015-BEEB-37383345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00652E-7109-464F-AE6E-3C9FBF1A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問い合わせへの一次返信を作ってください。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問い合わせ: [[問い合わせ本文]]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自社で案内できる範囲: [[案内できること]]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確認が必要なこと: [[確認事項]]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条件: 150字以内。受領したこと、確認に必要な追加情報、次の連絡タイミングを明確にする。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解決を約束せず、担当者が確認すべき点を最後に列挙する。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60DA67-EE1F-4CA7-BA9C-B25A9CC6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0BAE88-4A6F-4C1E-BC86-03FDB90A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3254DA-81F5-46CB-A855-AF826D62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58A6D"/>
                </a:solidFill>
                <a:latin typeface="Aptos"/>
                <a:ea typeface="Aptos"/>
                <a:cs typeface="Aptos"/>
              </a:rPr>
              <a:t>#顧客対応  #メール  #一次返信</a:t>
            </a:r>
          </a:p>
        </p:txBody>
      </p:sp>
    </p:spTree>
    <p:extLst>
      <p:ext uri="{BB962C8B-B14F-4D97-AF65-F5344CB8AC3E}">
        <p14:creationId xmlns:p14="http://schemas.microsoft.com/office/powerpoint/2010/main" val="119264712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5422C2-66A5-4243-8AE2-AAAF3092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DDFB45-FC55-437E-B322-7595547E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0E8CF3-31DF-49ED-9B04-FCB926BF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顧客対応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CC1EEA-B925-45D7-9508-D32259E8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CE4C50-1742-4692-9BCD-BBC0D319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FAQ候補の抽出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E855A9-D67B-4033-9D5D-C7A47148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592A7"/>
                </a:solidFill>
                <a:latin typeface="Aptos"/>
                <a:ea typeface="Aptos"/>
                <a:cs typeface="Aptos"/>
              </a:rPr>
              <a:t>問い合わせログから、繰り返し発生する質問を見つけます.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79106E-4BFB-4E0D-B0D7-C779878F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4EF274-DCC0-4568-A53C-FE7BB99F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ABD53C-8B80-464B-8172-C0773321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FEC1F0-32F6-4DC2-9947-A1DEA7F4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問い合わせログからFAQ候補を抽出してください。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入力: [[問い合わせログ]]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出力: 質問の原文に近いタイトル / 回答の要点 / 根拠資料 / 問い合わせ件数の数え方 / 更新担当 / 回答できない条件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似た質問をまとめるときは、まとめた理由と代表質問を示す。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177213-E2F0-4554-823C-8B50CBFA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A22976-3786-4401-81EC-DF4C75D8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A19E5A-2929-492F-8E60-D842228A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4D6C6"/>
                </a:solidFill>
                <a:latin typeface="Aptos"/>
                <a:ea typeface="Aptos"/>
                <a:cs typeface="Aptos"/>
              </a:rPr>
              <a:t>#顧客対応  #FAQ  #ナレッジ</a:t>
            </a:r>
          </a:p>
        </p:txBody>
      </p:sp>
    </p:spTree>
    <p:extLst>
      <p:ext uri="{BB962C8B-B14F-4D97-AF65-F5344CB8AC3E}">
        <p14:creationId xmlns:p14="http://schemas.microsoft.com/office/powerpoint/2010/main" val="127171554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9C769E-5285-4D18-8F38-DC80DF01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5BF859-BD98-4FC5-A08C-2575A0EB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60D26F-F586-4547-B511-1759622B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顧客対応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196D3A-CBF4-4A0C-8028-79629524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No.023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E1693C-C6F0-47C1-82B7-F45CF50F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クレームの事実整理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22C54A-7842-4284-94B8-52CDA17B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感情的な内容から、事実と対応判断を分けます.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05604F-02FF-450E-87A0-88BFADAD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231A2E-8420-4D32-B1D3-EF29B7B0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5B876E-776E-40A0-BA5E-40ACA6C0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86BC1A-F409-40CE-B106-D44E94DD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顧客からのクレームを整理してください。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入力: [[クレーム本文と対応履歴]]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出力: 顧客の主張 / 確認できた事実 / 未確認の点 / 影響 / すぐに止めること / 担当者が判断すること / 返信案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顧客の感情を否定せず、責任の断定や補償の約束は責任者確認に回す。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374850-FF26-4636-8408-57157627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9DDAA6-6A62-4F45-BEE3-BA719CC3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B6ADCF-D862-487B-BBAD-EC4B9EAD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58A6D"/>
                </a:solidFill>
                <a:latin typeface="Aptos"/>
                <a:ea typeface="Aptos"/>
                <a:cs typeface="Aptos"/>
              </a:rPr>
              <a:t>#顧客対応  #クレーム  #事実確認</a:t>
            </a:r>
          </a:p>
        </p:txBody>
      </p:sp>
    </p:spTree>
    <p:extLst>
      <p:ext uri="{BB962C8B-B14F-4D97-AF65-F5344CB8AC3E}">
        <p14:creationId xmlns:p14="http://schemas.microsoft.com/office/powerpoint/2010/main" val="60305340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01FFF0-A79B-46F4-94A6-5DCDDF58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34BCB2-AA2A-472D-A5DD-A79294D1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028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61D7C0-0B24-493D-836E-356167CE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顧客対応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B27BAC-6C73-4FC3-BE93-2B09C8EA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63A301-B1AD-41F0-B4CD-70717123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返信文のトーン調整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1AA07F-9FF5-490B-B67A-7B6674E8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592A7"/>
                </a:solidFill>
                <a:latin typeface="Aptos"/>
                <a:ea typeface="Aptos"/>
                <a:cs typeface="Aptos"/>
              </a:rPr>
              <a:t>丁寧さを保ったまま、長くて伝わりにくい返信を整えます.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80B89C-21A6-431D-9644-E7AD0739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4402D9-7FC0-4DCD-82A5-BEE4C910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47704A-6C99-4DC9-8930-F0930487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F83E19-7A88-4F75-A931-BD40B335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以下の返信文を、丁寧で簡潔な文面に整えてください。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原文: [[返信文]]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相手との関係: [[関係]]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伝えるべき事実: [[事実]]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変更してよい範囲: 表現のみ。事実、期限、条件、責任範囲は変更しない。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出力: 修正版 / 変更点3つ / 送信前に原文と照合する項目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DF76DC-9BE5-4C23-9C20-019226AA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E5FDE3-5013-4901-B769-A837C676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80A138-864E-4CD8-8E42-693A590B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4D6C6"/>
                </a:solidFill>
                <a:latin typeface="Aptos"/>
                <a:ea typeface="Aptos"/>
                <a:cs typeface="Aptos"/>
              </a:rPr>
              <a:t>#顧客対応  #文章改善  #メール</a:t>
            </a:r>
          </a:p>
        </p:txBody>
      </p:sp>
    </p:spTree>
    <p:extLst>
      <p:ext uri="{BB962C8B-B14F-4D97-AF65-F5344CB8AC3E}">
        <p14:creationId xmlns:p14="http://schemas.microsoft.com/office/powerpoint/2010/main" val="35259391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8D1AE8-9645-4592-8E98-F41CE1C9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AA4C2A-4C12-48D2-9B39-33A910B2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BAC72A-39C0-4D9C-9EE1-3368FD4F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顧客対応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599250-08F9-470C-A95A-B32B4126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No.025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9EA648-9E38-49F9-83BE-4F7FB1CC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対応優先度の判断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96E48-8FE3-4FAA-9297-3D748E3C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問い合わせを緊急度ではなく影響と期限で分類します.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A2B6F7-9152-44EF-8624-D455D50E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80348-3D7B-4B74-9D20-784C437C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14D015-2DD4-4FB5-A07F-488CF84B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B8BC36-C622-47E7-B1FB-BC8918DD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問い合わせ一覧を優先順位づけしてください。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入力: [[問い合わせ一覧]]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評価軸: 顧客影響 / 安全・契約への影響 / 期限 / 代替手段の有無 / 担当者の判断が必要か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出力: 今すぐ対応 / 本日中 / 期限を決める / FAQ・自動化候補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判断できないものは「確認待ち」とし、確認先を付ける。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73FA60-8E93-4DF8-BBE5-123A724E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A04B08-3F26-44B3-9785-4E260D35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841B30-E5BB-430A-8EE2-E6BB000F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58A6D"/>
                </a:solidFill>
                <a:latin typeface="Aptos"/>
                <a:ea typeface="Aptos"/>
                <a:cs typeface="Aptos"/>
              </a:rPr>
              <a:t>#顧客対応  #優先順位  #運用</a:t>
            </a:r>
          </a:p>
        </p:txBody>
      </p:sp>
    </p:spTree>
    <p:extLst>
      <p:ext uri="{BB962C8B-B14F-4D97-AF65-F5344CB8AC3E}">
        <p14:creationId xmlns:p14="http://schemas.microsoft.com/office/powerpoint/2010/main" val="199313804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025EFD-B50F-4D69-AC00-BAB4BE6C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769BAC-940E-451E-BCDC-1B54F8E7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030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7BFA69-89B9-4744-9663-2E4F673F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顧客対応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A68484-FD89-4EB5-B22D-EE279064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6AB940-A661-41EE-9679-FFF185D6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オンボーディング案内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C2C23B-EA62-4608-836B-270F17B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592A7"/>
                </a:solidFill>
                <a:latin typeface="Aptos"/>
                <a:ea typeface="Aptos"/>
                <a:cs typeface="Aptos"/>
              </a:rPr>
              <a:t>初回利用者が迷わない順番で案内を作ります.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9C4718-6501-4246-9309-6217473A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5C53BD-101B-4D32-82F3-463F192B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EEF24D-EAF7-4285-AEC8-31E86038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547179-88A1-4545-8BF8-DAC62AFD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新規顧客向けの初回案内を作ってください。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サービス: [[サービス]]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顧客が最初に達成したいこと: [[目的]]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利用開始に必要なもの: [[必要情報]]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構成: まずやること3つ / つまずきやすい点 / 問い合わせ先 / できるようになった状態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専門用語を避け、手順ごとに完了条件を書く。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2E3219-4951-4704-9BFA-0AC6C7445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4F6FBC-9DA0-4AFF-A142-CB2DD2D7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5CAFCF-81DE-4374-B796-77463A06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4D6C6"/>
                </a:solidFill>
                <a:latin typeface="Aptos"/>
                <a:ea typeface="Aptos"/>
                <a:cs typeface="Aptos"/>
              </a:rPr>
              <a:t>#顧客対応  #導入支援  #案内</a:t>
            </a:r>
          </a:p>
        </p:txBody>
      </p:sp>
    </p:spTree>
    <p:extLst>
      <p:ext uri="{BB962C8B-B14F-4D97-AF65-F5344CB8AC3E}">
        <p14:creationId xmlns:p14="http://schemas.microsoft.com/office/powerpoint/2010/main" val="106451474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E39773-5C8D-442E-8CFD-41C23E04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71317A-4DC2-40FD-AC36-8F50415D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56036C-8DB5-46C0-9FD0-EE60F443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顧客対応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6A068-11C0-47C4-B8A2-E1086EC4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No.027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270CC0-1375-4755-BAF1-05154854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解約理由の要約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4E2C46-668B-4B68-885C-D91EB9BF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解約の背景を、改善できる原因と外部要因に分けます.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D948FD-2B31-4DCC-B76E-661D4010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DD824F-B28B-471A-8FB4-3D368192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624B04-5790-45A0-B2C1-546428B4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33E299-5413-4CB6-8492-8814ABCF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解約アンケートを整理してください。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入力: [[回答一覧]]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出力: 主な理由の分類 / 顧客の表現 / 改善できる要因 / 改善できない要因 / 追加で聞く質問 / 次に試す改善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1件の意見を全顧客の傾向と扱わない。件数がない場合は傾向を断定しない。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E1F6AB-AD21-450D-9B41-415CE44B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7F1F36-F9A2-4849-8396-BAED039C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34FA6D-86D8-4A08-B623-A924A337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58A6D"/>
                </a:solidFill>
                <a:latin typeface="Aptos"/>
                <a:ea typeface="Aptos"/>
                <a:cs typeface="Aptos"/>
              </a:rPr>
              <a:t>#顧客対応  #解約  #改善</a:t>
            </a:r>
          </a:p>
        </p:txBody>
      </p:sp>
    </p:spTree>
    <p:extLst>
      <p:ext uri="{BB962C8B-B14F-4D97-AF65-F5344CB8AC3E}">
        <p14:creationId xmlns:p14="http://schemas.microsoft.com/office/powerpoint/2010/main" val="164021460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1EA070-D26E-4E97-944B-405EC51B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EFD873-C890-4BF9-8948-8A8548A0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032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56C635-CA7E-4465-A2F0-EDEA8911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顧客対応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4417CE-C434-4271-AC4B-22C9B720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E3B1F6-6746-481F-992B-55D21C9F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対応履歴の引き継ぎ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48B727-D1D6-4C4F-B6DB-3B27040F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592A7"/>
                </a:solidFill>
                <a:latin typeface="Aptos"/>
                <a:ea typeface="Aptos"/>
                <a:cs typeface="Aptos"/>
              </a:rPr>
              <a:t>別担当でも状況を再現できる引き継ぎメモにします.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04FF6B-5A6F-4015-998B-64B9B80A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4DEF2E-B962-44B1-82CD-A158E894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9C41C2-3AC1-4A16-9094-2C0BF6F4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CA73FB-5C64-43C1-9DDD-5BD00F04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顧客対応の引き継ぎメモを作ってください。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入力: [[対応履歴]]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出力: 顧客の目的 / これまでの経緯 / 確定事項 / 相手が待っていること / 次の期限 / 触れてはいけない情報 / 推奨する次の連絡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事実と担当者の感想を分け、個人情報は必要最小限にする。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586F7C-DAE8-4000-AA17-16D49378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14C117-FF54-4491-A1AF-B87DD2A3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0152A2-0036-4EAD-8613-43DBF689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4D6C6"/>
                </a:solidFill>
                <a:latin typeface="Aptos"/>
                <a:ea typeface="Aptos"/>
                <a:cs typeface="Aptos"/>
              </a:rPr>
              <a:t>#顧客対応  #引き継ぎ  #CRM</a:t>
            </a:r>
          </a:p>
        </p:txBody>
      </p:sp>
    </p:spTree>
    <p:extLst>
      <p:ext uri="{BB962C8B-B14F-4D97-AF65-F5344CB8AC3E}">
        <p14:creationId xmlns:p14="http://schemas.microsoft.com/office/powerpoint/2010/main" val="207399047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03B45D-11CE-425B-BEFB-F7F1DA07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8993C3-9C17-42FD-BE14-385006A4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033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E19B74-9C46-4AB2-BECF-4EC5F77C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顧客対応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979BAE-8AB2-46B5-853F-830E9D52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No.029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FA96CB-623B-4EA8-8C34-119A0EAE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チャットボット回答のレビュー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342E03-6D12-42D2-AC7E-58082F52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自動返信を、誤解・不足・エスカレーションの観点で確認します.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287954-BB98-4BAC-A9F1-980D1912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55E022-D711-455B-9717-3E2CE722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59F700-92B5-4EC6-8D01-3922F15E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EB0D12-303A-4B6B-B501-A94AC80E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チャットボットの回答をレビューしてください。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質問: [[質問]]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回答: [[回答]]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基準: 質問に答えているか / 根拠に戻れるか / 不確かな点を明示しているか / 個人情報を求めすぎていないか / 人へ渡す条件があるか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修正版と、人に引き継ぐ条件を作る。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97ED4E-032C-40BF-8288-F3A92241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8EF3E3-C16A-4460-93C1-45E2E906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258165-5435-407F-A8B2-01A96858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58A6D"/>
                </a:solidFill>
                <a:latin typeface="Aptos"/>
                <a:ea typeface="Aptos"/>
                <a:cs typeface="Aptos"/>
              </a:rPr>
              <a:t>#顧客対応  #チャットボット  #レビュー</a:t>
            </a:r>
          </a:p>
        </p:txBody>
      </p:sp>
    </p:spTree>
    <p:extLst>
      <p:ext uri="{BB962C8B-B14F-4D97-AF65-F5344CB8AC3E}">
        <p14:creationId xmlns:p14="http://schemas.microsoft.com/office/powerpoint/2010/main" val="74535358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9056E2-296C-44BC-A4B5-44338BEC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BDF5B-0719-491D-BBE5-CE2EE2F2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034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39E757-2FF6-48E9-9F9F-980D7FFA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顧客対応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18574A-F9DF-48CC-BCD6-3E68F325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9EFFD3-FEC0-47FD-A84D-4BB250AD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顧客向けお知らせ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CB4D2F-FB75-41C3-9974-0F9ACF14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592A7"/>
                </a:solidFill>
                <a:latin typeface="Aptos"/>
                <a:ea typeface="Aptos"/>
                <a:cs typeface="Aptos"/>
              </a:rPr>
              <a:t>変更点と顧客が取る行動を先に伝えます.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1E2F67-5A42-4E64-91F1-DFAE4BEE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27719B-6E15-47DD-B334-64E9F62D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14C4E4-3AFA-4929-85A8-2F0AE619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3432C3-FEF8-442E-9A10-F405441B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顧客向けのお知らせ文を作ってください。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変更内容: [[変更内容]]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開始日: [[開始日]]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顧客への影響: [[影響]]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必要な対応: [[顧客の対応]]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構成: 件名 / 結論 / 影響 / 顧客がすること / 問い合わせ先 / FAQ3つ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不明な事項は空欄にせず、確認中と明記する。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A5CAE3-EA3A-4A71-B104-7785EDA8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BED19B-BD6C-46F8-BF34-C5CE455C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A55915-9B44-4FAA-9310-4DAC325E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4D6C6"/>
                </a:solidFill>
                <a:latin typeface="Aptos"/>
                <a:ea typeface="Aptos"/>
                <a:cs typeface="Aptos"/>
              </a:rPr>
              <a:t>#顧客対応  #お知らせ  #文章</a:t>
            </a:r>
          </a:p>
        </p:txBody>
      </p:sp>
    </p:spTree>
    <p:extLst>
      <p:ext uri="{BB962C8B-B14F-4D97-AF65-F5344CB8AC3E}">
        <p14:creationId xmlns:p14="http://schemas.microsoft.com/office/powerpoint/2010/main" val="171078333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41F4A2-48A4-4A67-8B7F-0435AC56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4F27BD-CFE8-418C-ABF4-B74569EE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035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3D69CA-3A9C-4EB5-9B5A-BFEF44F5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会議・議事録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FE1538-E2C8-4D53-84F9-23472152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No.031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72F318-3DB9-4265-AF1D-D2C7CF0B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決定事項が残る議事録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AC696B-B805-4E9B-8390-63C0F908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発言の羅列ではなく、決定と担当を残します.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15DEAE-C895-444A-BC7C-ABE080C9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0E4E16-CAD0-4872-9300-394B4D43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31B57B-59ED-4970-9BC5-A1836F92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9DD2A1-16E9-469C-8B29-E687CF12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以下の会議メモを議事録に整理してください。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入力: [[会議メモ]]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出力: 会議の目的 / 決定事項 / 保留事項 / ToDo（担当・期限・完了条件） / 重要な根拠 / 次回の議題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決定していないことを決定事項に変えない。担当や期限がないToDoは「未定」と書く。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06211E-08D0-490B-B26A-687C5290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4AE695-3C5E-439B-83C6-B4E4DE06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E6721A-78AD-4A02-AEB1-19119A06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58A6D"/>
                </a:solidFill>
                <a:latin typeface="Aptos"/>
                <a:ea typeface="Aptos"/>
                <a:cs typeface="Aptos"/>
              </a:rPr>
              <a:t>#会議  #議事録  #ToDo</a:t>
            </a:r>
          </a:p>
        </p:txBody>
      </p:sp>
    </p:spTree>
    <p:extLst>
      <p:ext uri="{BB962C8B-B14F-4D97-AF65-F5344CB8AC3E}">
        <p14:creationId xmlns:p14="http://schemas.microsoft.com/office/powerpoint/2010/main" val="51998583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DE66FF-4C54-4FCE-98AC-7491805E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AA5CBE-0593-4AD9-8AA9-4CEBB0ED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036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A4B2E9-2B76-4997-8318-57EF6FE1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会議・議事録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A7F73B-5E1B-48A2-AB13-59FC3E59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2F2F21-5D5A-477F-935B-86409F03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会議前の論点整理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CEECF8-935A-4A16-B3A1-569B24EC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592A7"/>
                </a:solidFill>
                <a:latin typeface="Aptos"/>
                <a:ea typeface="Aptos"/>
                <a:cs typeface="Aptos"/>
              </a:rPr>
              <a:t>会議を始める前に、決めることと資料を揃えます.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74584C-6B4B-417D-A00C-F758AC3E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007E1B-C3D3-47EB-8D89-2B2F4D25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579E38-6783-40F2-99E2-544A13D7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69305E-F61F-4BE0-9BE8-46F14BF1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会議の準備表を作ってください。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会議の目的: [[目的]]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参加者: [[参加者]]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現状: [[現状]]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出力: 決めること / 共有だけのこと / 事前に必要な資料 / 参加者ごとの判断事項 / 決定の選択肢 / 会議後の成果物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議題を増やしすぎず、60分以内に収まる順番を提案する。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C20796-CE54-477F-8BA7-2F0A0F7E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A247FB-0B7D-4A74-A4AE-85C45B6B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C185AA-A743-42A0-AF63-1F149E8D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4D6C6"/>
                </a:solidFill>
                <a:latin typeface="Aptos"/>
                <a:ea typeface="Aptos"/>
                <a:cs typeface="Aptos"/>
              </a:rPr>
              <a:t>#会議  #準備  #論点</a:t>
            </a:r>
          </a:p>
        </p:txBody>
      </p:sp>
    </p:spTree>
    <p:extLst>
      <p:ext uri="{BB962C8B-B14F-4D97-AF65-F5344CB8AC3E}">
        <p14:creationId xmlns:p14="http://schemas.microsoft.com/office/powerpoint/2010/main" val="151168723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4B16E1-D12C-4968-B29F-69C2EA3E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2C196-2D09-41D9-9D0D-93F3A570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2B39AD-5E61-4DC6-AD51-F08441A0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会議・議事録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AB9AE4-2CD3-469D-A683-1D5DBD6A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No.033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6A6CF-C8D2-42FB-A77E-78D6A7AF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会議のアジェンダ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78FDA3-195F-45B3-BF39-8C9F31BC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参加者が準備しやすい順番で議題を組みます.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824A78-EDD9-46AF-9B6B-F93AD80C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59340F-7A46-48A3-8031-C93C1B76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50F7CF-6AD8-4034-A437-719363CA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EE7DC1-D186-41B7-A264-54432E34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次の会議のアジェンダを作ってください。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目的: [[目的]]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参加者: [[参加者]]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使える時間: [[時間]]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議題候補: [[候補]]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各議題に、所要時間 / 目的 / 事前準備 / 決めること / 進行役を付ける。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目的が「共有」だけの議題は、資料共有に置き換えられるかも指摘する。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DE7603-84E9-48D5-B3D5-7347ACFE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C45254-81C7-4DA1-BA02-EBA13C60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251234-C29C-4325-9052-0E14BDB9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58A6D"/>
                </a:solidFill>
                <a:latin typeface="Aptos"/>
                <a:ea typeface="Aptos"/>
                <a:cs typeface="Aptos"/>
              </a:rPr>
              <a:t>#会議  #アジェンダ  #進行</a:t>
            </a:r>
          </a:p>
        </p:txBody>
      </p:sp>
    </p:spTree>
    <p:extLst>
      <p:ext uri="{BB962C8B-B14F-4D97-AF65-F5344CB8AC3E}">
        <p14:creationId xmlns:p14="http://schemas.microsoft.com/office/powerpoint/2010/main" val="205808498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CF2792-C0BE-4B15-9ED6-EBCD7E14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285A1-B2BD-4EC8-BB4C-FBD01E26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038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80291-BA38-4455-9627-93175C70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会議・議事録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23E47B-20C2-4482-B008-A838A6C2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4A6CDE-53F9-49BC-A1C9-E4999A0A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会議メモからToDo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8A8230-D4AB-4E4A-BBAA-5A38BA23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592A7"/>
                </a:solidFill>
                <a:latin typeface="Aptos"/>
                <a:ea typeface="Aptos"/>
                <a:cs typeface="Aptos"/>
              </a:rPr>
              <a:t>メモから行動だけを抽出し、曖昧なものを残します.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5FAE55-1C59-44E3-AB5A-188F495E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A0C818-C2DD-4BCD-BE3C-F0417634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44B472-27D5-4365-AE9E-601B6289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A7349B-0A67-4F7C-BDED-550778F2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以下の会議メモからToDoだけを抽出してください。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入力: [[メモ]]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表の列: ToDo / 担当 / 期限 / 完了条件 / 根拠となる発言 / 未確定事項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「検討する」「確認する」のような曖昧な表現は、何をどこまで確認するかに分解する。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推測で担当や期限を補わない。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FDBA2F-281D-4EBF-B334-074FDC14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CC0E78-B7F9-487D-86B9-4A1F292C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DB80C8-BFF9-4912-A72C-C5929EF1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4D6C6"/>
                </a:solidFill>
                <a:latin typeface="Aptos"/>
                <a:ea typeface="Aptos"/>
                <a:cs typeface="Aptos"/>
              </a:rPr>
              <a:t>#会議  #ToDo  #整理</a:t>
            </a:r>
          </a:p>
        </p:txBody>
      </p:sp>
    </p:spTree>
    <p:extLst>
      <p:ext uri="{BB962C8B-B14F-4D97-AF65-F5344CB8AC3E}">
        <p14:creationId xmlns:p14="http://schemas.microsoft.com/office/powerpoint/2010/main" val="136908464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773128-23DF-412F-A050-00D55EB8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137843-94E6-45A6-A065-90EE2343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6F9F6C-5905-4911-A126-705E75B6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会議・議事録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C79D53-7E6B-435D-AED4-5092DDD9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No.035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3DA354-ED91-4D9F-B2A5-F6854B10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会議の脱線整理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DDF753-EDB3-4C6E-B211-00D28422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本題と別件を分け、次に扱う場所を提案します.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98E809-6CD7-401A-A7D3-1F7397E6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AAD409-4B36-4F66-8062-288C335A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BCB03A-678A-4FBC-A261-D27E4AC8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0E4B44-B900-47C0-9E38-5621C6D8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会議の発言ログを整理してください。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入力: [[発言ログ]]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分類: 本題 / 決定に必要な論点 / 追加調査 / 別会議で扱う / 雑談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各項目に「次に誰が何をするか」を付ける。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発言者の意図を勝手に断定せず、必要なら確認質問にする。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61B2C8-FBD7-47DC-9A63-51C5F5D5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5ED1EB-E4B3-4BAB-82BE-8D483F4F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235133-15C2-47B7-B4A2-F6D81AB9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58A6D"/>
                </a:solidFill>
                <a:latin typeface="Aptos"/>
                <a:ea typeface="Aptos"/>
                <a:cs typeface="Aptos"/>
              </a:rPr>
              <a:t>#会議  #ファシリテーション  #整理</a:t>
            </a:r>
          </a:p>
        </p:txBody>
      </p:sp>
    </p:spTree>
    <p:extLst>
      <p:ext uri="{BB962C8B-B14F-4D97-AF65-F5344CB8AC3E}">
        <p14:creationId xmlns:p14="http://schemas.microsoft.com/office/powerpoint/2010/main" val="202306602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2B6BFC-2D78-4375-8E2D-BB19832F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B727EA-80BD-434C-A676-56576D33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040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D27BC3-CFAD-4FD6-8740-EB1A2BD6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会議・議事録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F79DBC-D583-43F5-8E1D-E2EC42F0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26FED4-1E8F-4244-B582-95DDFD89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会議の事前資料チェック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B7B57C-ECE1-49D4-8EF4-4301F514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592A7"/>
                </a:solidFill>
                <a:latin typeface="Aptos"/>
                <a:ea typeface="Aptos"/>
                <a:cs typeface="Aptos"/>
              </a:rPr>
              <a:t>会議で判断できる材料が揃っているか確認します.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AFA4E1-9D1F-4B23-ACF3-15CF9D5B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F50743-99B3-4D43-B44D-68B38583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F237F2-DEDF-48DE-8B57-41A4C328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FE3F00-7B10-4565-852A-3C7B7399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会議資料をレビューしてください。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会議の目的: [[目的]]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資料: [[資料本文]]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確認項目: 目的との整合 / 判断に必要な数字 / 前提条件 / 選択肢 / 未記載のリスク / 参加者が事前に答える質問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不足を「作成すべき資料」と「会議で確認すればよいこと」に分ける。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0FDFED-6D98-4F94-BF81-CA4A15A5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22C963-888C-4C34-A401-58A00602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AA50DE-46A1-4DD6-8F93-1EE31C99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4D6C6"/>
                </a:solidFill>
                <a:latin typeface="Aptos"/>
                <a:ea typeface="Aptos"/>
                <a:cs typeface="Aptos"/>
              </a:rPr>
              <a:t>#会議  #資料  #レビュー</a:t>
            </a:r>
          </a:p>
        </p:txBody>
      </p:sp>
    </p:spTree>
    <p:extLst>
      <p:ext uri="{BB962C8B-B14F-4D97-AF65-F5344CB8AC3E}">
        <p14:creationId xmlns:p14="http://schemas.microsoft.com/office/powerpoint/2010/main" val="156740861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FB689E-BECB-46EE-95BB-D0FAE473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B71412-C741-42A3-883B-0B914DE2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041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298F0C-5DD4-451B-818F-8C45FB05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会議・議事録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A48F2E-27B7-4B27-A292-C8C7AC4C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No.037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808F2C-84C8-4699-A72C-5CE81DCF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1on1の質問設計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11402D-E25B-4FA9-BDE0-15CD1272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部下の状況と次の支援を話せる質問を作ります.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6DFBAB-6921-4A38-8F9B-C8313137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86C85D-D291-4D17-83C5-D3FAC8C2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A1791E-441C-41D5-B5AB-A492AB1A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2970D1-0026-46D2-8CEB-55733F61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1on1の質問を設計してください。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相手の役割: [[役割]]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最近の仕事: [[仕事]]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目的: 状況把握 / 困りごとの発見 / 成長支援 / 次の合意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質問を8個作り、各質問に「聞いた後にどう支援するか」を付ける。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評価面談と混同しない表現にする。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8FCB72-AF50-4BD8-AA5B-3EBA3CD7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0A01EA-B0FD-4F90-8C58-4D0B6401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40997D-6EB5-46E5-82B1-8EB58B03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58A6D"/>
                </a:solidFill>
                <a:latin typeface="Aptos"/>
                <a:ea typeface="Aptos"/>
                <a:cs typeface="Aptos"/>
              </a:rPr>
              <a:t>#会議  #1on1  #マネジメント</a:t>
            </a:r>
          </a:p>
        </p:txBody>
      </p:sp>
    </p:spTree>
    <p:extLst>
      <p:ext uri="{BB962C8B-B14F-4D97-AF65-F5344CB8AC3E}">
        <p14:creationId xmlns:p14="http://schemas.microsoft.com/office/powerpoint/2010/main" val="65183974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C65766-41C0-4232-B65C-02F91C9A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A26ACD-A201-4AB2-9DB2-1FBC812E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042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8CC5BD-A7D3-47F1-872F-483A3CBE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会議・議事録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44F82E-72DB-4C92-8801-AF3CBC52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91F3F5-E0ED-492D-847E-B9C72D91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会議の振り返り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F47EDD-A527-4C87-B8DF-8D7F1094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592A7"/>
                </a:solidFill>
                <a:latin typeface="Aptos"/>
                <a:ea typeface="Aptos"/>
                <a:cs typeface="Aptos"/>
              </a:rPr>
              <a:t>会議の時間を、次回の改善へ変えます.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F47C84-F26A-4141-8345-C1EA7D24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03D69F-086A-46DF-982D-776EEDF0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A301BA-F359-4225-9B45-001D6034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DF3993-377A-43DD-ABFB-EDB37CB0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会議の振り返りを作ってください。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入力: [[会議の目的、実際の進行、結果、参加者の感想]]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出力: 目的達成度 / 決まったこと / 決まらなかった理由 / 時間を使った箇所 / 次回に残すもの / やめるもの / 次回の実験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個人の責任追及ではなく、設計と情報の問題として書く。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46A4DB-123C-4868-A490-E6B16AF9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BF64C6-33C0-4B96-B16A-3E39E1CB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DD177D-18EB-46F5-819E-48BBDE8B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4D6C6"/>
                </a:solidFill>
                <a:latin typeface="Aptos"/>
                <a:ea typeface="Aptos"/>
                <a:cs typeface="Aptos"/>
              </a:rPr>
              <a:t>#会議  #振り返り  #改善</a:t>
            </a:r>
          </a:p>
        </p:txBody>
      </p:sp>
    </p:spTree>
    <p:extLst>
      <p:ext uri="{BB962C8B-B14F-4D97-AF65-F5344CB8AC3E}">
        <p14:creationId xmlns:p14="http://schemas.microsoft.com/office/powerpoint/2010/main" val="86300635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6B3FFA-0028-40B6-98B4-F150FF55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7CF56D-9BC8-4CA0-85F2-AB8E6A7D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043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80AC71-EB58-4DF3-AC5C-9F7C6AB8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会議・議事録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89BC18-101C-4DD8-9113-C17CA456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No.039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2B8B56-26F4-4B77-8C88-8F4523AD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経営会議の要約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A6D863-6BDE-45C5-A049-395E0C6B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経営判断に必要な事実と論点だけを残します.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5B650E-C2DF-4685-A619-384C8004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775868-DE1E-4B28-888C-E228CEB8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9BC8C1-6E7F-4F7B-AED9-6D8E0554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2E72B9-6C27-4096-B521-EF16BFB1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経営会議の記録を要約してください。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入力: [[記録]]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出力: 経営上の論点 / 重要な数字 / 判断したこと / 判断していないこと / リスク / 担当役員 / 次回までの条件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数字は単位と期間を保持し、資料にない因果関係を追加しない。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1395A-7640-42A3-AB7E-38CB2052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AFBED5-3D36-4653-A114-A7A67280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1042DE-A41A-40B1-875F-DE425F92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58A6D"/>
                </a:solidFill>
                <a:latin typeface="Aptos"/>
                <a:ea typeface="Aptos"/>
                <a:cs typeface="Aptos"/>
              </a:rPr>
              <a:t>#会議  #経営  #要約</a:t>
            </a:r>
          </a:p>
        </p:txBody>
      </p:sp>
    </p:spTree>
    <p:extLst>
      <p:ext uri="{BB962C8B-B14F-4D97-AF65-F5344CB8AC3E}">
        <p14:creationId xmlns:p14="http://schemas.microsoft.com/office/powerpoint/2010/main" val="47769064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31CEDD-E2B5-4968-99A0-C45DEF97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F01996-E098-4932-A280-AD332BDB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044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7921D1-040A-45E9-B1F2-BBC5350C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会議・議事録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B355B-8C21-4AE7-8B3B-C4944BF5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4B78C2-A33E-48AB-B3E6-F44AA025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議事録の品質チェック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8A5CDB-307B-4869-B163-08B1F4AD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592A7"/>
                </a:solidFill>
                <a:latin typeface="Aptos"/>
                <a:ea typeface="Aptos"/>
                <a:cs typeface="Aptos"/>
              </a:rPr>
              <a:t>記録として不足している項目を、送付前に点検します.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1158EC-1C9E-4F97-8B41-8F99EA0D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36BBC2-375F-4EEE-8837-4F5285BD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FB6CF4-E65F-428A-8FBB-4409F3D9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3226CB-1771-4EC3-A8B2-0F1C52DC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以下の議事録を品質チェックしてください。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議事録: [[議事録]]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チェック: 目的 / 日時 / 参加者 / 決定事項 / 保留事項 / ToDoの担当・期限・完了条件 / 根拠資料 / 次回予定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不足項目を重要度順に列挙し、本文を書き換えずに修正案を示す。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9E24B3-3FD3-4E03-A3BD-A2510692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498B93-6E93-4BD9-832F-8C9B902C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BCF479-C4B8-48B4-A45E-ACAE5812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4D6C6"/>
                </a:solidFill>
                <a:latin typeface="Aptos"/>
                <a:ea typeface="Aptos"/>
                <a:cs typeface="Aptos"/>
              </a:rPr>
              <a:t>#会議  #議事録  #品質</a:t>
            </a:r>
          </a:p>
        </p:txBody>
      </p:sp>
    </p:spTree>
    <p:extLst>
      <p:ext uri="{BB962C8B-B14F-4D97-AF65-F5344CB8AC3E}">
        <p14:creationId xmlns:p14="http://schemas.microsoft.com/office/powerpoint/2010/main" val="1213182157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61C1A1-44CB-42CF-AAB7-DE28C61E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1321D5-AC77-4FE2-BFEE-DD40586E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045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357121-30D7-4CE7-A144-8586CAC7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採用・人事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8B4BE5-F8D8-41BD-AB52-BF3EB3A6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No.041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312567-22C7-449C-89A0-99D8CEB7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求人票の改善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5E57F4-B719-449D-A3E4-34987131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仕事内容と候補者が知りたい条件を具体化します.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DC760C-A72A-4061-81A9-8F01BA52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0E1518-82B6-4F56-9EEE-382B289B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29220F-675E-4A1F-BA2F-850BB55A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87AA71-EC95-468F-9E68-A5DD4D70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求人票を改善してください。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原稿: [[求人票]]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採用したい役割: [[役割]]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現場で任せる仕事: [[仕事]]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出力: 伝わりにくい表現 / 具体化案 / 応募前に知りたい条件 / 過度に期待させる表現 / 面接で確認すること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事実にない福利厚生や成長機会は追加しない。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F5F73B-0211-4F87-BBE9-A43CFF7E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812272-C472-41EE-B494-84F51B40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C1A2A6-73D9-47B7-9668-AE1AFB4C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58A6D"/>
                </a:solidFill>
                <a:latin typeface="Aptos"/>
                <a:ea typeface="Aptos"/>
                <a:cs typeface="Aptos"/>
              </a:rPr>
              <a:t>#採用  #求人票  #文章</a:t>
            </a:r>
          </a:p>
        </p:txBody>
      </p:sp>
    </p:spTree>
    <p:extLst>
      <p:ext uri="{BB962C8B-B14F-4D97-AF65-F5344CB8AC3E}">
        <p14:creationId xmlns:p14="http://schemas.microsoft.com/office/powerpoint/2010/main" val="1789716092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A9D058-491B-4A82-A28F-86C20D06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461B65-83D5-4F76-9589-ABF5EC17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046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4FDF73-B852-4364-96F9-5C568D71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採用・人事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40C287-0B23-49E8-89C5-902098D5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1BED67-2414-4283-BEF5-8C3DD377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候補者スクリーニング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7C6C58-AEBE-4E0D-99FD-19A1FAD7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592A7"/>
                </a:solidFill>
                <a:latin typeface="Aptos"/>
                <a:ea typeface="Aptos"/>
                <a:cs typeface="Aptos"/>
              </a:rPr>
              <a:t>応募書類を基準に沿って比較し、採用判断は人に戻します.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A46D10-C514-427D-8C47-C982C303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ED2718-7FED-491E-84B3-AD3419E9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0E1D72-39F3-4FFF-921C-C96C3FD7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46A5A3-4192-4F44-9884-4B4E77FE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応募書類を、次の基準で整理してください。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募集要件: [[必須要件・歓迎要件]]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応募書類: [[書類]]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出力: 要件ごとの根拠 / 確認できない点 / 面接で聞く質問 / 早合点しやすい点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年齢、性別、国籍、写真など職務と関係ない情報は評価に使わない。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合否の断定ではなく、確認材料の整理に限定する。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292B58-4C8A-4245-B551-B3917337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776DA7-8765-4348-B86E-273D7298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28A96E-E97E-4CB9-8D4D-94CFD020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4D6C6"/>
                </a:solidFill>
                <a:latin typeface="Aptos"/>
                <a:ea typeface="Aptos"/>
                <a:cs typeface="Aptos"/>
              </a:rPr>
              <a:t>#採用  #スクリーニング  #公平性</a:t>
            </a:r>
          </a:p>
        </p:txBody>
      </p:sp>
    </p:spTree>
    <p:extLst>
      <p:ext uri="{BB962C8B-B14F-4D97-AF65-F5344CB8AC3E}">
        <p14:creationId xmlns:p14="http://schemas.microsoft.com/office/powerpoint/2010/main" val="209475677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EA3A64-7489-4B5D-A4CC-D8885B8C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CC0B82-1E56-4764-A17B-A64848EA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301B1E-A7FE-4F9B-8290-D1B4D177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採用・人事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67D7E2-68C2-4D98-955C-5DFB4499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No.043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58134F-0E1E-49FA-BC87-8C25A667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面接質問の設計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080EAA-07D6-466F-BAEC-A821621F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募集要件に紐づいた、比較可能な質問を作ります.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D5716B-59CE-4E93-806D-F3AB7D41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C98924-297B-4C08-8F7E-64AE79F0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823164-C6AC-4B16-AB91-738CBA3A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930EB6-FCD2-4B81-87DE-F98F977C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面接質問を設計してください。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役割: [[役割]]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評価したい能力: [[能力]]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候補者に聞く質問を8個作り、各質問に評価観点、良い回答の兆候、追加質問を付ける。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質問は全候補者に同じ条件で使える形にし、私生活に踏み込む質問は除外する。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A71353-A54F-4127-8CDC-72FB8B1E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5146D2-5E47-4964-A815-5DC10FC3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A47E35-715E-408B-A666-EB0CE80B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58A6D"/>
                </a:solidFill>
                <a:latin typeface="Aptos"/>
                <a:ea typeface="Aptos"/>
                <a:cs typeface="Aptos"/>
              </a:rPr>
              <a:t>#採用  #面接  #評価</a:t>
            </a:r>
          </a:p>
        </p:txBody>
      </p:sp>
    </p:spTree>
    <p:extLst>
      <p:ext uri="{BB962C8B-B14F-4D97-AF65-F5344CB8AC3E}">
        <p14:creationId xmlns:p14="http://schemas.microsoft.com/office/powerpoint/2010/main" val="983788728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32ED89-B132-4716-B56C-4EAC6DD9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824823-8DDF-45DF-8038-89BE33A5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048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D1BC68-AE1B-4FC3-B2ED-0274E429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採用・人事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D35843-6F38-4268-B1AF-8B92986C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02153B-7A65-4C1B-962D-916B8D8A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面接メモの構造化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EDE4C7-C508-4596-9EE3-309FAA06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592A7"/>
                </a:solidFill>
                <a:latin typeface="Aptos"/>
                <a:ea typeface="Aptos"/>
                <a:cs typeface="Aptos"/>
              </a:rPr>
              <a:t>面接官の印象を、根拠のある評価材料へ戻します.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2E0C48-000D-4893-9547-3A40ADA5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B83548-A2DB-4128-8BF6-AE43C007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99A894-DE91-45B4-9989-D311020D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83D184-4AAE-4702-B2F9-5BF16986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面接メモを整理してください。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入力: [[面接メモ]]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出力: 候補者が話した事実 / 要件に対する根拠 / 未確認の点 / 面接官の解釈 / 次に確認する質問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「感じがよい」「自社に合う」のような抽象評価は、具体的な発言や行動に分解する。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AE87E4-EFEB-42F9-87B7-5A614D16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E212A0-0766-4A01-A7A1-032C1758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A14971-4344-4BC5-ACCC-EB660199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4D6C6"/>
                </a:solidFill>
                <a:latin typeface="Aptos"/>
                <a:ea typeface="Aptos"/>
                <a:cs typeface="Aptos"/>
              </a:rPr>
              <a:t>#採用  #面接  #メモ</a:t>
            </a:r>
          </a:p>
        </p:txBody>
      </p:sp>
    </p:spTree>
    <p:extLst>
      <p:ext uri="{BB962C8B-B14F-4D97-AF65-F5344CB8AC3E}">
        <p14:creationId xmlns:p14="http://schemas.microsoft.com/office/powerpoint/2010/main" val="417529180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3C7730-9F0A-43EF-9645-3A9BAA2B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AE130E-4227-4DD0-BCF8-DB2EAF93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D1F2DD-EAF5-42A3-91F8-7014A127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採用・人事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C309D6-7E94-4E9A-945A-2C48E25F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No.045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A36013-91F3-4AA1-8BA2-D5FE8FD8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オンボーディング計画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E69953-FA22-4846-9FFE-5ADCED2C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入社初日から30日までの確認と支援を作ります.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63A330-C767-4721-A5CA-E65325A2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BD4D6C-C032-4807-8D88-8689EB4A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48DFAE-ED31-4D8C-87FE-29D8A6A1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4F30DE-7CA1-4CD7-BC19-5532E074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新入社員の30日オンボーディング計画を作ってください。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役割: [[役割]]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チーム: [[チーム]]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初月の成果: [[成果]]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週ごとに、学ぶこと / 触るシステム / 会う人 / 小さな成果物 / 確認する質問 / 支援担当を表にする。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本人の習熟度に合わせて調整できる余白も書く。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6D798A-841C-427E-B39C-419450CC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CD55C5-0F73-43DE-8844-20150F4D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B14DE0-90B0-4000-855F-0F2FC450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58A6D"/>
                </a:solidFill>
                <a:latin typeface="Aptos"/>
                <a:ea typeface="Aptos"/>
                <a:cs typeface="Aptos"/>
              </a:rPr>
              <a:t>#人事  #オンボーディング  #計画</a:t>
            </a:r>
          </a:p>
        </p:txBody>
      </p:sp>
    </p:spTree>
    <p:extLst>
      <p:ext uri="{BB962C8B-B14F-4D97-AF65-F5344CB8AC3E}">
        <p14:creationId xmlns:p14="http://schemas.microsoft.com/office/powerpoint/2010/main" val="1337359579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8571B7-5F15-4106-8B53-1EAD88BC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6ECB68-1A23-4491-A224-3B12F58F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050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7E16A0-D86D-414C-B582-B3EC2481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採用・人事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65604D-4F42-45DB-9EC2-0CAC0C3A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8DA068-5198-4EEC-8451-0E2C2802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評価コメントの下書き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ED4FC2-6F0F-44AD-AB34-25D77488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592A7"/>
                </a:solidFill>
                <a:latin typeface="Aptos"/>
                <a:ea typeface="Aptos"/>
                <a:cs typeface="Aptos"/>
              </a:rPr>
              <a:t>行動と成果に基づく、次の成長につながるコメントにします.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99FC10-04A1-403D-9F0C-672EA4CE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F89418-5C05-47C8-89F7-3BF18034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8BE177-4EF2-4009-95A4-AF4E820B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ACC18B-02B3-47AE-806A-656EBC10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評価コメントの下書きを作ってください。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役割: [[役割]]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期間: [[期間]]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成果・行動: [[事実]]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改善したい点: [[改善点]]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出力: 良かった行動 / 成果への貢献 / 次の期待 / 具体的な支援 / 本人に確認すること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性格評価や他人との比較を避け、観察可能な事実に基づく。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273672-A064-47B1-A119-4359FE91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3AC455-0372-4E7F-9C59-296DF9B1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9ED244-DB35-40BF-8D48-45367A77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4D6C6"/>
                </a:solidFill>
                <a:latin typeface="Aptos"/>
                <a:ea typeface="Aptos"/>
                <a:cs typeface="Aptos"/>
              </a:rPr>
              <a:t>#人事  #評価  #マネジメント</a:t>
            </a:r>
          </a:p>
        </p:txBody>
      </p:sp>
    </p:spTree>
    <p:extLst>
      <p:ext uri="{BB962C8B-B14F-4D97-AF65-F5344CB8AC3E}">
        <p14:creationId xmlns:p14="http://schemas.microsoft.com/office/powerpoint/2010/main" val="552371439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6BFCE7-47ED-4943-9C69-B4E6BE7F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2ED7FE-E905-4656-9E8F-260A12F3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051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3EE06B-D10B-4B64-A550-E9C37DDF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採用・人事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86CF1-0275-45A7-831B-CB10279A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No.047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92587D-4235-407B-B564-E8059BE8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研修アンケートの分析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E06D1C-1BA1-4192-B7E1-FFB96D70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自由記述から、次に変える研修設計を見つけます.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FD74F0-3D46-41A5-A353-9EFF5E07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7BC268-46BD-4F56-B170-2A320A84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421050-3612-45E4-B1A7-D549ABAE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1C0D61-3F24-4C94-B490-5ED01370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研修アンケートを分析してください。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入力: [[回答一覧]]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出力: 良かった点 / わかりにくかった点 / 実務で使えそうなこと / 使えない理由 / 繰り返し出るテーマ / 次回に試す改善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回答者数と自由記述の数を分け、少数意見を全体傾向と断定しない。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C498E2-9F9F-4456-B899-ED46368F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F822CC-A7D2-455C-B745-3DB74675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C0062A-05AC-40CF-A5B3-894D463C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58A6D"/>
                </a:solidFill>
                <a:latin typeface="Aptos"/>
                <a:ea typeface="Aptos"/>
                <a:cs typeface="Aptos"/>
              </a:rPr>
              <a:t>#人事  #研修  #分析</a:t>
            </a:r>
          </a:p>
        </p:txBody>
      </p:sp>
    </p:spTree>
    <p:extLst>
      <p:ext uri="{BB962C8B-B14F-4D97-AF65-F5344CB8AC3E}">
        <p14:creationId xmlns:p14="http://schemas.microsoft.com/office/powerpoint/2010/main" val="894306739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420A3A-2AF7-49BF-A4E9-0D2D746E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28DDC2-C14D-412B-A07E-01F16E56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052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EFB6BE-20A7-4A53-95EC-C2143EC1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採用・人事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20AF8E-2FEE-4CDB-B275-99B66829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8A152A-607C-49EF-B368-F966DB70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社内研修の教材骨子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AF3122-08E6-423A-8BED-18AADFF0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592A7"/>
                </a:solidFill>
                <a:latin typeface="Aptos"/>
                <a:ea typeface="Aptos"/>
                <a:cs typeface="Aptos"/>
              </a:rPr>
              <a:t>現場で使う場面から逆算して教材を組みます.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F7D644-6373-46A2-AA2C-8D98D9A6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4F02CC-7D81-4678-926F-F39F7BED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866ED3-A2CB-4E95-B920-B39D7F1C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1E2670-5BC3-4D23-8DEE-034C9AC6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社内研修の教材骨子を作ってください。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テーマ: [[テーマ]]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対象者: [[対象者]]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現場で起きている問題: [[問題]]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構成: 到達目標 / 10分の説明 / 実務演習 / よくある失敗 / 持ち帰るチェックリスト / 効果測定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知識を増やすだけでなく、研修後の行動を1つ定義する。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3EAD81-B310-483C-8C9E-C8D59A42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53B007-68AB-480D-A504-6F07B720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3CD5B8-F315-4738-AA5B-5F1FD8F3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4D6C6"/>
                </a:solidFill>
                <a:latin typeface="Aptos"/>
                <a:ea typeface="Aptos"/>
                <a:cs typeface="Aptos"/>
              </a:rPr>
              <a:t>#人事  #研修  #教材</a:t>
            </a:r>
          </a:p>
        </p:txBody>
      </p:sp>
    </p:spTree>
    <p:extLst>
      <p:ext uri="{BB962C8B-B14F-4D97-AF65-F5344CB8AC3E}">
        <p14:creationId xmlns:p14="http://schemas.microsoft.com/office/powerpoint/2010/main" val="1580068758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A518CB-C888-4F3F-A791-ADDD5F5B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6370CB-6826-4E6D-B79F-A38B588D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053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162FEA-332B-40EC-A0D7-93157B95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採用・人事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7FB78C-4FC2-45D4-BC7B-BE5C9648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No.049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88CAC9-BE5B-497D-AE44-D31B9D31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1on1の記録整理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A07FB7-1B68-45E0-BD0C-3D22CBBF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個人情報を広げず、次回の支援に必要な記録だけ残します.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BC2370-FEAE-42EA-A7FE-0F009EE2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7615DD-D4BD-40BF-A457-36D8C6EC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4C1341-795A-433D-9123-FD1C6508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DDC0D2-C49D-4F8E-8B87-A1627DEA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1on1のメモを整理してください。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入力: [[メモ]]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出力: 本人が話した仕事上の課題 / 合意した支援 / 次回までの行動 / 本人に再確認すること / 記録から削除すべき私的情報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診断や評価を勝手に加えず、本人の言葉と管理者の判断を分ける。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C62A4A-2C41-4751-8AEB-5E2C46F1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95DF94-7538-4587-BABF-B5C35106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88C1C9-253F-43CD-83E9-B8C4A04C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58A6D"/>
                </a:solidFill>
                <a:latin typeface="Aptos"/>
                <a:ea typeface="Aptos"/>
                <a:cs typeface="Aptos"/>
              </a:rPr>
              <a:t>#人事  #1on1  #記録</a:t>
            </a:r>
          </a:p>
        </p:txBody>
      </p:sp>
    </p:spTree>
    <p:extLst>
      <p:ext uri="{BB962C8B-B14F-4D97-AF65-F5344CB8AC3E}">
        <p14:creationId xmlns:p14="http://schemas.microsoft.com/office/powerpoint/2010/main" val="1624940822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717FD5-72FF-45E1-B142-4FA56878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18C381-11F3-490B-A61B-2F471166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054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A1A819-7DA4-4567-8C56-321F1627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採用・人事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4D487A-FA61-4665-BD1D-CFB1A7C8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No.050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DBA128-E7C3-4D86-8895-D07AB906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採用広報のストーリー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120B9-28A7-4925-BB9A-B748EDEE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592A7"/>
                </a:solidFill>
                <a:latin typeface="Aptos"/>
                <a:ea typeface="Aptos"/>
                <a:cs typeface="Aptos"/>
              </a:rPr>
              <a:t>実際の仕事と応募理由がつながる紹介文を作ります.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A49FD0-A7B4-49A0-AE7F-B8331D98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4D2276-2AAF-4F5E-AF6D-B10C656F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F063DB-34D8-4342-AC14-398560E8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8FC992-7DC6-4521-9E67-80A6769B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採用広報記事の骨子を作ってください。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会社: [[会社]]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職種: [[職種]]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実際の仕事: [[仕事内容]]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社員の事実コメント: [[コメント]]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構成: 仕事の背景 / 1日の流れ / 難しい点 / 支援体制 / 3か月後の期待 / 応募前に確認すべきこと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美談に寄せず、候補者が判断できる情報を優先する。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7E7633-D435-4320-8667-20F25BFE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D5A69C-C6A2-4562-95E2-A3667762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9E30BF-8714-404D-AFD1-F4014CAE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4D6C6"/>
                </a:solidFill>
                <a:latin typeface="Aptos"/>
                <a:ea typeface="Aptos"/>
                <a:cs typeface="Aptos"/>
              </a:rPr>
              <a:t>#採用  #広報  #記事</a:t>
            </a:r>
          </a:p>
        </p:txBody>
      </p:sp>
    </p:spTree>
    <p:extLst>
      <p:ext uri="{BB962C8B-B14F-4D97-AF65-F5344CB8AC3E}">
        <p14:creationId xmlns:p14="http://schemas.microsoft.com/office/powerpoint/2010/main" val="1628235711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AE14AD-8E56-4E64-8615-DC78698C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09EBED-42E5-40F7-B2E5-BB2A1BF7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055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83120F-F13A-4FA6-AECA-7DA2F0EA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バックオフィス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AF3C0B-3CBE-4820-9E49-FB266206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No.051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69B2C1-B2CA-459F-A368-FFEE0772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請求書の内容チェック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73E32C-700F-4C63-8D6B-4ED44B69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請求先、期間、金額、税区分の抜け漏れを確認します.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827C3A-A1B1-4B65-9594-4E00B12F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64FFD8-9D1F-4730-AE8C-F5E26B21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094C1D-B248-4911-AAF9-04140D52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4B56BA-B5BF-4674-80C6-C2E0CD6F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請求書の内容をチェックしてください。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請求書: [[請求書本文]]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契約・発注情報: [[契約情報]]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出力: 照合できた項目 / 不一致 / 欠落 / 担当者に確認する質問 / 送付前チェックリスト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金額の正しさを推測せず、根拠となる契約・発注に戻れない項目を明示する。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D88E58-DC39-4A85-B6AB-66B0D4DE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F5C094-576C-457B-BA37-15F29E3D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0B6931-6F3C-43D8-8B48-36940853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58A6D"/>
                </a:solidFill>
                <a:latin typeface="Aptos"/>
                <a:ea typeface="Aptos"/>
                <a:cs typeface="Aptos"/>
              </a:rPr>
              <a:t>#経理  #請求書  #チェック</a:t>
            </a:r>
          </a:p>
        </p:txBody>
      </p:sp>
    </p:spTree>
    <p:extLst>
      <p:ext uri="{BB962C8B-B14F-4D97-AF65-F5344CB8AC3E}">
        <p14:creationId xmlns:p14="http://schemas.microsoft.com/office/powerpoint/2010/main" val="1283016858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3F65EB-6D37-4BDA-AE74-A3F292D7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32B9F9-1C6F-4919-9D65-E111EF83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056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FA6DCB-5B27-40EC-A520-C3CB48EE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バックオフィス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1496F4-BF89-4D1F-943A-3426B9AF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No.052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E481A3-FE21-4D06-8F07-0A2F66AA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経費精算の差し戻し文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AFAD11-254C-4581-8A9F-030A61E5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592A7"/>
                </a:solidFill>
                <a:latin typeface="Aptos"/>
                <a:ea typeface="Aptos"/>
                <a:cs typeface="Aptos"/>
              </a:rPr>
              <a:t>必要な修正を、相手がすぐ直せる形で伝えます.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C18BB6-7354-4CAD-9B8B-86AF0129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5D78C2-7BB0-440F-B348-F21E4D1F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D6A88D-1029-4CCC-8454-E249EBF0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686B4C-74F2-4123-9580-C5E95A87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経費精算の差し戻し文を作ってください。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申請内容: [[申請内容]]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不足・不一致: [[不足]]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社内ルールの該当箇所: [[ルール]]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出力: 件名 / 丁寧な本文 / 修正してほしい項目の箇条書き / 添付が必要なもの / 不明なら問い合わせる窓口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責める表現を避け、ルールにない要求を追加しない。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68A5CD-F4E5-42F4-B593-7B69BB3A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A6BEB6-8881-45FE-AF9C-D3CE4713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809CAD-60E7-4E9E-9A01-8696E3F4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4D6C6"/>
                </a:solidFill>
                <a:latin typeface="Aptos"/>
                <a:ea typeface="Aptos"/>
                <a:cs typeface="Aptos"/>
              </a:rPr>
              <a:t>#経理  #経費  #文章</a:t>
            </a:r>
          </a:p>
        </p:txBody>
      </p:sp>
    </p:spTree>
    <p:extLst>
      <p:ext uri="{BB962C8B-B14F-4D97-AF65-F5344CB8AC3E}">
        <p14:creationId xmlns:p14="http://schemas.microsoft.com/office/powerpoint/2010/main" val="22432600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08704B-0E85-4530-8B41-ABB6BD18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6F7200-A19A-4738-B8E8-D0789FF9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057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97488B-614A-4F72-920C-B21F5CF4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バックオフィス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A4EF2-2873-4A4D-A2C9-419802E2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No.053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C0CDE7-E5C0-441A-BF1D-6EBE7377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契約更新の確認表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85AC0F-3869-4535-AC2C-8E823B1D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更新前に条件と担当を一覧で確認します.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02A699-C125-4614-B7DA-CB42D81F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8DB801-50D8-46B7-844B-920268E0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59A2C4-C7BA-4857-9B0F-52F6F79E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3368C6-7FFE-4BF0-8445-39A1886F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契約更新の確認表を作ってください。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契約情報: [[契約情報]]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列: 契約先 / 更新日 / 解約予告期限 / 金額 / 利用部署 / 更新判断者 / 確認する変更点 / 必要な承認 / リスク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不明な項目は空欄ではなく「契約書・担当に確認」とする。法律判断はしない。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B95934-6991-4563-9654-1E3FE91B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C14F5F-553F-4BF9-B712-BC93796B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8B99EF-9397-412D-9D65-3CA71EAE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58A6D"/>
                </a:solidFill>
                <a:latin typeface="Aptos"/>
                <a:ea typeface="Aptos"/>
                <a:cs typeface="Aptos"/>
              </a:rPr>
              <a:t>#バックオフィス  #契約  #管理</a:t>
            </a:r>
          </a:p>
        </p:txBody>
      </p:sp>
    </p:spTree>
    <p:extLst>
      <p:ext uri="{BB962C8B-B14F-4D97-AF65-F5344CB8AC3E}">
        <p14:creationId xmlns:p14="http://schemas.microsoft.com/office/powerpoint/2010/main" val="1138222365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9E2590-F0E4-449B-A8D3-32402B58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1ED2C7-93DF-48DE-A8ED-C9F143CF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058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4C795D-FDEE-4228-9865-B61F1A3C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バックオフィス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519A00-1D45-41F3-AA33-04546853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No.054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C088C4-C4BA-42D7-B644-AE93F5D0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社内申請の要件整理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B4BC7-91C2-4866-8C3F-497F97AD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592A7"/>
                </a:solidFill>
                <a:latin typeface="Aptos"/>
                <a:ea typeface="Aptos"/>
                <a:cs typeface="Aptos"/>
              </a:rPr>
              <a:t>申請者が迷わない入力項目と添付資料を作ります.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ACA309-855F-47A9-AA1C-6C4E0345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DA4FBE-2226-4CA8-8739-FE2742E7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327D46-9502-46CD-BA55-E43E6A1E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98A535-D2D8-4CAF-934E-820C0E55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社内申請の要件を整理してください。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申請名: [[申請名]]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目的: [[目的]]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現在のルール: [[ルール]]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出力: 申請が必要なケース / 不要なケース / 必須入力 / 添付資料 / 承認者 / 申請後の処理 / よくある不備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ルールに書かれていない判断は「管理者確認」とする。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DFD091-CB38-4A6F-AD65-FE885DEB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578EC0-FA99-435A-83BB-226CE4CC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A1388A-D078-40DC-8292-3736634D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4D6C6"/>
                </a:solidFill>
                <a:latin typeface="Aptos"/>
                <a:ea typeface="Aptos"/>
                <a:cs typeface="Aptos"/>
              </a:rPr>
              <a:t>#バックオフィス  #申請  #業務設計</a:t>
            </a:r>
          </a:p>
        </p:txBody>
      </p:sp>
    </p:spTree>
    <p:extLst>
      <p:ext uri="{BB962C8B-B14F-4D97-AF65-F5344CB8AC3E}">
        <p14:creationId xmlns:p14="http://schemas.microsoft.com/office/powerpoint/2010/main" val="1730143306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DF6FC6-8AF1-4958-A11D-F46375CD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EDA72E-4ED7-40D6-BDCA-19712CED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059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E64957-F6D2-4828-A289-F15D0D7E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バックオフィス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B9396E-0901-4F43-AAA4-AA498F3B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No.055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E4B27A-A203-4E0B-B1EF-0963FD53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マニュアルの手順化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FED31C-6D9C-47D9-BAB5-D116D47D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経験者の説明を、初めての人が動ける手順に変えます.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158019-B1F8-4966-B5B4-2C2542B8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1542C1-9DA8-4954-8C4C-F7E69693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191000-C28A-4019-8B77-9C288919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F99BB1-5D79-4778-A3DF-BEB0C61C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次の説明を、初心者向けの業務手順書にしてください。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説明: [[説明]]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出力: 目的 / 対象者 / 事前条件 / 手順 / 判断が分かれる箇所 / 完了条件 / 失敗したときの戻り方 / 更新担当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暗黙の前提を推測で埋めず、確認が必要な箇所を明示する。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C6B026-967E-46CA-805A-9164EE73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5D8738-2C9B-465B-93E2-33E67394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EDD719-AB94-4386-A672-5B171B69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58A6D"/>
                </a:solidFill>
                <a:latin typeface="Aptos"/>
                <a:ea typeface="Aptos"/>
                <a:cs typeface="Aptos"/>
              </a:rPr>
              <a:t>#業務改善  #手順書  #属人化</a:t>
            </a:r>
          </a:p>
        </p:txBody>
      </p:sp>
    </p:spTree>
    <p:extLst>
      <p:ext uri="{BB962C8B-B14F-4D97-AF65-F5344CB8AC3E}">
        <p14:creationId xmlns:p14="http://schemas.microsoft.com/office/powerpoint/2010/main" val="509005429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81FD02-C1DD-4656-BBFA-602DB85D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DDFCC1-3518-4618-B02F-76077CCF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060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0A5F90-C60D-484B-877C-725B3907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バックオフィス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B1CB14-A201-4FFE-9E2F-90D0D09B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No.056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D6AA68-8E8D-4FF3-AE13-8A7B2246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データ入力の照合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842FEA-5647-4B0A-B59A-A1D1D757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592A7"/>
                </a:solidFill>
                <a:latin typeface="Aptos"/>
                <a:ea typeface="Aptos"/>
                <a:cs typeface="Aptos"/>
              </a:rPr>
              <a:t>2つの一覧の差分と照合不能な行を見つけます.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C0CEB-4E3A-4B19-8EC2-BE2382C9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50D33D-BDA6-432E-BC99-5D782926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DF8CB7-AA33-4BCA-A50E-8A65C795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0259BC-572D-4CD9-A689-56D95009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2つのデータ一覧を照合してください。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一覧A: [[一覧A]]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一覧B: [[一覧B]]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キー項目: [[照合キー]]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出力: 一致 / Aにだけある / Bにだけある / キーが重複 / 値が異なる / 人が確認する行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値を補完したり、同じだと推測したりせず、比較できた範囲だけ報告する。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5BE1B0-AA1D-49BB-8A8A-13EC2CDA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FF2048-4691-4E5A-94F8-77225917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B03552-D79B-4810-AF2C-507785CB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4D6C6"/>
                </a:solidFill>
                <a:latin typeface="Aptos"/>
                <a:ea typeface="Aptos"/>
                <a:cs typeface="Aptos"/>
              </a:rPr>
              <a:t>#バックオフィス  #データ  #照合</a:t>
            </a:r>
          </a:p>
        </p:txBody>
      </p:sp>
    </p:spTree>
    <p:extLst>
      <p:ext uri="{BB962C8B-B14F-4D97-AF65-F5344CB8AC3E}">
        <p14:creationId xmlns:p14="http://schemas.microsoft.com/office/powerpoint/2010/main" val="1931746835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5B194A-5E39-433D-9BAA-77B2F932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E5EEDB-2C50-46BB-A2B4-1191287D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061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784A5B-59D0-40C1-941C-77F89E8E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バックオフィス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BE3617-4DEC-4A0E-A50D-EECDEA8F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No.057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0906C4-2CEF-4398-82D4-91E19B3D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月次報告の骨子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666B2C-B1B6-44B9-BF7B-C5B1D362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数字の羅列ではなく、判断につながる月次報告にします.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03725A-606A-4A91-8A14-45F3CA3E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AC02E6-4D12-4D44-9740-534AB7A2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BD6606-850B-47B4-BFA1-22120737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FD0952-1D58-4C29-A2ED-53CC79A4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月次報告の骨子を作ってください。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部署: [[部署]]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今月の数字: [[数字]]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先月・計画との差: [[差分]]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出力: 要約 / 主要指標 / 差分 / 変化の仮説 / リスク / 来月の行動 / 経営に確認したいこと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数字の定義、期間、母数が不明な場合は確認欄を作る。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8B11CA-380A-48A9-9F98-DD50B5EC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81074F-23A5-4A37-9256-081D3FFE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C348F1-A0B8-4F95-9C20-4F38AA53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58A6D"/>
                </a:solidFill>
                <a:latin typeface="Aptos"/>
                <a:ea typeface="Aptos"/>
                <a:cs typeface="Aptos"/>
              </a:rPr>
              <a:t>#バックオフィス  #月次報告  #レポート</a:t>
            </a:r>
          </a:p>
        </p:txBody>
      </p:sp>
    </p:spTree>
    <p:extLst>
      <p:ext uri="{BB962C8B-B14F-4D97-AF65-F5344CB8AC3E}">
        <p14:creationId xmlns:p14="http://schemas.microsoft.com/office/powerpoint/2010/main" val="240509382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91B05F-6FF0-4B79-A068-A603CCBC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B1ACAD-4F3A-41E2-848A-CEFA06D9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062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9A2FD8-9BED-4E81-895A-4DCAF11F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バックオフィス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877DB5-F1E5-41FC-940F-E33A616D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No.058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8D4AD0-6154-4B07-9F44-6EBF1BEC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社内メールの定型化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C69AAD-F324-48AB-BD4E-D702255A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592A7"/>
                </a:solidFill>
                <a:latin typeface="Aptos"/>
                <a:ea typeface="Aptos"/>
                <a:cs typeface="Aptos"/>
              </a:rPr>
              <a:t>毎月発生する連絡を、差し替え項目つきのテンプレにします.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255808-F251-47DD-B3C3-A2C575C9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D4E23F-7CAB-4003-9ED3-8071AE55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DCCAE7-EC1D-45CA-B524-E8FA425F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D5E488-FEAC-4E87-9DFB-AB5133DB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次の社内連絡を定型メールにしてください。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原文: [[原文]]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毎回変わる項目: [[項目]]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出力: 件名テンプレ / 本文テンプレ / 差し替え項目 / 送信前確認 / 例外時の分岐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情報がない箇所を例で埋める場合は、例と明示する。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4B5437-354F-49BF-8508-115DB83B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A0061F-9DFA-4D37-8B9E-CB93C46D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5100CC-70F8-4778-BAB2-F54A5E62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4D6C6"/>
                </a:solidFill>
                <a:latin typeface="Aptos"/>
                <a:ea typeface="Aptos"/>
                <a:cs typeface="Aptos"/>
              </a:rPr>
              <a:t>#バックオフィス  #メール  #標準化</a:t>
            </a:r>
          </a:p>
        </p:txBody>
      </p:sp>
    </p:spTree>
    <p:extLst>
      <p:ext uri="{BB962C8B-B14F-4D97-AF65-F5344CB8AC3E}">
        <p14:creationId xmlns:p14="http://schemas.microsoft.com/office/powerpoint/2010/main" val="741640354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8B6E8E-C5B1-4F8A-8943-F8DDBF54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4FC65F-686A-4656-9E5C-4F70EB27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063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987A49-27EE-46E8-875F-2AD4E8CB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バックオフィス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9472C8-3F59-463A-BEA5-BC59CDE5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No.059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A800BA-B058-4531-B39A-5CF0DFC6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業務の引き継ぎ表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5A0943-A5FF-47BA-B9C6-B161D65D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担当者が変わっても止まらない引き継ぎ項目を作ります.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DD46FD-928C-49A3-8400-5C68D78D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0280FA-0FFB-438F-B450-6044CA40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566E85-5CF0-476F-BE72-47DE02B5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36A2FC-5437-495F-97EE-43EAF047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業務の引き継ぎ表を作ってください。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業務: [[業務名]]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現在の担当者の説明: [[説明]]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列: 業務の目的 / 発生タイミング / 手順 / 入力 / 出力 / 例外 / 期限 / 関係者 / 保存場所 / 後任の練習課題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口頭でしか分からない部分は、確認タスクとして残す。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1F4EF7-CD96-466C-A568-00EEC8DA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167210-D811-4285-ABD4-02AB11AC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B2282F-A211-43E4-B1D8-F6FA7355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58A6D"/>
                </a:solidFill>
                <a:latin typeface="Aptos"/>
                <a:ea typeface="Aptos"/>
                <a:cs typeface="Aptos"/>
              </a:rPr>
              <a:t>#バックオフィス  #引き継ぎ  #標準化</a:t>
            </a:r>
          </a:p>
        </p:txBody>
      </p:sp>
    </p:spTree>
    <p:extLst>
      <p:ext uri="{BB962C8B-B14F-4D97-AF65-F5344CB8AC3E}">
        <p14:creationId xmlns:p14="http://schemas.microsoft.com/office/powerpoint/2010/main" val="234704991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416D7B-667F-4D7A-92BF-2E9AC663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19E367-EC14-408D-BBC8-481CDB03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064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24DFE5-09A7-4C9B-AF50-8A6AA89A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バックオフィス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FBC49F-FEDA-4956-8E06-D8295CBF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No.060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323993-5041-4003-88C2-A247F27B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社内規程のやさしい要約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0954B6-1D13-4D56-9965-C8D54F32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592A7"/>
                </a:solidFill>
                <a:latin typeface="Aptos"/>
                <a:ea typeface="Aptos"/>
                <a:cs typeface="Aptos"/>
              </a:rPr>
              <a:t>規程の意味を変えず、現場が使える説明にします.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554D11-28C8-4B53-9F0E-9364A276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09B8A4-8AD7-4586-BB6C-B59FCFCA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254DC8-C612-476B-B31D-A7CAE9F3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67B60B-377F-408D-B4E6-FC6C4E63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以下の社内規程を、現場向けに要約してください。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規程: [[規程本文]]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出力: 何のための規程か / 対象者 / 必ず守ること / 迷いやすい例 / 申請・相談先 / 原文に戻るリンク案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法的判断や規程にない例外を追加しない。原文と要約の違いが分かるようにする。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910B09-337C-4146-8908-1A0E378A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41EE92-5ECF-4723-9D65-41E4CFF5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8C2EBC-1C3A-4A54-B5F6-ABB55E5A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4D6C6"/>
                </a:solidFill>
                <a:latin typeface="Aptos"/>
                <a:ea typeface="Aptos"/>
                <a:cs typeface="Aptos"/>
              </a:rPr>
              <a:t>#バックオフィス  #規程  #要約</a:t>
            </a:r>
          </a:p>
        </p:txBody>
      </p:sp>
    </p:spTree>
    <p:extLst>
      <p:ext uri="{BB962C8B-B14F-4D97-AF65-F5344CB8AC3E}">
        <p14:creationId xmlns:p14="http://schemas.microsoft.com/office/powerpoint/2010/main" val="160335184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D5DC51-91CA-48B1-90F7-C301B1E4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2F000A-6D55-442A-AA24-48D9C06B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065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D657AD-28BD-43EA-9C25-EE999B64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経営・企画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067553-23C1-4B6C-89CD-C49E6C8C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No.061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1A1C35-B106-42A5-80DA-A89A130C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経営課題の論点分解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4B10C-EF8D-4FF3-B19D-A9E261B5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大きな悩みを、調べられる問いに分解します.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BAAD56-0404-4DC9-AFD1-18D0A106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A276C0-2028-447B-A779-18B7039A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C78A72-A125-4261-8F48-D3BBCE27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5003C9-E167-45D1-8921-0522EB7A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経営課題を論点分解してください。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課題: [[課題]]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現状の事実: [[事実]]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出力: 目的 / 問題の構造 / 影響 / すぐ確認できる数字 / 仮説 / 選択肢 / 判断基準 / 最初の小さな実験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原因を断定せず、仮説には検証方法を付ける。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62AAE3-9C41-43C5-932E-216CB629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D0F575-C338-411D-B89B-7FFDDA35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83F6BA-1CDC-4E4D-95C4-332176C8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58A6D"/>
                </a:solidFill>
                <a:latin typeface="Aptos"/>
                <a:ea typeface="Aptos"/>
                <a:cs typeface="Aptos"/>
              </a:rPr>
              <a:t>#経営  #論点  #企画</a:t>
            </a:r>
          </a:p>
        </p:txBody>
      </p:sp>
    </p:spTree>
    <p:extLst>
      <p:ext uri="{BB962C8B-B14F-4D97-AF65-F5344CB8AC3E}">
        <p14:creationId xmlns:p14="http://schemas.microsoft.com/office/powerpoint/2010/main" val="1775177690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F11032-37AE-419C-A236-EBCB863C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E0BA88-C9C0-4C04-A888-AFDE1483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066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2BD8B1-1A1A-48B3-9E59-13EB0379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経営・企画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01906-11DF-42BD-B551-BF23BA9B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No.062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F17608-965B-4F6B-A6FE-E0D16C38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施策の優先順位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3783D4-FD74-43D2-B0B7-B7B1AB9A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592A7"/>
                </a:solidFill>
                <a:latin typeface="Aptos"/>
                <a:ea typeface="Aptos"/>
                <a:cs typeface="Aptos"/>
              </a:rPr>
              <a:t>効果だけでなく、実行可能性と検証の速さも見ます.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ED7D53-2EF1-4C0A-923A-5842C9C4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C03B12-70EB-4684-82D5-9CEB8600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A6FDAE-E68A-45E2-BE8B-0D231362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188A81-99C6-4624-BE2D-DF2BCAEC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施策一覧を優先順位づけしてください。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施策: [[施策一覧]]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評価軸: 影響 / 期限 / 実行コスト / 既存資産の利用度 / 検証までの時間 / リスク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出力: 今やる3つ / 条件付きでやるもの / 保留 / やめる候補 / 判断に必要な追加情報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点数だけで結論を出さず、理由を一文で残す。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D68541-2C5C-4B10-8320-8E249256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696D14-CB92-4345-A753-3CF52F7B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9A253D-986B-4363-AF18-D2E1AB21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4D6C6"/>
                </a:solidFill>
                <a:latin typeface="Aptos"/>
                <a:ea typeface="Aptos"/>
                <a:cs typeface="Aptos"/>
              </a:rPr>
              <a:t>#経営  #優先順位  #意思決定</a:t>
            </a:r>
          </a:p>
        </p:txBody>
      </p:sp>
    </p:spTree>
    <p:extLst>
      <p:ext uri="{BB962C8B-B14F-4D97-AF65-F5344CB8AC3E}">
        <p14:creationId xmlns:p14="http://schemas.microsoft.com/office/powerpoint/2010/main" val="1016906425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BD07B5-7272-4CBC-B1DA-05D737A5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0EEE4B-E4D6-4459-AF59-E24FBC02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067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678377-204E-4D74-8728-A3B5EDDE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経営・企画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48BEF9-7F8D-482B-89BD-A660D48A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No.063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C92990-B578-47FF-A5BD-6667E811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新規事業の仮説キャンバス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B4E5F5-C7DF-434C-8AD4-2DB48E9C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顧客、課題、価値、検証を一枚にします.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EEA3B4-419B-4E25-AD3D-119195DA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B0135B-EC3C-437A-8718-99134465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24C44D-4D3C-47A8-AC67-E4EA10CC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C39B39-F5B8-4656-BE77-1EBE4653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新規事業の仮説キャンバスを作ってください。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アイデア: [[アイデア]]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出力: 顧客 / 顧客の状況 / 未解決の問題 / 代替手段 / 提供価値 / 収益の仮説 / 主要コスト / 最初の検証 / 撤退条件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事実と仮説を分け、検証前の市場規模を断定しない。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7B009C-5228-4E12-AE73-A12C25AB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A3AC34-5277-4884-8735-E12609CA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F6669E-A8F7-416D-B819-8CAB2754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58A6D"/>
                </a:solidFill>
                <a:latin typeface="Aptos"/>
                <a:ea typeface="Aptos"/>
                <a:cs typeface="Aptos"/>
              </a:rPr>
              <a:t>#経営  #新規事業  #仮説</a:t>
            </a:r>
          </a:p>
        </p:txBody>
      </p:sp>
    </p:spTree>
    <p:extLst>
      <p:ext uri="{BB962C8B-B14F-4D97-AF65-F5344CB8AC3E}">
        <p14:creationId xmlns:p14="http://schemas.microsoft.com/office/powerpoint/2010/main" val="1843654256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36CB9F-6C55-482E-87E4-9309EBD4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717B4A-6B16-4533-AB1C-B9F893D3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068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FEBCE0-B3CF-462C-A8D6-770482D7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経営・企画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C21D17-9C59-4978-935B-845E6914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No.064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8504F1-7724-43FC-83B7-CB3C65C5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KPIの定義整理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B4FABA-B5C6-44FB-BF5A-ACDD85DB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592A7"/>
                </a:solidFill>
                <a:latin typeface="Aptos"/>
                <a:ea typeface="Aptos"/>
                <a:cs typeface="Aptos"/>
              </a:rPr>
              <a:t>同じ数字を同じ意味で見られる定義書を作ります.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22D25C-9562-4D48-B2A6-3303DC47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2E6F41-AF6B-4746-A9A3-64A5ABFE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C072AA-15FA-462E-B314-2F1DF2C5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EC2370-3BED-46A5-9464-369CDBEA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KPI定義書を作ってください。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指標候補: [[指標候補]]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事業の目的: [[目的]]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各指標に、名称 / 定義 / 分子 / 分母 / 期間 / データ元 / 更新頻度 / 見る人 / 変化したときの行動を付ける。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測れないものは無理にKPIにせず、観察項目として分ける。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5474C3-2EA4-49F3-8375-ED534F7D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3584B7-3AED-467A-B0D9-BECA0DA1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D82FD8-EDC3-4C3D-AD87-F3A95E9B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4D6C6"/>
                </a:solidFill>
                <a:latin typeface="Aptos"/>
                <a:ea typeface="Aptos"/>
                <a:cs typeface="Aptos"/>
              </a:rPr>
              <a:t>#経営  #KPI  #計測</a:t>
            </a:r>
          </a:p>
        </p:txBody>
      </p:sp>
    </p:spTree>
    <p:extLst>
      <p:ext uri="{BB962C8B-B14F-4D97-AF65-F5344CB8AC3E}">
        <p14:creationId xmlns:p14="http://schemas.microsoft.com/office/powerpoint/2010/main" val="1521922838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9A6184-7888-4CAB-AAA3-D52594F3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CB8B3C-6963-437C-B3BC-0C814952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65201B-3A45-4CA0-9539-3C6AE76C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経営・企画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441EBC-C3A7-4A79-BFD2-7400F6AB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No.065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70B10E-F178-49E7-81E3-2A342FBD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週次経営会議の要約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E61743-101A-4993-BE46-13C60E03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今週の変化と、来週の判断を短くまとめます.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76C327-072F-4874-8961-0AF5E767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676041-7F2B-4750-AE68-56C18992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66D406-FBF7-4F4E-937C-09F6AE31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52A575-8F08-43F1-AD7C-0EC4434D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週次経営会議の要約を作ってください。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入力: [[数字・議論・決定事項]]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出力: 今週の変化 / 経営に効く論点 / 決めたこと / まだ決めないこと / 来週見る数字 / 責任者 / 経営者への質問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変化がないことも事実として扱い、推測は仮説と書く。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A640E4-1727-4CD7-A8E5-398ADA07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724EBE-8B23-4965-A803-9E73D8BC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2D672E-AA07-4D7A-9155-1B5C25F1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58A6D"/>
                </a:solidFill>
                <a:latin typeface="Aptos"/>
                <a:ea typeface="Aptos"/>
                <a:cs typeface="Aptos"/>
              </a:rPr>
              <a:t>#経営  #週次  #要約</a:t>
            </a:r>
          </a:p>
        </p:txBody>
      </p:sp>
    </p:spTree>
    <p:extLst>
      <p:ext uri="{BB962C8B-B14F-4D97-AF65-F5344CB8AC3E}">
        <p14:creationId xmlns:p14="http://schemas.microsoft.com/office/powerpoint/2010/main" val="1401379016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374B90-BB0D-4C42-92EB-E6345958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A231EB-D6C2-40C5-B64A-C9B3E7AC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070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37A1F8-6AC3-4BEE-9D84-F76E0C39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経営・企画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48F99-CDAF-49DD-BA9D-224A44B1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No.066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B2CEBC-C606-40DA-A324-240E6A19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意思決定メモ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617D38-D34A-46EE-BF3E-52FF0B9E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592A7"/>
                </a:solidFill>
                <a:latin typeface="Aptos"/>
                <a:ea typeface="Aptos"/>
                <a:cs typeface="Aptos"/>
              </a:rPr>
              <a:t>判断の前提と、あとで見直す条件を残します.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DF1E3E-598D-4482-9FEC-C71AA72D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7C1576-E2DF-478A-9F83-58587BE8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5275D3-DDC7-44CA-86BD-887FD1BB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31F9DF-F672-4944-A424-D68C88BA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意思決定メモを作ってください。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議題: [[議題]]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選択肢: [[選択肢]]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判断材料: [[材料]]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出力: 決めること / 推奨案 / 理由 / 前提 / 反対意見 / 実行責任者 / 期限 / 見直し条件 / 見直し日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情報不足のまま断定せず、保留する場合の期限も提案する。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1C86DD-B67B-4F90-9DCE-1BD9C88D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F6E577-D60D-4D51-A491-C0985FE0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9135D7-E368-4C3F-8A8F-32A4031C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4D6C6"/>
                </a:solidFill>
                <a:latin typeface="Aptos"/>
                <a:ea typeface="Aptos"/>
                <a:cs typeface="Aptos"/>
              </a:rPr>
              <a:t>#経営  #意思決定  #メモ</a:t>
            </a:r>
          </a:p>
        </p:txBody>
      </p:sp>
    </p:spTree>
    <p:extLst>
      <p:ext uri="{BB962C8B-B14F-4D97-AF65-F5344CB8AC3E}">
        <p14:creationId xmlns:p14="http://schemas.microsoft.com/office/powerpoint/2010/main" val="1558968746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75CA32-93F7-4AE2-9FDD-333022CB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104892-E8A5-49D8-A37D-DF46776A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071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B2D952-3352-46B1-9B01-4001FB76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経営・企画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056897-3E72-44DB-82B8-9022AF69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No.067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1AE09E-BC8A-4B17-90EC-A3E498B5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事業計画のリスク洗い出し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D80521-C978-4FAB-B241-DFBAD15F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計画が崩れる条件と、早期シグナルを整理します.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1B93DB-18E9-46DF-AEB4-2E985153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A395FD-C0EC-41F6-9656-A2BA473D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7BAE8-C7F9-4A35-BA1E-F47BCF8E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63B0F5-B7ED-44F5-9407-057CAA68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事業計画のリスクを整理してください。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計画: [[計画]]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前提: [[前提]]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出力: リスク / 起きる条件 / 早期シグナル / 影響 / 予防策 / 起きた後の対応 / 監視する担当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低確率でも重大なものと、起こりやすい小さなものを分ける。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DC4F98-F139-4AB3-9E48-2EBBFD43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81931A-4ABE-42F8-B0C1-4ACFCB06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F71D01-93AA-4C64-804B-2758C914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58A6D"/>
                </a:solidFill>
                <a:latin typeface="Aptos"/>
                <a:ea typeface="Aptos"/>
                <a:cs typeface="Aptos"/>
              </a:rPr>
              <a:t>#経営  #リスク  #計画</a:t>
            </a:r>
          </a:p>
        </p:txBody>
      </p:sp>
    </p:spTree>
    <p:extLst>
      <p:ext uri="{BB962C8B-B14F-4D97-AF65-F5344CB8AC3E}">
        <p14:creationId xmlns:p14="http://schemas.microsoft.com/office/powerpoint/2010/main" val="1849467329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3B285E-BB05-44EE-89D3-D3359374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511A7E-E2C2-4E5D-9F0E-C48E4847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072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D85B8D-2765-47CC-8A66-BDD5C996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経営・企画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D3F227-5C47-48CA-885F-BF8832D3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No.068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DA750C-EEC0-4B61-83D2-C8C86950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サービスの価値提案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20FFEE-979C-4255-A951-2B25DBF4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592A7"/>
                </a:solidFill>
                <a:latin typeface="Aptos"/>
                <a:ea typeface="Aptos"/>
                <a:cs typeface="Aptos"/>
              </a:rPr>
              <a:t>機能ではなく、顧客の変化でサービスを説明します.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A1B06E-12A5-43D7-ACC1-373AE1A4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234EB2-719E-4E80-8895-823DF828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17CE94-A5CD-41D9-A393-C57E723F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D1B5E7-E17B-44D1-B591-C8345B9B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サービスの価値提案を作ってください。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サービス: [[サービス]]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対象顧客: [[対象]]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顧客の現状: [[現状]]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顧客が得たい変化: [[変化]]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出力: 一文の価値提案 / 顧客の状況 / 仕組み / 証拠 / できないこと / 代替手段との違い / 確認すべき前提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「必ず」「誰でも」などの保証表現を避ける。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1C815C-EA41-408E-8FAE-6651D7E9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E8B039-69F6-43F4-B87D-BB8ED42F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160C1C-ECA2-4321-81A0-CCDBCECA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4D6C6"/>
                </a:solidFill>
                <a:latin typeface="Aptos"/>
                <a:ea typeface="Aptos"/>
                <a:cs typeface="Aptos"/>
              </a:rPr>
              <a:t>#経営  #価値提案  #営業</a:t>
            </a:r>
          </a:p>
        </p:txBody>
      </p:sp>
    </p:spTree>
    <p:extLst>
      <p:ext uri="{BB962C8B-B14F-4D97-AF65-F5344CB8AC3E}">
        <p14:creationId xmlns:p14="http://schemas.microsoft.com/office/powerpoint/2010/main" val="2033590934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4B6318-AD83-47F1-B5D4-0153675B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89E61C-3DE8-48AD-A1B4-2B738A88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073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80DF92-38EB-48B7-A06B-55BCE928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経営・企画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5370AF-FAD2-417A-93BB-27785FDA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No.069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078228-2D65-4FA4-9186-0524D4B2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プロジェクト計画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2E8D79-36EC-4265-B497-4B21302B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成果物と判断点から、無理のない計画にします.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C02EC2-D0AF-4EA5-A9C2-2435A2BD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2B67B7-0923-440B-B936-D354A908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8D1B40-E146-4900-9E25-15E9BA98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6E36B8-96FE-4624-8F8D-04E02BAF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プロジェクト計画を作ってください。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目的: [[目的]]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期限: [[期限]]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メンバー: [[メンバー]]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制約: [[制約]]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出力: マイルストーン / 成果物 / 担当 / 前提 / 依存関係 / 判断点 / リスク / 週次の確認項目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期限から逆算し、担当不明の作業を残さない。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AB2C8A-D7A6-4CC2-AB2E-B84ECCF4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0B9A2A-8FA3-4F3A-B215-BEFC7144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4D16B8-3249-4119-ABE4-026F5CA0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58A6D"/>
                </a:solidFill>
                <a:latin typeface="Aptos"/>
                <a:ea typeface="Aptos"/>
                <a:cs typeface="Aptos"/>
              </a:rPr>
              <a:t>#経営  #計画  #プロジェクト</a:t>
            </a:r>
          </a:p>
        </p:txBody>
      </p:sp>
    </p:spTree>
    <p:extLst>
      <p:ext uri="{BB962C8B-B14F-4D97-AF65-F5344CB8AC3E}">
        <p14:creationId xmlns:p14="http://schemas.microsoft.com/office/powerpoint/2010/main" val="1404541832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C1A330-7E56-412C-8648-AF1DCDE6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5285A4-142C-444C-9014-4AC146A2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074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204231-4112-4C8B-AADD-38991A16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経営・企画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1CDCDA-05D2-4F1F-B4AE-DE8F9F35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No.070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E1CB7-3680-4BD4-8C26-0639F935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会議なしで進める報告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3E614C-E384-4AEB-8137-A285E090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592A7"/>
                </a:solidFill>
                <a:latin typeface="Aptos"/>
                <a:ea typeface="Aptos"/>
                <a:cs typeface="Aptos"/>
              </a:rPr>
              <a:t>忙しい意思決定者が読む順番で週次報告を作ります.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1A2038-3340-4EC3-B2E4-09432156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58BE67-DCE5-4099-AD4B-3A34C086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8D7CA8-7CED-487F-BF35-7B431844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2C46DB-1019-4B16-9251-AE599A0F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次の情報を、会議前に読める週次報告にしてください。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入力: [[進捗・数字・問題]]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構成: 30秒要約 / 先週からの変化 / 完了 / 遅れ / 判断してほしいこと / 次週の予定 / 添付資料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結論を先に置き、判断不要の詳細は折りたたみ候補として分ける。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A71B3E-A618-40BC-8FBA-078EFD87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6BA59F-B3EB-4C3B-B54C-0F4F8A42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AB6B21-E670-4E67-9869-D7BF9AAF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4D6C6"/>
                </a:solidFill>
                <a:latin typeface="Aptos"/>
                <a:ea typeface="Aptos"/>
                <a:cs typeface="Aptos"/>
              </a:rPr>
              <a:t>#経営  #報告  #文章</a:t>
            </a:r>
          </a:p>
        </p:txBody>
      </p:sp>
    </p:spTree>
    <p:extLst>
      <p:ext uri="{BB962C8B-B14F-4D97-AF65-F5344CB8AC3E}">
        <p14:creationId xmlns:p14="http://schemas.microsoft.com/office/powerpoint/2010/main" val="63438162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8E8778-6492-4660-B417-26251578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B3D440-A73E-4648-AFC3-9E18ADCA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075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CFC1F-4D1F-40F3-8187-AC14ED4A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社内ナレッジ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625431-086E-4921-86D0-1241D56E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No.071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5EB765-D658-47E9-9457-171236AB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社内FAQのたたき台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DDF03E-0996-4CA6-A4D6-2D4C7722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質問、答え、根拠、更新責任を一組にします.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85D2FC-6F92-48A0-A366-3512F5EB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E0895C-17BD-42A6-BE7C-103B6872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45D23-95EA-40DF-8F5E-4A937ED2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264716-EFC7-4F6D-8CFB-920EB74E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社内FAQのたたき台を作ってください。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元資料: [[規程・手順書・過去回答]]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利用者: [[部署・役割]]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出力: 質問タイトル / 短い回答 / 手順 / 根拠資料の場所 / 適用範囲 / 例外 / 更新担当 / 次回確認日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根拠が見つからない回答は「要確認」とし、推測で埋めない。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6102CD-AC93-45EB-A74B-CB071029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62C7D7-185F-4D36-A6AF-BCA292E2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C73BE2-2692-447F-ABC5-A04ED010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58A6D"/>
                </a:solidFill>
                <a:latin typeface="Aptos"/>
                <a:ea typeface="Aptos"/>
                <a:cs typeface="Aptos"/>
              </a:rPr>
              <a:t>#ナレッジ  #FAQ  #社内</a:t>
            </a:r>
          </a:p>
        </p:txBody>
      </p:sp>
    </p:spTree>
    <p:extLst>
      <p:ext uri="{BB962C8B-B14F-4D97-AF65-F5344CB8AC3E}">
        <p14:creationId xmlns:p14="http://schemas.microsoft.com/office/powerpoint/2010/main" val="1061587933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10B67B-4952-48E5-8B7D-6EDBD9A1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FA661B-4C83-4F73-B429-49F66BE5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076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13206C-0158-4498-9A87-E93B966A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社内ナレッジ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DBDB7B-E50A-4196-81A0-BBA821A0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No.072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19D08C-D7E5-4501-B101-61F1A08F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資料の重複整理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36F84B-5AFF-4951-94AD-69118A6B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592A7"/>
                </a:solidFill>
                <a:latin typeface="Aptos"/>
                <a:ea typeface="Aptos"/>
                <a:cs typeface="Aptos"/>
              </a:rPr>
              <a:t>似た資料をまとめ、どれを正とするか確認します.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CB0F14-39CF-4276-A31F-DB284BFF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45DA0E-C500-4CEB-A4F0-398B64C7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45BAF6-3209-40F2-9C4B-C654D884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576A49-2687-4684-A124-81CFBF4E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社内資料の一覧を整理してください。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資料一覧: [[資料名・更新日・担当・URL]]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出力: 同じ目的の資料グループ / 最新候補 / 古い可能性がある資料 / 内容が矛盾する組み合わせ / 確認する担当 / 残すべきリンク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更新日だけで正しさを断定せず、版の責任者に確認する。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2DD1B3-6565-4B1C-AB42-6F27E598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CD6077-E5CB-42CD-9729-17F891B0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90425F-1AA8-404E-8BF7-3433E527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4D6C6"/>
                </a:solidFill>
                <a:latin typeface="Aptos"/>
                <a:ea typeface="Aptos"/>
                <a:cs typeface="Aptos"/>
              </a:rPr>
              <a:t>#ナレッジ  #資料管理  #重複</a:t>
            </a:r>
          </a:p>
        </p:txBody>
      </p:sp>
    </p:spTree>
    <p:extLst>
      <p:ext uri="{BB962C8B-B14F-4D97-AF65-F5344CB8AC3E}">
        <p14:creationId xmlns:p14="http://schemas.microsoft.com/office/powerpoint/2010/main" val="43629948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670AE3-8B71-4A35-8532-CE34220C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1218A-6271-447E-B000-9569C778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077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E0CBF2-DE40-4047-919A-3177F796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社内ナレッジ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177F69-79E6-4919-8149-D993726E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No.073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E75AD8-5F60-42E6-88D7-53E9AE12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手順書からチェックリスト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A8507B-B578-45FF-B254-4680ACC7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読む資料を、実行時に使える確認項目へ変えます.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3B61FC-5710-475B-8AAE-C71BAE59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920316-1F66-4080-9817-89CAD404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8FF17D-AF54-43BA-87AC-918DD634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5AEB0C-C769-4649-B701-B13D4576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以下の手順書からチェックリストを作ってください。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手順書: [[手順書]]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出力: 事前確認 / 手順ごとの確認 / 判断が必要な箇所 / 完了条件 / 記録するもの / 失敗時の連絡先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順番を変えず、重要な注意書きを落とさない。チェック項目は1行1動作にする。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2ED917-523C-4B5F-9E7D-3FCF1124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7C4ED3-C896-4E0B-9312-EBF217A7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B666A2-8B3C-4B07-ABA6-81883412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58A6D"/>
                </a:solidFill>
                <a:latin typeface="Aptos"/>
                <a:ea typeface="Aptos"/>
                <a:cs typeface="Aptos"/>
              </a:rPr>
              <a:t>#ナレッジ  #チェックリスト  #手順</a:t>
            </a:r>
          </a:p>
        </p:txBody>
      </p:sp>
    </p:spTree>
    <p:extLst>
      <p:ext uri="{BB962C8B-B14F-4D97-AF65-F5344CB8AC3E}">
        <p14:creationId xmlns:p14="http://schemas.microsoft.com/office/powerpoint/2010/main" val="538606651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212F07-2586-4717-9A89-A575F77D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2EFCC2-92A1-4A6E-9BFB-EB94A385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078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429FB9-5527-4A2C-B75B-37D15D41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社内ナレッジ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D9EECF-71AD-4F41-B47D-1B1FDF0B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No.074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78B3E7-52EC-4E5C-9732-A6BD2561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回答できない質問の処理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6F806E-6B23-41A9-9CAB-717D9A8D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592A7"/>
                </a:solidFill>
                <a:latin typeface="Aptos"/>
                <a:ea typeface="Aptos"/>
                <a:cs typeface="Aptos"/>
              </a:rPr>
              <a:t>AIが答えられない質問を、更新候補として扱います.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C288E-108E-4B35-8681-13C70FBF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FA86A1-FBF9-43F7-8A48-30E7C5A5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A0AEC1-13EA-47AC-812B-54397AB6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A61B13-6240-4E6D-B5C6-DD439A4B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社内AIが回答できない質問の処理ルールを作ってください。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対象: [[業務・資料]]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出力: 回答を止める条件 / 人に引き継ぐ条件 / 記録する項目 / 回答者 / FAQへの反映方法 / 反映後の確認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推測回答を許さず、機密情報の入力を最小化する。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31BB7D-A31A-427F-8D39-E452492C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944E59-2476-4893-97CB-FF2C010D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0A709F-D7AB-4CEB-94B8-4A588697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4D6C6"/>
                </a:solidFill>
                <a:latin typeface="Aptos"/>
                <a:ea typeface="Aptos"/>
                <a:cs typeface="Aptos"/>
              </a:rPr>
              <a:t>#ナレッジ  #AI運用  #ガバナンス</a:t>
            </a:r>
          </a:p>
        </p:txBody>
      </p:sp>
    </p:spTree>
    <p:extLst>
      <p:ext uri="{BB962C8B-B14F-4D97-AF65-F5344CB8AC3E}">
        <p14:creationId xmlns:p14="http://schemas.microsoft.com/office/powerpoint/2010/main" val="1208622548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34A724-EE19-4B80-A099-B54A8B66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E4C31A-44D5-4487-9F24-9740109E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079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2B96E4-CE6E-4CE1-93A3-D5F1573B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社内ナレッジ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500A0A-8858-4FAE-8742-076129B0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No.075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4835A8-C3E0-4AA7-87FF-9F5CCE66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知識の更新依頼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8D88F-5CE1-4247-A4B3-C14ACA06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資料の更新を、担当者が判断しやすい依頼文にします.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BC2ECC-EFFB-4E03-A3B1-8DE25C3F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0E648F-4D9A-414C-B145-6642CEFB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030C90-B0C4-45CC-AD5B-BC0FE5C0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5D73FD-74CE-43B4-86CA-6D83D9E9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社内資料の更新依頼文を作ってください。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対象資料: [[資料名]]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見つかった問題: [[問題]]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根拠: [[根拠]]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出力: 件名 / 変更してほしい箇所 / なぜ更新が必要か / 更新担当への質問 / 希望期限 / 更新後の確認方法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問題を断定できない場合は確認依頼として書く。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757C59-B9B7-443D-AF69-46846D31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958E25-91D2-4360-B14F-8F002FBD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E5273E-0B20-4C2F-B51A-CE3436D4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58A6D"/>
                </a:solidFill>
                <a:latin typeface="Aptos"/>
                <a:ea typeface="Aptos"/>
                <a:cs typeface="Aptos"/>
              </a:rPr>
              <a:t>#ナレッジ  #更新  #依頼</a:t>
            </a:r>
          </a:p>
        </p:txBody>
      </p:sp>
    </p:spTree>
    <p:extLst>
      <p:ext uri="{BB962C8B-B14F-4D97-AF65-F5344CB8AC3E}">
        <p14:creationId xmlns:p14="http://schemas.microsoft.com/office/powerpoint/2010/main" val="266433231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AC4AD7-F42D-48B9-B8E2-603C8DB2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FB236B-CC9B-4328-B59C-15321E60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080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60F873-AD1F-443A-A30C-6E69A885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社内ナレッジ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10567F-D64E-4180-A1B2-7B9991B5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No.076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8BD84B-642B-4276-A5BB-132D9D6F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社内用語集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62F799-0316-42AD-825C-C0AC5E67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592A7"/>
                </a:solidFill>
                <a:latin typeface="Aptos"/>
                <a:ea typeface="Aptos"/>
                <a:cs typeface="Aptos"/>
              </a:rPr>
              <a:t>部署ごとに違う言葉を、定義と使用例で揃えます.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FDC17F-2866-4DEB-A40F-BFF462F0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CBAC20-3EF7-43EC-B07A-FD8FEB6C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8E5AAD-759F-437A-BCE9-B22E0BFC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65CC7E-F97C-4E00-AFE1-C044A510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社内用語集を作ってください。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用語候補: [[用語一覧]]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各用語に、正式名称 / 一文の定義 / 似た言葉との違い / 使用例 / 使用しない表現 / 確認担当を付ける。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定義が複数ある場合は、部署ごとに分けて確認事項として残す。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A9A971-DCE1-476F-8539-3F8773E3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5BC9B6-99B6-4A1A-A810-E95C19C9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01B46F-588C-4369-8A1C-2371C741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4D6C6"/>
                </a:solidFill>
                <a:latin typeface="Aptos"/>
                <a:ea typeface="Aptos"/>
                <a:cs typeface="Aptos"/>
              </a:rPr>
              <a:t>#ナレッジ  #用語集  #標準化</a:t>
            </a:r>
          </a:p>
        </p:txBody>
      </p:sp>
    </p:spTree>
    <p:extLst>
      <p:ext uri="{BB962C8B-B14F-4D97-AF65-F5344CB8AC3E}">
        <p14:creationId xmlns:p14="http://schemas.microsoft.com/office/powerpoint/2010/main" val="555288550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4B37EA-2702-4055-94D0-F59C72AE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3D28C4-22D2-448D-B47A-355A28D8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081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48F84D-CFF0-4E33-A912-C61E27F5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社内ナレッジ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CA71C4-0E9B-4728-B842-8385D10D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No.077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D8E08F-E049-40A7-A58E-7DDCCCE6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新人向けの学習順序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686E0C-010A-4AD6-AF25-C71B4550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情報量ではなく、業務で使う順番で学習計画を作ります.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7219EC-F953-4D6B-BD2F-252D2CFB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F29883-59D6-4AC6-9527-F54207D8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990FEE-5629-4B61-B53B-FA604170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1F22F8-8AE0-4853-9A92-F3E5451A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新人向けの学習順序を作ってください。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役割: [[役割]]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最初の30日で任せたい仕事: [[仕事]]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利用する資料: [[資料一覧]]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出力: 先に学ぶこと / 実際に試すこと / 教える人 / 確認問題 / つまずきやすい点 / 合格の目安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資料を読むだけの計画にせず、毎週1つ成果物を置く。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21FBD-F6D8-477E-9B76-522CD4FD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3EF6FB-DAD2-4BE6-B22F-4112B7F8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A51588-6003-4443-95CD-18197996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58A6D"/>
                </a:solidFill>
                <a:latin typeface="Aptos"/>
                <a:ea typeface="Aptos"/>
                <a:cs typeface="Aptos"/>
              </a:rPr>
              <a:t>#ナレッジ  #新人  #研修</a:t>
            </a:r>
          </a:p>
        </p:txBody>
      </p:sp>
    </p:spTree>
    <p:extLst>
      <p:ext uri="{BB962C8B-B14F-4D97-AF65-F5344CB8AC3E}">
        <p14:creationId xmlns:p14="http://schemas.microsoft.com/office/powerpoint/2010/main" val="794842220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B1F812-75EB-4B05-BDBB-CF408591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854534-72AC-4B74-BA50-834D7FA2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082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25BCAA-709E-4C64-BCAA-1E4911F7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社内ナレッジ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845169-6D2D-48E7-A9BD-F44840EA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No.078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7E5400-1700-4EAB-BE83-45CA60CA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社内検索の改善候補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710A5-841C-4000-BD65-D6B5CA15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592A7"/>
                </a:solidFill>
                <a:latin typeface="Aptos"/>
                <a:ea typeface="Aptos"/>
                <a:cs typeface="Aptos"/>
              </a:rPr>
              <a:t>検索されているのに答えられないテーマを見つけます.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6B0965-5C48-4330-84B9-D8B38766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8C1C4D-94FD-46CE-A09E-DE29F8F9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A235FC-9623-410E-A763-C658776E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B60206-314F-47B3-ABE0-826C474E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社内検索ログを分析してください。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入力: [[検索語・結果・質問・回答できたか]]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出力: よく検索される語 / 0件の語 / 似た語 / 資料があるのに見つからない語 / 新規FAQ候補 / 更新担当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検索回数だけで重要度を断定せず、業務影響と合わせて優先順位を提案する。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BAB3EC-9598-4F26-86F0-093A30DA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AC5C6D-A183-4268-9546-42EFE7F1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4ED4E2-A2A3-46AE-8E25-32500283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4D6C6"/>
                </a:solidFill>
                <a:latin typeface="Aptos"/>
                <a:ea typeface="Aptos"/>
                <a:cs typeface="Aptos"/>
              </a:rPr>
              <a:t>#ナレッジ  #検索  #分析</a:t>
            </a:r>
          </a:p>
        </p:txBody>
      </p:sp>
    </p:spTree>
    <p:extLst>
      <p:ext uri="{BB962C8B-B14F-4D97-AF65-F5344CB8AC3E}">
        <p14:creationId xmlns:p14="http://schemas.microsoft.com/office/powerpoint/2010/main" val="1220534412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AE7E2F-DBBD-463F-85F1-2F8F2A71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7CE387-47C6-4275-92AA-83CE088F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083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0161DA-82CF-4388-9409-E444E987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社内ナレッジ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47DAF-9FF0-4C5A-9DEE-142881C2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No.079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1D8D63-4B49-4360-B4BB-A9BA52AB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AI回答の根拠チェック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57BA2A-4F22-40D0-A470-6D1D9CE4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回答が原資料に戻れるかを確認します.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9A40F-8F00-4E0B-B586-990E5868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F3961B-44ED-4ABA-907D-20C7D72F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67CF22-066A-4A0C-BF2B-8C56A6D8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707AF7-7C41-41F6-9800-38D1AD42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社内AIの回答を根拠チェックしてください。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質問: [[質問]]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回答: [[回答]]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参照資料: [[資料]]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出力: 根拠がある文 / 根拠がない文 / 資料の適用範囲 / 古い可能性 / 修正版 / 人が確認すべき点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回答をよく見せるために、根拠のない内容を追加しない。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9EE488-D935-455F-B5A1-805130DD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C1E12E-0A98-425F-AF09-5DE231C8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5632FB-FDD7-4933-9244-FED3F2B6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58A6D"/>
                </a:solidFill>
                <a:latin typeface="Aptos"/>
                <a:ea typeface="Aptos"/>
                <a:cs typeface="Aptos"/>
              </a:rPr>
              <a:t>#ナレッジ  #AI回答  #レビュー</a:t>
            </a:r>
          </a:p>
        </p:txBody>
      </p:sp>
    </p:spTree>
    <p:extLst>
      <p:ext uri="{BB962C8B-B14F-4D97-AF65-F5344CB8AC3E}">
        <p14:creationId xmlns:p14="http://schemas.microsoft.com/office/powerpoint/2010/main" val="1077619279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0F2863-FBC9-40A5-B2BC-2830EF98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14226-7344-4ABC-ADD9-C6BCF231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084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B9B71A-207C-4AA4-A8FB-B3B63F2B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社内ナレッジ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D3F04F-7906-4AD8-B99C-D314CA7F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No.080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9A204-9FB8-47E2-9B1D-7AA49EF9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ナレッジベースの設計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839249-3250-4EAE-855A-80C87C30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592A7"/>
                </a:solidFill>
                <a:latin typeface="Aptos"/>
                <a:ea typeface="Aptos"/>
                <a:cs typeface="Aptos"/>
              </a:rPr>
              <a:t>資料の置き場所ではなく、質問から更新までを設計します.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BFC917-8492-412C-8C53-243485BA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D12E84-C80A-48EB-AECE-5FA3464D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57EEAA-3EBD-4095-9D73-2723F609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768FF-B3E0-4BF2-BB8A-7AF36478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小さなナレッジベースの設計案を作ってください。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対象業務: [[業務]]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利用者: [[利用者]]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資料: [[資料一覧]]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出力: 情報の分類 / 検索単位 / 権限 / 回答フォーマット / 根拠表示 / 更新フロー / 不明時の処理 / 月次の品質確認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最初から全社展開せず、1業務で検証する案にする。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8BF515-F357-4AF0-BAAD-81B94C54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69246F-C1E4-450F-AC54-D411FFF8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A05B71-CD4D-447D-8388-1A748ADD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4D6C6"/>
                </a:solidFill>
                <a:latin typeface="Aptos"/>
                <a:ea typeface="Aptos"/>
                <a:cs typeface="Aptos"/>
              </a:rPr>
              <a:t>#ナレッジ  #設計  #AI運用</a:t>
            </a:r>
          </a:p>
        </p:txBody>
      </p:sp>
    </p:spTree>
    <p:extLst>
      <p:ext uri="{BB962C8B-B14F-4D97-AF65-F5344CB8AC3E}">
        <p14:creationId xmlns:p14="http://schemas.microsoft.com/office/powerpoint/2010/main" val="1343395504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71F99D-0531-4744-BD3F-FDE7D20D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2671C0-DF18-4308-A774-A10230B6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085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BF8CE0-34F0-42F0-AD31-24B2694E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文章・広報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9E935E-8898-4C12-8F1B-D16E2BE8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No.081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5ABCBE-B854-4998-A0EC-0FD10C06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文章の要点整理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BBED32-F374-4F17-9DC9-DE5AA3D6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長い文章を、読む目的に合わせて要約します.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7DB787-F9DF-41A1-88BA-CD6C8C26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60CA41-8865-4BA4-A409-89103C08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C5AE5F-2D94-404F-8FFB-8A400924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7C71BB-65EE-45C2-BCB7-5CB01E28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以下の文章を、忙しい担当者向けに要約してください。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文章: [[文章]]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目的: [[読む目的]]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出力: 30秒要約 / 重要な事実 / 判断が必要な点 / 具体的な数字 / 原文に戻る見出し / 次の行動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重要度の根拠を示し、原文にない解釈は仮説として分ける。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68CBA8-0B4E-4442-AF3E-09CA5A3B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BD6180-5DEE-4874-822D-35DA6C84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C1110F-4D87-47AF-96D7-D4BC511F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58A6D"/>
                </a:solidFill>
                <a:latin typeface="Aptos"/>
                <a:ea typeface="Aptos"/>
                <a:cs typeface="Aptos"/>
              </a:rPr>
              <a:t>#文章  #要約  #編集</a:t>
            </a:r>
          </a:p>
        </p:txBody>
      </p:sp>
    </p:spTree>
    <p:extLst>
      <p:ext uri="{BB962C8B-B14F-4D97-AF65-F5344CB8AC3E}">
        <p14:creationId xmlns:p14="http://schemas.microsoft.com/office/powerpoint/2010/main" val="2053770451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367B5F-791E-408A-BAD3-DA5E9EC7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AC1EC5-06A8-4424-90A0-F394B226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086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8BEB1-5810-4BD5-8471-12585DB6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文章・広報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CF58B1-7065-414A-AEB6-A8450261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No.082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5E9CCE-88B0-480B-925B-B20769B1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社内告知の改善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92C27-C9FD-425A-A82B-03D5519A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592A7"/>
                </a:solidFill>
                <a:latin typeface="Aptos"/>
                <a:ea typeface="Aptos"/>
                <a:cs typeface="Aptos"/>
              </a:rPr>
              <a:t>読んだ人が取る行動を明確にします.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76614A-B626-4B5D-BEBE-3A9CB343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7AEF4-29ED-486E-B77A-18D05D25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6A8881-528A-4DFE-AF7F-4671B23A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D4B846-1B51-4C3D-850F-1986E417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以下の社内告知を改善してください。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原文: [[原文]]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読者: [[読者]]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してほしい行動: [[行動]]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出力: 件名3案 / 冒頭の結論 / 本文 / 期限 / 問い合わせ先 / 読み飛ばしても伝わる要約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事実と依頼を分け、情報が足りない箇所は確認欄にする。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4EF235-9FE4-4828-8712-06F1933C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DDB18F-3AD2-49DA-AFC1-B28058CC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C419F1-5C70-4B5E-A36F-F926F7B7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4D6C6"/>
                </a:solidFill>
                <a:latin typeface="Aptos"/>
                <a:ea typeface="Aptos"/>
                <a:cs typeface="Aptos"/>
              </a:rPr>
              <a:t>#文章  #社内  #告知</a:t>
            </a:r>
          </a:p>
        </p:txBody>
      </p:sp>
    </p:spTree>
    <p:extLst>
      <p:ext uri="{BB962C8B-B14F-4D97-AF65-F5344CB8AC3E}">
        <p14:creationId xmlns:p14="http://schemas.microsoft.com/office/powerpoint/2010/main" val="797523723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541196-6FFE-4B37-91B1-54757121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F1B3AE-7CC5-4A30-9888-836BE976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087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D4AA8B-B22D-414C-A7E3-BAF93817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文章・広報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A316E9-6A80-47EB-8F5A-4F769511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No.083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3546E-4E38-4AEF-8AEB-CDEE29F6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プレスリリース骨子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3415AC-669A-464D-9833-31F93644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ニュース性と事実を分け、発表の骨子を作ります.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043AEF-6DFD-4CEE-A8E2-495A5705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E71B64-3BA2-4B75-8DA9-4BEF9458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3E7DBF-F16B-462F-89D3-2A8E6F2D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E030C0-E7B3-4A90-A106-7A8E13C8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プレスリリースの骨子を作ってください。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発表内容: [[内容]]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発表日: [[日付]]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根拠・実績: [[根拠]]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出力: タイトル案 / リード / 背景 / 具体的な内容 / 顧客への価値 / 会社概要 / 問い合わせ先 / 事実確認リスト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発表にない成果を推測で補わず、引用コメントは空欄にする。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A88617-1474-47CA-A230-5EB47683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088DFD-3322-489E-88C0-EEE95C18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D3BDED-436F-40A6-9CEB-928FD0DE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58A6D"/>
                </a:solidFill>
                <a:latin typeface="Aptos"/>
                <a:ea typeface="Aptos"/>
                <a:cs typeface="Aptos"/>
              </a:rPr>
              <a:t>#広報  #プレスリリース  #文章</a:t>
            </a:r>
          </a:p>
        </p:txBody>
      </p:sp>
    </p:spTree>
    <p:extLst>
      <p:ext uri="{BB962C8B-B14F-4D97-AF65-F5344CB8AC3E}">
        <p14:creationId xmlns:p14="http://schemas.microsoft.com/office/powerpoint/2010/main" val="630530016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8A2BCC-DF00-4F3B-8E8D-ECB2AE32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24A332-CEE3-4B02-A5B2-0EBF42EB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088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963CA8-88A3-4D8A-9CD4-8DAEEF63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文章・広報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F91973-94C7-45AE-B3B8-EE641E9A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No.084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3BC5D2-B283-49CE-AD43-AAE970CD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ブログ記事の構成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D17E24-4A99-4EB4-8814-66474EF6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592A7"/>
                </a:solidFill>
                <a:latin typeface="Aptos"/>
                <a:ea typeface="Aptos"/>
                <a:cs typeface="Aptos"/>
              </a:rPr>
              <a:t>検索語だけでなく、読後の行動から構成します.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38E4D0-0314-4F0F-9F23-EC6DE356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34DEE-EECE-41F8-B4B7-A43DEA85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C3EEE6-B9C4-42FC-A436-C23055CE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33C403-6F4B-478B-B836-315DDF26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ブログ記事の構成案を作ってください。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読者の検索・相談意図: [[意図]]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自社が説明できること: [[経験・資料]]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読者が読み終わったときにできること: [[行動]]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出力: タイトル5案 / 結論 / 見出し / 各見出しの答え / 具体例 / 注意点 / 内部リンク / CTA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他社の文章や根拠をコピーせず、独自に説明できる範囲を優先する。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CDCFF1-8382-4C65-B47C-EFDE36A4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57FAAB-0541-48D2-B425-CD91864C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013BD5-814A-4DD4-A996-173EADDA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4D6C6"/>
                </a:solidFill>
                <a:latin typeface="Aptos"/>
                <a:ea typeface="Aptos"/>
                <a:cs typeface="Aptos"/>
              </a:rPr>
              <a:t>#文章  #SEO  #構成</a:t>
            </a:r>
          </a:p>
        </p:txBody>
      </p:sp>
    </p:spTree>
    <p:extLst>
      <p:ext uri="{BB962C8B-B14F-4D97-AF65-F5344CB8AC3E}">
        <p14:creationId xmlns:p14="http://schemas.microsoft.com/office/powerpoint/2010/main" val="1233955718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F2BE69-905E-4CEA-A983-111983ED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FED9E0-E50A-46C1-BE2E-3610A4D0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089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DE45F3-02F8-49EE-ABC8-8F52C424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文章・広報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86A278-1577-4330-A0F6-5CB3F382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No.085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5965CD-3597-42D4-9F76-3300EFE9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文章の事実チェック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5A223F-092A-4CA8-B4D0-90CC59DA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数値、日付、固有名詞、主張の根拠を表にします.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0D4B96-4BE6-49AE-B391-F8170E90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3FFC42-9A38-4ED0-8316-637D5FD8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159A03-122D-44D7-BE08-825CFCDD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34A26F-079E-4A9B-B9E9-B295D53E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以下の文章を事実チェックしてください。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文章: [[文章]]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出力: 確認が必要な主張 / 種類（数字・日付・固有名詞・因果関係） / 原文の根拠 / 確認方法 / 修正案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外部調査をしていない場合は、確認済みと書かない。根拠がない主張は削除候補にする。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BDA227-0DD0-4D16-B716-BD170C94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33ADCC-2582-4361-B270-05BB9F4D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4D17D5-E864-44B2-A5F5-521E21AF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58A6D"/>
                </a:solidFill>
                <a:latin typeface="Aptos"/>
                <a:ea typeface="Aptos"/>
                <a:cs typeface="Aptos"/>
              </a:rPr>
              <a:t>#文章  #校正  #ファクトチェック</a:t>
            </a:r>
          </a:p>
        </p:txBody>
      </p:sp>
    </p:spTree>
    <p:extLst>
      <p:ext uri="{BB962C8B-B14F-4D97-AF65-F5344CB8AC3E}">
        <p14:creationId xmlns:p14="http://schemas.microsoft.com/office/powerpoint/2010/main" val="308503036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AD46D3-0942-444F-A34D-F286F4C6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83121B-50DA-4C97-94CE-D2D2A0F7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090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A3BC4-3AED-4AC5-AD47-BA9AC641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文章・広報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A97014-1593-4F14-81BD-CEC81E2F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No.086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808619-ACBD-4458-ACDF-5117B4D3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メールの短文化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92C1DC-9054-4AED-901A-7FFE83BD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592A7"/>
                </a:solidFill>
                <a:latin typeface="Aptos"/>
                <a:ea typeface="Aptos"/>
                <a:cs typeface="Aptos"/>
              </a:rPr>
              <a:t>意味と条件を保ったまま、読む負担を下げます.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E89BCE-0D59-4715-A87F-8635C886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890FAF-D6D0-43BF-97A0-C7F07230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D1B947-3EF8-47C4-A2BD-907B370B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18324D-AE74-4431-A434-CDF3E0FC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次のメールを短くしてください。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原文: [[メール]]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残すもの: 目的 / 事実 / 条件 / 期限 / 相手への依頼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出力: 120字版 / 250字版 / 変更した点 / 削ってはいけない情報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丁寧さを保ち、相手との関係に合わない強い表現を避ける。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8C3648-4706-4FC2-A814-D085EFDC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0267EF-04C1-41E1-A149-02437EF3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F574B6-123F-4F65-853B-291AA0C6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4D6C6"/>
                </a:solidFill>
                <a:latin typeface="Aptos"/>
                <a:ea typeface="Aptos"/>
                <a:cs typeface="Aptos"/>
              </a:rPr>
              <a:t>#文章  #メール  #短文化</a:t>
            </a:r>
          </a:p>
        </p:txBody>
      </p:sp>
    </p:spTree>
    <p:extLst>
      <p:ext uri="{BB962C8B-B14F-4D97-AF65-F5344CB8AC3E}">
        <p14:creationId xmlns:p14="http://schemas.microsoft.com/office/powerpoint/2010/main" val="1625695349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F3D6E2-BFB9-4754-9193-CA7FAB07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3D1CDF-6D7F-41FA-8D66-DC7E8DDE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091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F9206A-551C-4419-B6B8-1CCB3AA7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文章・広報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E4925A-CA00-468D-BF00-A1E71356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No.087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173166-E4CC-4825-BDF7-F4247196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表現の読み手別変換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C41F42-2063-46FF-93E4-BF900843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同じ内容を、経営者・現場・顧客向けに変換します.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2BC49E-DC7C-4F7E-9924-8A15BC1E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931EA0-5C72-419F-9D09-5366DAFC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4C96DC-8886-48B0-915D-7094CFD6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3720DE-E7AC-4D94-ADB8-6C53A0F2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次の説明を3種類に書き換えてください。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原文: [[説明]]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読者: 経営者 / 現場担当者 / 顧客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各文面に、関心がある点、必要な前提、次の行動を合わせる。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数字や条件は原文から変えず、読者に合わせて例だけを変える。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C9BA1F-6CB2-4D51-B9B8-1B93E1FF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C3C838-BA44-4572-8C86-0C379DF3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56F5BB-1444-4F9B-A320-7CBB4086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58A6D"/>
                </a:solidFill>
                <a:latin typeface="Aptos"/>
                <a:ea typeface="Aptos"/>
                <a:cs typeface="Aptos"/>
              </a:rPr>
              <a:t>#文章  #編集  #伝達</a:t>
            </a:r>
          </a:p>
        </p:txBody>
      </p:sp>
    </p:spTree>
    <p:extLst>
      <p:ext uri="{BB962C8B-B14F-4D97-AF65-F5344CB8AC3E}">
        <p14:creationId xmlns:p14="http://schemas.microsoft.com/office/powerpoint/2010/main" val="1820060733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3EBD22-2CD6-45C7-95CA-A229E656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5CF29F-8B62-4C29-B00F-0C4D6FBA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092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B62DBF-4994-4776-9312-DA238340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文章・広報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A6D63D-E8C6-4D48-A051-A58C31AF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No.088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85FCF-8937-42D8-909C-397EBF9D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文章の見出し案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110EDD-B413-4FDB-A880-96F5252B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592A7"/>
                </a:solidFill>
                <a:latin typeface="Aptos"/>
                <a:ea typeface="Aptos"/>
                <a:cs typeface="Aptos"/>
              </a:rPr>
              <a:t>本文の内容を先に言う、検索にも読み手にも強い見出しを作ります.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DD24E7-92EC-4798-94B7-5C82D245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DB8823-08D4-4164-B60F-92A445D5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A8BFC0-54E6-4263-A7DB-519CB6CD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399DC5-E7AE-4625-97C6-DD3606D7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本文から見出し案を作ってください。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本文: [[本文]]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見出しを10案作り、各案に「何が分かる見出しか」を一文で添える。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煽り、疑問形の連続、本文にない結論は避ける。見出しだけで流れが分かる順番も提案する。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F95F8E-8339-471F-91DC-104ECB77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37B18B-5B31-4EDE-B0FB-B92A635E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ACCFA8-ACAE-4A99-B2EA-C4F88438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4D6C6"/>
                </a:solidFill>
                <a:latin typeface="Aptos"/>
                <a:ea typeface="Aptos"/>
                <a:cs typeface="Aptos"/>
              </a:rPr>
              <a:t>#文章  #見出し  #編集</a:t>
            </a:r>
          </a:p>
        </p:txBody>
      </p:sp>
    </p:spTree>
    <p:extLst>
      <p:ext uri="{BB962C8B-B14F-4D97-AF65-F5344CB8AC3E}">
        <p14:creationId xmlns:p14="http://schemas.microsoft.com/office/powerpoint/2010/main" val="188450575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993C45-55ED-4A37-99DB-73D47D90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ACDD1-0C2E-4F15-B614-DEFBF8DF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093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EDEF3E-79E0-4718-88DF-FF572EFF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文章・広報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3E3F27-BA96-4A27-AA4C-FDB9A53D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No.089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B0C40A-544B-497D-93A3-62BD9805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校正チェックリスト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56136-6CE2-47CB-80F7-428E2F64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公開前の文章を、読者・表記・事実の3面で点検します.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4882A1-EC93-4CF2-BEF1-7253B4D0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F6A33B-AAB4-429B-9323-A9E2DD96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411DE4-13D5-40E6-A30F-4DAE7926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05BDAB-569F-4BAE-A02D-373F14F2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以下の原稿を校正してください。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原稿: [[原稿]]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確認: 読者と目的 / 表記ゆれ / 誤字脱字 / 数字と単位 / リンク / 事実の根拠 / CTA / 個人情報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修正前後を示し、意味が変わる修正は「要確認」と明記する。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E8CB02-8865-4055-8066-ADE78DD0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66671C-7DAE-49AE-92B9-04CDB090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4B30E2-3C4D-4D14-8DB8-2C69C537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58A6D"/>
                </a:solidFill>
                <a:latin typeface="Aptos"/>
                <a:ea typeface="Aptos"/>
                <a:cs typeface="Aptos"/>
              </a:rPr>
              <a:t>#文章  #校正  #公開前</a:t>
            </a:r>
          </a:p>
        </p:txBody>
      </p:sp>
    </p:spTree>
    <p:extLst>
      <p:ext uri="{BB962C8B-B14F-4D97-AF65-F5344CB8AC3E}">
        <p14:creationId xmlns:p14="http://schemas.microsoft.com/office/powerpoint/2010/main" val="731772313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219F45-FF0E-4A7D-8CCD-1E1808D2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895FFA-6F02-49D1-8DEE-7E55DD25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094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322273-E430-4441-9820-8629BA27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文章・広報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F7A12-F3A6-4FF5-A8A2-2817A931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No.090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C5E3D0-DF3F-4F03-A277-B51CF56F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事例紹介の構成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2E6A54-1237-43B1-8266-67744253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592A7"/>
                </a:solidFill>
                <a:latin typeface="Aptos"/>
                <a:ea typeface="Aptos"/>
                <a:cs typeface="Aptos"/>
              </a:rPr>
              <a:t>課題、実施、変化、限界を誠実に伝えます.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BFC0FA-F590-4331-8957-016ECC39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18AECF-95D5-47B4-9932-01111707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1F0D5F-3591-498A-AFFB-1B191CBA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8EFA80-B991-49D5-91C8-AC9E5A49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導入事例の構成を作ってください。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顧客: [[顧客情報]]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導入前: [[導入前]]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実施したこと: [[施策]]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観測できた変化: [[変化]]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出力: 顧客の状況 / 課題 / 選んだ理由 / 実施 / 変化 / まだ残る課題 / 再現条件 / 引用確認事項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顧客の許可がない固有名詞や数値はプレースホルダーのままにする。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592A1E-D1CD-4B19-90D6-C53A50FE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2E8E35-C147-4A19-A501-6C4ADB81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AE52AE-2295-420B-8CB4-20890100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4D6C6"/>
                </a:solidFill>
                <a:latin typeface="Aptos"/>
                <a:ea typeface="Aptos"/>
                <a:cs typeface="Aptos"/>
              </a:rPr>
              <a:t>#広報  #事例  #編集</a:t>
            </a:r>
          </a:p>
        </p:txBody>
      </p:sp>
    </p:spTree>
    <p:extLst>
      <p:ext uri="{BB962C8B-B14F-4D97-AF65-F5344CB8AC3E}">
        <p14:creationId xmlns:p14="http://schemas.microsoft.com/office/powerpoint/2010/main" val="1993255851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9F9361-20C2-4EE1-AAE2-54E8CB3C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F2911D-70F0-41F4-BA93-95641875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095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04E2F6-76D5-4320-B694-FE3A86D0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業務改善・自動化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451C35-5A01-41D6-9FB2-F2D17881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No.091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1D4B3-CC9C-4122-B794-D431F83F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業務の分解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D3600B-5E7B-4A89-B999-2C1E0708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自動化する前に、入力から完了までの流れを見える化します.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8A596C-EEDA-4E74-8892-87EAD135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24E0A5-99B3-459B-A8B0-0AA5159C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42BF9D-BD4D-46E4-A095-CAC2B5BC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EDC856-C509-4EF7-904F-63FCE4FF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次の業務を分解してください。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業務: [[業務名]]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担当者の説明: [[説明]]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出力: 開始条件 / 入力 / 手順 / 判断 / 例外 / 出力 / 完了条件 / 記録 / 次工程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自動化候補と、人の判断を残すべき箇所を分ける。曖昧な箇所には確認質問を付ける。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86638E-BBE3-4EC6-887F-6A8DEA72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8E199D-AD71-408C-A637-95F93EC3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982CB3-E988-4C30-9E48-DD167B0E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58A6D"/>
                </a:solidFill>
                <a:latin typeface="Aptos"/>
                <a:ea typeface="Aptos"/>
                <a:cs typeface="Aptos"/>
              </a:rPr>
              <a:t>#業務改善  #業務分解  #自動化</a:t>
            </a:r>
          </a:p>
        </p:txBody>
      </p:sp>
    </p:spTree>
    <p:extLst>
      <p:ext uri="{BB962C8B-B14F-4D97-AF65-F5344CB8AC3E}">
        <p14:creationId xmlns:p14="http://schemas.microsoft.com/office/powerpoint/2010/main" val="1040622022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29A169-8CE0-4A00-BD6F-D1D8A780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230FB-DF1C-4696-8D80-D4CAAA96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096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4D30BC-6685-4E57-8580-3F99C540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業務改善・自動化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4CCD41-0BD6-4EE5-BF8F-3BB60D21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No.092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E694E6-BACF-4FF1-9233-43F1CF1D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自動化候補の選定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9040FD-FD20-4043-99A6-B5B05BBA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592A7"/>
                </a:solidFill>
                <a:latin typeface="Aptos"/>
                <a:ea typeface="Aptos"/>
                <a:cs typeface="Aptos"/>
              </a:rPr>
              <a:t>頻度、標準化、例外、影響から小さく始める仕事を選びます.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46D77E-8E6C-4E8B-89D5-49C68CD4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723725-142C-4B2B-B2AF-C7C1350F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AF29EB-8FC9-4EC9-94EA-50D33988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BBCD2D-2D69-41B3-BD28-99CB3605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業務一覧から自動化候補を選んでください。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業務一覧: [[業務・頻度・時間・担当・例外]]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評価: 頻度 / 手順の標準化 / 入力データの整い具合 / 例外の少なさ / 失敗時の影響 / 効果測定のしやすさ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出力: 最初に試す候補3つ / 人の確認点 / 失敗時の戻し方 / 測る指標 / やらない方がよい候補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B619D4-C8DD-4E74-A567-8753487B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DC1A28-18E0-464D-AA3F-5FCDCC49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3E323E-3423-4BB5-9E94-58854BA8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4D6C6"/>
                </a:solidFill>
                <a:latin typeface="Aptos"/>
                <a:ea typeface="Aptos"/>
                <a:cs typeface="Aptos"/>
              </a:rPr>
              <a:t>#業務改善  #自動化  #優先順位</a:t>
            </a:r>
          </a:p>
        </p:txBody>
      </p:sp>
    </p:spTree>
    <p:extLst>
      <p:ext uri="{BB962C8B-B14F-4D97-AF65-F5344CB8AC3E}">
        <p14:creationId xmlns:p14="http://schemas.microsoft.com/office/powerpoint/2010/main" val="2077925989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14EF33-31CC-43F5-8D6E-F8CF7544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1CA4FE-EB05-451F-A35F-A36DF05E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097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5B39B9-7BFF-4645-9B2D-E7EBDF2B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業務改善・自動化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3E84F9-7F57-4448-9EBB-A37F9803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No.093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C437B8-0319-49F4-90A7-CC777B10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改善前後の比較設計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236DF4-0FDF-4787-B186-D3748C22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作ったものではなく、業務がどう変わったかを測ります.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854B99-A6CF-45DD-8246-CC0F2F46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2E3A12-E7A7-44FC-A42A-7AC21EFC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801772-E6EF-4B6F-ABA7-3C33AF84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B39A46-05A3-4A1E-9B84-B5245A61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業務改善の効果測定を設計してください。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対象業務: [[業務]]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改善案: [[改善案]]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現状の測定値: [[現状]]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出力: 成果指標 / 品質指標 / 安全指標 / 測定方法 / 期間 / 比較対象 / 担当 / 中止条件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時間短縮だけを成功にせず、手戻りや確認漏れも測る。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FDA067-68A7-479D-BBB4-C83F108F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04A6A6-0A60-4259-BCEF-636E3E2B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3DAD30-E86D-41B7-AD09-AFE96477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58A6D"/>
                </a:solidFill>
                <a:latin typeface="Aptos"/>
                <a:ea typeface="Aptos"/>
                <a:cs typeface="Aptos"/>
              </a:rPr>
              <a:t>#業務改善  #効果測定  #KPI</a:t>
            </a:r>
          </a:p>
        </p:txBody>
      </p:sp>
    </p:spTree>
    <p:extLst>
      <p:ext uri="{BB962C8B-B14F-4D97-AF65-F5344CB8AC3E}">
        <p14:creationId xmlns:p14="http://schemas.microsoft.com/office/powerpoint/2010/main" val="1453128741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09DB79-0508-4C14-BED1-F0FCF584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2E4403-969A-4017-8F95-455DC1B0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098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8B3F96-D4DB-45E6-8C2A-BF73016C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業務改善・自動化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1883ED-F265-452F-AF17-5922AF97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No.094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B14377-7A87-434E-B2EB-C7430251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手作業のエラー原因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9B7BC7-FB68-4FE3-9642-47AE4CA0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592A7"/>
                </a:solidFill>
                <a:latin typeface="Aptos"/>
                <a:ea typeface="Aptos"/>
                <a:cs typeface="Aptos"/>
              </a:rPr>
              <a:t>ミスを人の注意力ではなく、工程の設計から見直します.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553192-0143-4090-9FCC-DB4F7601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EC222A-4A93-45FB-97C2-9E8155F5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DAAE1F-1886-4FAF-AF8E-4C805882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D4914D-571B-469C-B7E9-410B448A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手作業のエラー原因を分析してください。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業務: [[業務]]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エラー事例: [[事例一覧]]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出力: 発生箇所 / 直前の条件 / エラーの種類 / 発見方法 / 影響 / 予防策 / 早期検知 / 人が確認するゲート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個人の責任にせず、入力・表示・引き継ぎ・ルールの観点で分ける。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73B9FC-5C89-4BBA-8730-8E3B4F80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DE6516-DB0C-4F23-B140-13C221D5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CCD069-EA3A-48D0-B9B7-EA2EC751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4D6C6"/>
                </a:solidFill>
                <a:latin typeface="Aptos"/>
                <a:ea typeface="Aptos"/>
                <a:cs typeface="Aptos"/>
              </a:rPr>
              <a:t>#業務改善  #品質  #ミス削減</a:t>
            </a:r>
          </a:p>
        </p:txBody>
      </p:sp>
    </p:spTree>
    <p:extLst>
      <p:ext uri="{BB962C8B-B14F-4D97-AF65-F5344CB8AC3E}">
        <p14:creationId xmlns:p14="http://schemas.microsoft.com/office/powerpoint/2010/main" val="1481718761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E63482-ACA4-4940-B5B4-B37A6185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25D04C-A6AC-43DC-B61D-7B2FA784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099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1A77C4-CC9D-4BF9-9DAE-1B6C9147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業務改善・自動化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751A3E-65CA-4CA8-9B7B-EA1284D3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No.095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45955A-B8C1-4562-8803-84A4372F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業務フローの改善案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72013B-A061-4B61-81C5-BEC2E929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現状の流れを壊さず、最初の変更点を小さくします.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A9297C-5F2A-4279-8F26-E81BA5E1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767126-5F6B-4514-9B03-6D46279C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680208-DBAC-4807-8FBE-BBE12034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F75E57-3A00-4B38-B0D8-6A95D708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業務フローの改善案を3案作ってください。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現状フロー: [[フロー]]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困っていること: [[問題]]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制約: [[制約]]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各案に、変える箇所 / 変えない箇所 / 期待する変化 / リスク / 必要な準備 / 1週間の試し方 / 元に戻す条件を付ける。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F25F74-07F7-4971-862D-8896F4EF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1ED608-C7DA-44F0-95E7-0242FBFB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2EA314-C8EB-4299-80B0-7AD2EAB9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58A6D"/>
                </a:solidFill>
                <a:latin typeface="Aptos"/>
                <a:ea typeface="Aptos"/>
                <a:cs typeface="Aptos"/>
              </a:rPr>
              <a:t>#業務改善  #フロー  #実験</a:t>
            </a:r>
          </a:p>
        </p:txBody>
      </p:sp>
    </p:spTree>
    <p:extLst>
      <p:ext uri="{BB962C8B-B14F-4D97-AF65-F5344CB8AC3E}">
        <p14:creationId xmlns:p14="http://schemas.microsoft.com/office/powerpoint/2010/main" val="1348142780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EFF196-8E44-457D-BEAC-E5E3889E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BB81EE-E05C-407A-B68C-FA4CD88C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C96CF-CF4C-4174-B68A-17A9BF50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業務改善・自動化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5FB633-13F6-4913-A9F8-006781AA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No.096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6BF7B4-5E33-4D8B-BD64-DB108651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RPAと生成AIの使い分け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5A90CB-CF61-4367-89FC-7B6D6870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592A7"/>
                </a:solidFill>
                <a:latin typeface="Aptos"/>
                <a:ea typeface="Aptos"/>
                <a:cs typeface="Aptos"/>
              </a:rPr>
              <a:t>定型の転記と、曖昧な文章処理を切り分けます.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7AB77-5B9A-496A-B214-2B5AE79F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CB9EBB-B6C1-458C-A7F2-7E1D5DD6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AC25D4-5453-4936-B518-8F9E07BE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B40515-3F9D-4C8D-9B8D-5D1ED346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次の業務を、RPA、生成AI、人の手作業、組み合わせに分類してください。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業務: [[業務一覧]]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判断軸: ルールが固定か / 文章の曖昧さ / データの機密性 / 失敗時の影響 / 繰り返し頻度 / 監査の必要性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出力: 推奨方式 / 理由 / 人の確認 / テストデータ / 失敗時の対応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最新ツールの機能を推測せず、確認が必要な点を残す。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837923-778D-471D-B324-0FA79B1A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1ECAC0-F353-4E20-B313-9A8E4120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B8B93A-BD67-4669-A8C1-D6CEF6C1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4D6C6"/>
                </a:solidFill>
                <a:latin typeface="Aptos"/>
                <a:ea typeface="Aptos"/>
                <a:cs typeface="Aptos"/>
              </a:rPr>
              <a:t>#業務改善  #RPA  #生成AI</a:t>
            </a:r>
          </a:p>
        </p:txBody>
      </p:sp>
    </p:spTree>
    <p:extLst>
      <p:ext uri="{BB962C8B-B14F-4D97-AF65-F5344CB8AC3E}">
        <p14:creationId xmlns:p14="http://schemas.microsoft.com/office/powerpoint/2010/main" val="256023822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E0F381-56B4-4FD8-9896-89EDC721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68DFC9-F315-460D-A64C-6AD54420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101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09F01F-C86E-4459-9300-0E43A812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業務改善・自動化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09E4B-23FA-4021-9921-217EAD57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No.097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D0148C-535A-4E64-A93C-D550C622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要件定義のたたき台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5EACED-80DD-4627-ADE0-E641A804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ツールを作る前に、利用者と完了条件を揃えます.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F56934-39CB-46B2-80F9-0D1CB612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059FB8-D2C7-4B2E-9CF2-26DB33E2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FAE896-A8A9-43AA-8DE2-23DDC82B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ABEC63-CD0B-4FF8-94A3-EB08EBBC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業務ツールの要件定義たたき台を作ってください。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作りたいもの: [[ツール]]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利用者: [[利用者]]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困っていること: [[問題]]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出力: 目的 / 対象外 / 入力 / 出力 / 操作の流れ / 権限 / エラー時 / 記録 / 成功指標 / 最小版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実装方法を決め打ちせず、確認が必要な要件を最後に列挙する。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D41DE2-6B75-4510-BAD4-226D4B4D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54A6F2-287D-49F8-AD8F-A4B4254F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ABAA4F-D278-409A-839D-E860687D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58A6D"/>
                </a:solidFill>
                <a:latin typeface="Aptos"/>
                <a:ea typeface="Aptos"/>
                <a:cs typeface="Aptos"/>
              </a:rPr>
              <a:t>#業務改善  #要件定義  #ツール</a:t>
            </a:r>
          </a:p>
        </p:txBody>
      </p:sp>
    </p:spTree>
    <p:extLst>
      <p:ext uri="{BB962C8B-B14F-4D97-AF65-F5344CB8AC3E}">
        <p14:creationId xmlns:p14="http://schemas.microsoft.com/office/powerpoint/2010/main" val="596863736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611CD8-90FF-4319-9514-A6931D03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09BFE3-79FE-4299-839B-DE2D8C13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102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1760A5-6AC4-4192-95FE-6862440B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業務改善・自動化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BE2FFC-4A2B-468D-83FF-1111C854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No.098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DB3B54-C9C8-408D-A227-1AD42324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テストケース作成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BE1A7C-AB31-4D40-B206-002E709E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592A7"/>
                </a:solidFill>
                <a:latin typeface="Aptos"/>
                <a:ea typeface="Aptos"/>
                <a:cs typeface="Aptos"/>
              </a:rPr>
              <a:t>正常系だけでなく、空欄・例外・権限を確認します.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CE5076-5A32-4DF8-B83F-EEDE4B95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6F5413-1796-4ED8-8D52-E287D4C7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6F79CD-5F89-4E9E-BFE9-0C1DA4A9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3C3589-A63B-42E5-8E30-04F409CE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次の業務ツールのテストケースを作ってください。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機能: [[機能]]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入力項目: [[入力項目]]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期待する結果: [[結果]]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表の列: ケース / 入力 / 操作 / 期待結果 / エラー表示 / 記録すべきこと / 優先度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正常系、空欄、形式違い、上限、権限なし、通信失敗を必ず含める。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E39E92-1034-4D2C-B92B-35261D28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519C7E-EC12-4B95-B8C7-FCB45B60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0312CE-DBBD-4046-B9CC-8CCBD6DF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4D6C6"/>
                </a:solidFill>
                <a:latin typeface="Aptos"/>
                <a:ea typeface="Aptos"/>
                <a:cs typeface="Aptos"/>
              </a:rPr>
              <a:t>#業務改善  #テスト  #品質</a:t>
            </a:r>
          </a:p>
        </p:txBody>
      </p:sp>
    </p:spTree>
    <p:extLst>
      <p:ext uri="{BB962C8B-B14F-4D97-AF65-F5344CB8AC3E}">
        <p14:creationId xmlns:p14="http://schemas.microsoft.com/office/powerpoint/2010/main" val="2081002400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6E1A71-96D8-4E5B-94C5-F0FBD2F5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70F167-138C-4C2D-A9DC-5D5BB0A3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103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0960BC-D29F-44D1-A4D3-0413B74A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業務改善・自動化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1F9EB1-3C3A-44C6-9E80-43BFE30F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No.099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E90C23-A95C-49A6-98F4-82C5147D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AI導入の小さな実験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90143F-5873-4A10-8D4D-2C198C0C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F6B7A"/>
                </a:solidFill>
                <a:latin typeface="Aptos"/>
                <a:ea typeface="Aptos"/>
                <a:cs typeface="Aptos"/>
              </a:rPr>
              <a:t>全社導入の前に、1業務・1指標で試します.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6474CE-B891-4D6F-872F-DE094B92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595F6-F67E-4955-A3E8-8C5C1EF7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15633A-EB2F-4936-98C1-C0E77229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3A283F-D7F6-45FE-8D2B-24A1829B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AI導入の小さな実験計画を作ってください。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対象業務: [[業務]]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困りごと: [[困りごと]]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使えそうなAIの役割: [[役割]]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期間: [[期間]]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出力: 実験の問い / 対象範囲 / 入力データ / 人の確認 / 成功指標 / 安全条件 / 比較方法 / 継続・中止の判断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42238"/>
                </a:solidFill>
                <a:latin typeface="Aptos"/>
                <a:ea typeface="Aptos"/>
                <a:cs typeface="Aptos"/>
              </a:rPr>
              <a:t>機密情報を使わないテスト案も併記する。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9380E7-33EB-49C3-B29F-B4B3A2AD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405D6B-2893-47A9-82B9-0AB1F4B9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0CF7E8-55DC-4FAA-B86D-19966994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F58A6D"/>
                </a:solidFill>
                <a:latin typeface="Aptos"/>
                <a:ea typeface="Aptos"/>
                <a:cs typeface="Aptos"/>
              </a:rPr>
              <a:t>#業務改善  #AI導入  #実験</a:t>
            </a:r>
          </a:p>
        </p:txBody>
      </p:sp>
    </p:spTree>
    <p:extLst>
      <p:ext uri="{BB962C8B-B14F-4D97-AF65-F5344CB8AC3E}">
        <p14:creationId xmlns:p14="http://schemas.microsoft.com/office/powerpoint/2010/main" val="11078334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8F7329-3958-470A-958D-358B2A68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PROMPT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7CA45F-9243-411F-905C-58EE4951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389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104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6E1AC0-D29A-4999-A00D-1E37C0D9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業務改善・自動化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6A9B06-F2ED-41D5-982C-816F4E98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3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No.100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ED4442-73D9-4FD5-A8B5-B4AD19F9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7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改善会議の進行台本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B66187-BB85-40BC-AFA5-A819B941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592A7"/>
                </a:solidFill>
                <a:latin typeface="Aptos"/>
                <a:ea typeface="Aptos"/>
                <a:cs typeface="Aptos"/>
              </a:rPr>
              <a:t>課題共有で終わらず、次の実験まで決めます.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562EED-170F-4FE7-8878-798D2AF5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9535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EC85E-FC57-4E4C-80ED-B21543C0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00150"/>
            <a:ext cx="1295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629F7A-A4BE-48BE-AB94-75F4F6E1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7635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9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55DECE-B64D-42AD-B925-4BD6C0E1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業務改善会議の進行台本を作ってください。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対象業務: [[業務]]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参加者: [[参加者]]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時間: [[時間]]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目的: [[目的]]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構成: 現状の事実 / 困りごとの定義 / 原因仮説 / 選択肢 / 小さな実験 / 担当・期限 / 確認指標 / 振り返り日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9FBFF"/>
                </a:solidFill>
                <a:latin typeface="Aptos"/>
                <a:ea typeface="Aptos"/>
                <a:cs typeface="Aptos"/>
              </a:rPr>
              <a:t>発言の多さで結論を決めず、根拠と次の行動を残す。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01D272-FDB8-4D74-903F-E69F2B3C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AA2A32-3876-46C9-B9E9-A66E8229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使う前に：機密情報を匿名化し、出力の事実と推測を確認する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EBAB7B-F797-4144-A984-D2C16A82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74D6C6"/>
                </a:solidFill>
                <a:latin typeface="Aptos"/>
                <a:ea typeface="Aptos"/>
                <a:cs typeface="Aptos"/>
              </a:rPr>
              <a:t>#業務改善  #会議  #実験</a:t>
            </a:r>
          </a:p>
        </p:txBody>
      </p:sp>
    </p:spTree>
    <p:extLst>
      <p:ext uri="{BB962C8B-B14F-4D97-AF65-F5344CB8AC3E}">
        <p14:creationId xmlns:p14="http://schemas.microsoft.com/office/powerpoint/2010/main" val="673290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2026-07-28T09:50:05.9990000Z</dcterms:created>
  <dcterms:modified xsi:type="dcterms:W3CDTF">2026-07-28T09:50:05.9990000Z</dcterms:modified>
</coreProperties>
</file>